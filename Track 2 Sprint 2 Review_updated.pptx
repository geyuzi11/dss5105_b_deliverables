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c166df03ac54bed" /><Relationship Type="http://schemas.openxmlformats.org/officeDocument/2006/relationships/extended-properties" Target="/docProps/app.xml" Id="R206c7de657cd4ede" /><Relationship Type="http://schemas.openxmlformats.org/officeDocument/2006/relationships/officeDocument" Target="/ppt/presentation.xml" Id="Rbd08a9a529d742fd" /></Relationships>
</file>

<file path=ppt/presentation.xml><?xml version="1.0" encoding="utf-8"?>
<p:presentation xmlns:p="http://schemas.openxmlformats.org/presentationml/2006/main" embedTrueTypeFonts="1" saveSubsetFonts="1">
  <p:sldMasterIdLst>
    <p:sldMasterId xmlns:r="http://schemas.openxmlformats.org/officeDocument/2006/relationships" id="2147483648" r:id="R71dd1deaf8b54af0"/>
  </p:sldMasterIdLst>
  <p:notesMasterIdLst>
    <p:notesMasterId xmlns:r="http://schemas.openxmlformats.org/officeDocument/2006/relationships" r:id="Rf3fb2528fd4d4409"/>
  </p:notesMasterIdLst>
  <p:sldIdLst>
    <p:sldId xmlns:r="http://schemas.openxmlformats.org/officeDocument/2006/relationships" id="256" r:id="Rb730c0f4ed04463f"/>
    <p:sldId xmlns:r="http://schemas.openxmlformats.org/officeDocument/2006/relationships" id="257" r:id="R246ed4b5e71d4bc1"/>
    <p:sldId xmlns:r="http://schemas.openxmlformats.org/officeDocument/2006/relationships" id="258" r:id="R6a20c52dcc954b9b"/>
    <p:sldId xmlns:r="http://schemas.openxmlformats.org/officeDocument/2006/relationships" id="259" r:id="R4bde7f5f63874350"/>
    <p:sldId xmlns:r="http://schemas.openxmlformats.org/officeDocument/2006/relationships" id="260" r:id="Ra8734581f2b24d86"/>
    <p:sldId xmlns:r="http://schemas.openxmlformats.org/officeDocument/2006/relationships" id="261" r:id="Rf8f4a8c6e00b4533"/>
    <p:sldId xmlns:r="http://schemas.openxmlformats.org/officeDocument/2006/relationships" id="262" r:id="Rdf633c77f5cc4431"/>
    <p:sldId xmlns:r="http://schemas.openxmlformats.org/officeDocument/2006/relationships" id="263" r:id="R21f650b4838a4e9d"/>
    <p:sldId xmlns:r="http://schemas.openxmlformats.org/officeDocument/2006/relationships" id="264" r:id="Rd6e98c66c4d34452"/>
    <p:sldId xmlns:r="http://schemas.openxmlformats.org/officeDocument/2006/relationships" id="265" r:id="Rdf20a04edc414460"/>
  </p:sldIdLst>
  <p:sldSz cx="12192000" cy="6858000"/>
  <p:notesSz cx="6858000" cy="9144000"/>
  <p:embeddedFontLst>
    <p:embeddedFont>
      <p:font typeface="Space Grotesk"/>
      <p:regular xmlns:r="http://schemas.openxmlformats.org/officeDocument/2006/relationships" r:id="R2541665b0a924b80"/>
    </p:embeddedFont>
    <p:embeddedFont>
      <p:font typeface="Space Grotesk"/>
      <p:regular xmlns:r="http://schemas.openxmlformats.org/officeDocument/2006/relationships" r:id="R4c11abaf377a484f"/>
    </p:embeddedFont>
    <p:embeddedFont>
      <p:font typeface="Space Grotesk"/>
      <p:regular xmlns:r="http://schemas.openxmlformats.org/officeDocument/2006/relationships" r:id="R2894d25594f24c2c"/>
    </p:embeddedFont>
    <p:embeddedFont>
      <p:font typeface="IBM Plex Sans"/>
      <p:regular xmlns:r="http://schemas.openxmlformats.org/officeDocument/2006/relationships" r:id="Rc5203303608b44e1"/>
    </p:embeddedFont>
    <p:embeddedFont>
      <p:font typeface="IBM Plex Sans"/>
      <p:regular xmlns:r="http://schemas.openxmlformats.org/officeDocument/2006/relationships" r:id="Re4577e7fc0694242"/>
    </p:embeddedFont>
    <p:embeddedFont>
      <p:font typeface="IBM Plex Sans"/>
      <p:regular xmlns:r="http://schemas.openxmlformats.org/officeDocument/2006/relationships" r:id="R73f35647cd684a5d"/>
    </p:embeddedFont>
  </p:embeddedFontLst>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40e73c2edc474683" /><Relationship Type="http://schemas.openxmlformats.org/officeDocument/2006/relationships/slideMaster" Target="/ppt/slideMasters/slideMaster1.xml" Id="R71dd1deaf8b54af0" /><Relationship Type="http://schemas.openxmlformats.org/officeDocument/2006/relationships/notesMaster" Target="/ppt/notesMasters/notesMaster1.xml" Id="Rf3fb2528fd4d4409" /><Relationship Type="http://schemas.openxmlformats.org/officeDocument/2006/relationships/presProps" Target="/ppt/presProps.xml" Id="R43a201f32f4546ad" /><Relationship Type="http://schemas.openxmlformats.org/officeDocument/2006/relationships/viewProps" Target="/ppt/viewProps.xml" Id="R04c1924237364c52" /><Relationship Type="http://schemas.openxmlformats.org/officeDocument/2006/relationships/tableStyles" Target="/ppt/tableStyles.xml" Id="R1b868d247276458e" /><Relationship Type="http://schemas.openxmlformats.org/officeDocument/2006/relationships/font" Target="/ppt/fonts/font.dat" Id="R2541665b0a924b80" /><Relationship Type="http://schemas.openxmlformats.org/officeDocument/2006/relationships/font" Target="/ppt/fonts/font2.dat" Id="R4c11abaf377a484f" /><Relationship Type="http://schemas.openxmlformats.org/officeDocument/2006/relationships/font" Target="/ppt/fonts/font3.dat" Id="R2894d25594f24c2c" /><Relationship Type="http://schemas.openxmlformats.org/officeDocument/2006/relationships/font" Target="/ppt/fonts/font4.dat" Id="Rc5203303608b44e1" /><Relationship Type="http://schemas.openxmlformats.org/officeDocument/2006/relationships/font" Target="/ppt/fonts/font5.dat" Id="Re4577e7fc0694242" /><Relationship Type="http://schemas.openxmlformats.org/officeDocument/2006/relationships/font" Target="/ppt/fonts/font6.dat" Id="R73f35647cd684a5d" /><Relationship Type="http://schemas.openxmlformats.org/officeDocument/2006/relationships/slide" Target="/ppt/slides/slide1.xml" Id="Rb730c0f4ed04463f" /><Relationship Type="http://schemas.openxmlformats.org/officeDocument/2006/relationships/slide" Target="/ppt/slides/slide2.xml" Id="R246ed4b5e71d4bc1" /><Relationship Type="http://schemas.openxmlformats.org/officeDocument/2006/relationships/slide" Target="/ppt/slides/slide3.xml" Id="R6a20c52dcc954b9b" /><Relationship Type="http://schemas.openxmlformats.org/officeDocument/2006/relationships/slide" Target="/ppt/slides/slide4.xml" Id="R4bde7f5f63874350" /><Relationship Type="http://schemas.openxmlformats.org/officeDocument/2006/relationships/slide" Target="/ppt/slides/slide5.xml" Id="Ra8734581f2b24d86" /><Relationship Type="http://schemas.openxmlformats.org/officeDocument/2006/relationships/slide" Target="/ppt/slides/slide6.xml" Id="Rf8f4a8c6e00b4533" /><Relationship Type="http://schemas.openxmlformats.org/officeDocument/2006/relationships/slide" Target="/ppt/slides/slide7.xml" Id="Rdf633c77f5cc4431" /><Relationship Type="http://schemas.openxmlformats.org/officeDocument/2006/relationships/slide" Target="/ppt/slides/slide8.xml" Id="R21f650b4838a4e9d" /><Relationship Type="http://schemas.openxmlformats.org/officeDocument/2006/relationships/slide" Target="/ppt/slides/slide9.xml" Id="Rd6e98c66c4d34452" /><Relationship Type="http://schemas.openxmlformats.org/officeDocument/2006/relationships/slide" Target="/ppt/slides/slide10.xml" Id="Rdf20a04edc41446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8d896a2c382493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Track 2 Sprint 2 Review">
  <a:themeElements>
    <a:clrScheme name="Track 2 Sprint 2 Review">
      <a:dk1>
        <a:srgbClr val="16202E"/>
      </a:dk1>
      <a:lt1>
        <a:srgbClr val="F6F4EF"/>
      </a:lt1>
      <a:dk2>
        <a:srgbClr val="4E555E"/>
      </a:dk2>
      <a:lt2>
        <a:srgbClr val="E0DFDC"/>
      </a:lt2>
      <a:accent1>
        <a:srgbClr val="F2A65A"/>
      </a:accent1>
      <a:accent2>
        <a:srgbClr val="A84A14"/>
      </a:accent2>
      <a:accent3>
        <a:srgbClr val="2C5F8A"/>
      </a:accent3>
      <a:accent4>
        <a:srgbClr val="22304A"/>
      </a:accent4>
      <a:accent5>
        <a:srgbClr val="3E4A5A"/>
      </a:accent5>
      <a:accent6>
        <a:srgbClr val="C9D3DE"/>
      </a:accent6>
      <a:hlink>
        <a:srgbClr val="0563C1"/>
      </a:hlink>
      <a:folHlink>
        <a:srgbClr val="954F72"/>
      </a:folHlink>
    </a:clrScheme>
    <a:fontScheme name="Track 2 Sprint 2 Review">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rack 2 Sprint 2 Review">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913bc3aa2c84f3f" /><Relationship Type="http://schemas.openxmlformats.org/officeDocument/2006/relationships/notesMaster" Target="/ppt/notesMasters/notesMaster1.xml" Id="Rabfc4490b7984941" /></Relationships>
</file>

<file path=ppt/notesSlides/_rels/notesSlide2.xml.rels>&#65279;<?xml version="1.0" encoding="utf-8"?><Relationships xmlns="http://schemas.openxmlformats.org/package/2006/relationships"><Relationship Type="http://schemas.openxmlformats.org/officeDocument/2006/relationships/slide" Target="/ppt/slides/slide2.xml" Id="Rbfac0689281247a2" /><Relationship Type="http://schemas.openxmlformats.org/officeDocument/2006/relationships/notesMaster" Target="/ppt/notesMasters/notesMaster1.xml" Id="R4e99e5c4c6174cd7" /></Relationships>
</file>

<file path=ppt/notesSlides/_rels/notesSlide3.xml.rels>&#65279;<?xml version="1.0" encoding="utf-8"?><Relationships xmlns="http://schemas.openxmlformats.org/package/2006/relationships"><Relationship Type="http://schemas.openxmlformats.org/officeDocument/2006/relationships/slide" Target="/ppt/slides/slide3.xml" Id="R0c0c51bbed814171" /><Relationship Type="http://schemas.openxmlformats.org/officeDocument/2006/relationships/notesMaster" Target="/ppt/notesMasters/notesMaster1.xml" Id="Rbbae7cb72daf4293" /></Relationships>
</file>

<file path=ppt/notesSlides/_rels/notesSlide4.xml.rels>&#65279;<?xml version="1.0" encoding="utf-8"?><Relationships xmlns="http://schemas.openxmlformats.org/package/2006/relationships"><Relationship Type="http://schemas.openxmlformats.org/officeDocument/2006/relationships/slide" Target="/ppt/slides/slide4.xml" Id="Reb5ee4549c164826" /><Relationship Type="http://schemas.openxmlformats.org/officeDocument/2006/relationships/notesMaster" Target="/ppt/notesMasters/notesMaster1.xml" Id="Rea99c5e0cfb84559" /></Relationships>
</file>

<file path=ppt/notesSlides/_rels/notesSlide5.xml.rels>&#65279;<?xml version="1.0" encoding="utf-8"?><Relationships xmlns="http://schemas.openxmlformats.org/package/2006/relationships"><Relationship Type="http://schemas.openxmlformats.org/officeDocument/2006/relationships/slide" Target="/ppt/slides/slide5.xml" Id="R8bb7e789897b4aca" /><Relationship Type="http://schemas.openxmlformats.org/officeDocument/2006/relationships/notesMaster" Target="/ppt/notesMasters/notesMaster1.xml" Id="R9a99eee0c515488e" /></Relationships>
</file>

<file path=ppt/notesSlides/_rels/notesSlide6.xml.rels>&#65279;<?xml version="1.0" encoding="utf-8"?><Relationships xmlns="http://schemas.openxmlformats.org/package/2006/relationships"><Relationship Type="http://schemas.openxmlformats.org/officeDocument/2006/relationships/slide" Target="/ppt/slides/slide6.xml" Id="R2994a9f4db2d48b2" /><Relationship Type="http://schemas.openxmlformats.org/officeDocument/2006/relationships/notesMaster" Target="/ppt/notesMasters/notesMaster1.xml" Id="Rdf2fd3c508a34a98" /></Relationships>
</file>

<file path=ppt/notesSlides/_rels/notesSlide7.xml.rels>&#65279;<?xml version="1.0" encoding="utf-8"?><Relationships xmlns="http://schemas.openxmlformats.org/package/2006/relationships"><Relationship Type="http://schemas.openxmlformats.org/officeDocument/2006/relationships/slide" Target="/ppt/slides/slide7.xml" Id="R376b705693504e5e" /><Relationship Type="http://schemas.openxmlformats.org/officeDocument/2006/relationships/notesMaster" Target="/ppt/notesMasters/notesMaster1.xml" Id="R609623432f444432" /></Relationships>
</file>

<file path=ppt/notesSlides/_rels/notesSlide8.xml.rels>&#65279;<?xml version="1.0" encoding="utf-8"?><Relationships xmlns="http://schemas.openxmlformats.org/package/2006/relationships"><Relationship Type="http://schemas.openxmlformats.org/officeDocument/2006/relationships/slide" Target="/ppt/slides/slide8.xml" Id="R21f2c84a240c49b7" /><Relationship Type="http://schemas.openxmlformats.org/officeDocument/2006/relationships/notesMaster" Target="/ppt/notesMasters/notesMaster1.xml" Id="R9da797a152a34478" /></Relationships>
</file>

<file path=ppt/notesSlides/_rels/notesSlide9.xml.rels>&#65279;<?xml version="1.0" encoding="utf-8"?><Relationships xmlns="http://schemas.openxmlformats.org/package/2006/relationships"><Relationship Type="http://schemas.openxmlformats.org/officeDocument/2006/relationships/slide" Target="/ppt/slides/slide9.xml" Id="Ra2d7e6acde01488a" /><Relationship Type="http://schemas.openxmlformats.org/officeDocument/2006/relationships/notesMaster" Target="/ppt/notesMasters/notesMaster1.xml" Id="R1fac8604787c4de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b830f676cc74826" /><Relationship Type="http://schemas.openxmlformats.org/officeDocument/2006/relationships/notesMaster" Target="/ppt/notesMasters/notesMaster1.xml" Id="R9ed1698a5fc34de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about 10 seconds. We are Group 22, Track 2, the Quick-Response Subcontracting Desk. Both links on this slide are live: the public GitHub repo and the deployed desk. The free hosting sleeps after 15 minutes, so open the demo link a few minutes before the session.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30 seconds. Our user is the dispatcher. Requests arrive as chat messages, and each batch needs checks across eight workshops, all in one person’s head, with no record. Our desk reads the message, checks every workshop, recommends one and records why. If it can’t allocate safely, it asks, refuses or says the date is impossible. Primary objective, as in Sprint 1: minimise lateness, with defects as a second objective.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30 seconds. Three changes since Sprint 1. One, the feedback: risk 4, mixing up the two queue dates, is now High impact, and we built the fix: separate queues for the inbox and the simulator, pinned by a test. Two, Claude now only reads the message; rules decide. Three, the desk is live at a public link.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22 seconds. Claude Haiku only extracts the request as JSON. Code drops any number not in the message. Python rules pick one of five behaviours and call the tools, which do all arithmetic. A human confirms, and the log records it. The simulator uses the same allocate function.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15 seconds. Haiku, because extraction is small: 30 out of 30. No arithmetic in the model, so decisions repeat. Exact lookups beat a vector index at this size. Render, because Hugging Face now charges.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10 seconds. Everything promised in Sprint 1 is built, plus deployment and 23 tests. The held-out set and the defects fix are in progress; the sweep is planned.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20 seconds. We beat all three baselines by a wide margin, and the inbox is 30 out of 30 on the dev set. Partly met: our first defects setting breaks the lateness guardrail. And we tie the simple earliest-finish rule; what we add is language, refusals and an audit trail.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40 seconds. On the inbox we score three things separately, because the brief grades them separately: the right behaviour, the right decision, and a faithful explanation. The dev set is where the parser was tuned, and both regex and Claude reach 30 out of 30 there, so it only proves the pipeline works. The real test is the held-out set: thirty reworded requests the parser has never seen, sealed until one final Claude run. Regex already scores 30 out of 30 on it. On the simulator we replay all 120 orders through three naive baselines, the simple earliest-finish rule, and our objectives, averaged over ten seeds in normal and shock conditions. The naive baselines are late 34 to 92 percent of the time. Our lateness objective is late 1.7 percent, matching the rule, and stays at 1.9 percent when a workshop closes for two weeks without warning. The hybrid trades about 20 percent lateness for fewer defects, and fairness caps any one shop at 20 percent of the load. Every number comes from the frozen code.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15 seconds. A message with no quantity or date: fixed, 26 to 30. R14, two problems at once: refused, with the earliest option. A shop closing mid-run: we route around 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Switch to the screen recording here. Open the live link a few minutes early so it is awake. Show the user journey first: the inbox, one ordinary request, the confirm step and the log. Then the hard case R14. Then type one new message so viewers see Claude reading wording it has never seen. End on the Workshops view. Close with one line on Sprint 3: the held-out run, the defects setting and the failure analysis.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d73bcfe205d432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3298007f5294935"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Title and body">
    <p:bg>
      <p:bgPr>
        <a:solidFill xmlns:a="http://schemas.openxmlformats.org/drawingml/2006/main">
          <a:srgbClr val="F6F4EF"/>
        </a:soli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0D15D5EA-F063-481B-B66E-1B0B9648200F}"/>
              </a:ext>
            </a:extLst>
          </p:cNvPr>
          <p:cNvSpPr>
            <a:spLocks xmlns:a="http://schemas.openxmlformats.org/drawingml/2006/main" noGrp="1"/>
          </p:cNvSpPr>
          <p:nvPr>
            <p:ph type="title" idx="0"/>
          </p:nvPr>
        </p:nvSpPr>
        <p:spPr>
          <a:xfrm xmlns:a="http://schemas.openxmlformats.org/drawingml/2006/main">
            <a:off x="812800" y="1229320"/>
            <a:ext cx="10566400" cy="3911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lvl1pPr marL="0" indent="0" algn="l">
              <a:lnSpc>
                <a:spcPct val="115000"/>
              </a:lnSpc>
              <a:buNone/>
              <a:defRPr sz="2800">
                <a:solidFill>
                  <a:srgbClr val="16202E"/>
                </a:solidFill>
                <a:latin typeface="Space Grotesk"/>
                <a:ea typeface="Space Grotesk"/>
                <a:cs typeface="Space Grotesk"/>
              </a:defRPr>
            </a:lvl1pPr>
          </a:lstStyle>
          <a:p xmlns:a="http://schemas.openxmlformats.org/drawingml/2006/main">
            <a:pPr marL="0" indent="0" algn="l">
              <a:lnSpc>
                <a:spcPct val="115000"/>
              </a:lnSpc>
              <a:buNone/>
            </a:pPr>
            <a:endParaRPr sz="2800"/>
          </a:p>
        </p:txBody>
      </p:sp>
      <p:sp>
        <p:nvSpPr>
          <p:cNvPr id="3" name="Text Placeholder 2">
            <a:extLst xmlns:a="http://schemas.openxmlformats.org/drawingml/2006/main">
              <a:ext uri="{FF2B5EF4-FFF2-40B4-BE49-F238E27FC236}">
                <a16:creationId xmlns:a16="http://schemas.microsoft.com/office/drawing/2014/main" id="{8BB2B01D-9EBA-48AD-AFFD-89FB8B181569}"/>
              </a:ext>
            </a:extLst>
          </p:cNvPr>
          <p:cNvSpPr>
            <a:spLocks xmlns:a="http://schemas.openxmlformats.org/drawingml/2006/main" noGrp="1"/>
          </p:cNvSpPr>
          <p:nvPr>
            <p:ph type="body" idx="101"/>
          </p:nvPr>
        </p:nvSpPr>
        <p:spPr>
          <a:xfrm xmlns:a="http://schemas.openxmlformats.org/drawingml/2006/main">
            <a:off x="812800" y="1925241"/>
            <a:ext cx="10566400" cy="4119959"/>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lvl1pPr marL="0" indent="0" algn="l">
              <a:lnSpc>
                <a:spcPct val="140000"/>
              </a:lnSpc>
              <a:buNone/>
              <a:defRPr sz="1600">
                <a:solidFill>
                  <a:srgbClr val="16202E"/>
                </a:solidFill>
                <a:latin typeface="IBM Plex Sans"/>
                <a:ea typeface="IBM Plex Sans"/>
                <a:cs typeface="IBM Plex Sans"/>
              </a:defRPr>
            </a:lvl1pPr>
          </a:lstStyle>
          <a:p xmlns:a="http://schemas.openxmlformats.org/drawingml/2006/main">
            <a:pPr marL="0" indent="0" algn="l">
              <a:lnSpc>
                <a:spcPct val="140000"/>
              </a:lnSpc>
              <a:buNone/>
            </a:pPr>
            <a:endParaRPr sz="1600"/>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fad4fc3f6344e7a" /><Relationship Type="http://schemas.openxmlformats.org/officeDocument/2006/relationships/slideLayout" Target="/ppt/slideLayouts/slideLayout1.xml" Id="Rcee79f69594b4701" /><Relationship Type="http://schemas.openxmlformats.org/officeDocument/2006/relationships/slideLayout" Target="/ppt/slideLayouts/slideLayout2.xml" Id="R90fc44163ffb4292" /></Relationships>
</file>

<file path=ppt/slideMasters/slideMaster1.xml><?xml version="1.0" encoding="utf-8"?>
<p:sldMaster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86D6421C-4A26-4A50-8C68-B27010B4C2F9}"/>
              </a:ext>
            </a:extLst>
          </p:cNvPr>
          <p:cNvSpPr>
            <a:spLocks xmlns:a="http://schemas.openxmlformats.org/drawingml/2006/main" noGrp="1"/>
          </p:cNvSpPr>
          <p:nvPr>
            <p:ph type="title" idx="0"/>
          </p:nvPr>
        </p:nvSpPr>
        <p:spPr>
          <a:xfrm xmlns:a="http://schemas.openxmlformats.org/drawingml/2006/main">
            <a:off x="812800" y="1229320"/>
            <a:ext cx="10566400" cy="3911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lvl1pPr marL="0" indent="0" algn="l">
              <a:lnSpc>
                <a:spcPct val="115000"/>
              </a:lnSpc>
              <a:buNone/>
              <a:defRPr sz="2800">
                <a:solidFill>
                  <a:srgbClr val="16202E"/>
                </a:solidFill>
                <a:latin typeface="Space Grotesk"/>
                <a:ea typeface="Space Grotesk"/>
                <a:cs typeface="Space Grotesk"/>
              </a:defRPr>
            </a:lvl1pPr>
          </a:lstStyle>
          <a:p xmlns:a="http://schemas.openxmlformats.org/drawingml/2006/main">
            <a:pPr marL="0" indent="0" algn="l">
              <a:lnSpc>
                <a:spcPct val="115000"/>
              </a:lnSpc>
              <a:buNone/>
            </a:pPr>
            <a:endParaRPr sz="2800"/>
          </a:p>
        </p:txBody>
      </p:sp>
      <p:sp>
        <p:nvSpPr>
          <p:cNvPr id="3" name="Text Placeholder 2">
            <a:extLst xmlns:a="http://schemas.openxmlformats.org/drawingml/2006/main">
              <a:ext uri="{FF2B5EF4-FFF2-40B4-BE49-F238E27FC236}">
                <a16:creationId xmlns:a16="http://schemas.microsoft.com/office/drawing/2014/main" id="{2559B259-85F0-4AB0-81FD-CE3458BE6F0A}"/>
              </a:ext>
            </a:extLst>
          </p:cNvPr>
          <p:cNvSpPr>
            <a:spLocks xmlns:a="http://schemas.openxmlformats.org/drawingml/2006/main" noGrp="1"/>
          </p:cNvSpPr>
          <p:nvPr>
            <p:ph type="body" idx="101"/>
          </p:nvPr>
        </p:nvSpPr>
        <p:spPr>
          <a:xfrm xmlns:a="http://schemas.openxmlformats.org/drawingml/2006/main">
            <a:off x="812800" y="1925241"/>
            <a:ext cx="10566400" cy="4119959"/>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lvl1pPr marL="0" indent="0" algn="l">
              <a:lnSpc>
                <a:spcPct val="140000"/>
              </a:lnSpc>
              <a:buNone/>
              <a:defRPr sz="1600">
                <a:solidFill>
                  <a:srgbClr val="16202E"/>
                </a:solidFill>
                <a:latin typeface="IBM Plex Sans"/>
                <a:ea typeface="IBM Plex Sans"/>
                <a:cs typeface="IBM Plex Sans"/>
              </a:defRPr>
            </a:lvl1pPr>
          </a:lstStyle>
          <a:p xmlns:a="http://schemas.openxmlformats.org/drawingml/2006/main">
            <a:pPr marL="0" indent="0" algn="l">
              <a:lnSpc>
                <a:spcPct val="140000"/>
              </a:lnSpc>
              <a:buNone/>
            </a:pPr>
            <a:endParaRPr sz="16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ee79f69594b4701"/>
    <p:sldLayoutId xmlns:r="http://schemas.openxmlformats.org/officeDocument/2006/relationships" id="2147483650" r:id="R90fc44163ffb4292"/>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Track 2 Sprint 2 Review">
  <a:themeElements>
    <a:clrScheme name="Track 2 Sprint 2 Review">
      <a:dk1>
        <a:srgbClr val="16202E"/>
      </a:dk1>
      <a:lt1>
        <a:srgbClr val="F6F4EF"/>
      </a:lt1>
      <a:dk2>
        <a:srgbClr val="4E555E"/>
      </a:dk2>
      <a:lt2>
        <a:srgbClr val="E0DFDC"/>
      </a:lt2>
      <a:accent1>
        <a:srgbClr val="F2A65A"/>
      </a:accent1>
      <a:accent2>
        <a:srgbClr val="A84A14"/>
      </a:accent2>
      <a:accent3>
        <a:srgbClr val="2C5F8A"/>
      </a:accent3>
      <a:accent4>
        <a:srgbClr val="22304A"/>
      </a:accent4>
      <a:accent5>
        <a:srgbClr val="3E4A5A"/>
      </a:accent5>
      <a:accent6>
        <a:srgbClr val="C9D3DE"/>
      </a:accent6>
      <a:hlink>
        <a:srgbClr val="0563C1"/>
      </a:hlink>
      <a:folHlink>
        <a:srgbClr val="954F72"/>
      </a:folHlink>
    </a:clrScheme>
    <a:fontScheme name="Track 2 Sprint 2 Review">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rack 2 Sprint 2 Review">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13f07391ad8d480f" /><Relationship Type="http://schemas.openxmlformats.org/officeDocument/2006/relationships/hyperlink" Target="https://github.com/kailinghew/DSS5105_Project" TargetMode="External" Id="Rba8cec4c740a4530" /><Relationship Type="http://schemas.openxmlformats.org/officeDocument/2006/relationships/hyperlink" Target="https://qr-subcontracting-desk.onrender.com/" TargetMode="External" Id="Rf2d4c02911b94964" /><Relationship Type="http://schemas.openxmlformats.org/officeDocument/2006/relationships/notesSlide" Target="/ppt/notesSlides/notesSlide1.xml" Id="R291402eeada548d1"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f58d76c7ec0c494c" /><Relationship Type="http://schemas.openxmlformats.org/officeDocument/2006/relationships/notesSlide" Target="/ppt/notesSlides/notesSlide2.xml" Id="Rae97875cb48e4e5c"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fca792c653274b63" /><Relationship Type="http://schemas.openxmlformats.org/officeDocument/2006/relationships/notesSlide" Target="/ppt/notesSlides/notesSlide3.xml" Id="R6a38fa2686a84826"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4065f47b865f4a5e" /><Relationship Type="http://schemas.openxmlformats.org/officeDocument/2006/relationships/image" Target="/ppt/media/image.png" Id="R0e971ee9c91d49b0" /><Relationship Type="http://schemas.openxmlformats.org/officeDocument/2006/relationships/image" Target="/ppt/media/image2.png" Id="R5386b33dbdd84222" /><Relationship Type="http://schemas.openxmlformats.org/officeDocument/2006/relationships/image" Target="/ppt/media/image3.png" Id="R7017a380ca454a41" /><Relationship Type="http://schemas.openxmlformats.org/officeDocument/2006/relationships/image" Target="/ppt/media/image4.png" Id="R4927e984930a4c58" /><Relationship Type="http://schemas.openxmlformats.org/officeDocument/2006/relationships/notesSlide" Target="/ppt/notesSlides/notesSlide4.xml" Id="R5a27e9e677964f7e"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732c7cea5f494138" /><Relationship Type="http://schemas.openxmlformats.org/officeDocument/2006/relationships/notesSlide" Target="/ppt/notesSlides/notesSlide5.xml" Id="Red7890622bab41ad"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64c03592aa2741c9" /><Relationship Type="http://schemas.openxmlformats.org/officeDocument/2006/relationships/notesSlide" Target="/ppt/notesSlides/notesSlide6.xml" Id="R05b2e228e2c54984"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fbb250b366574633" /><Relationship Type="http://schemas.openxmlformats.org/officeDocument/2006/relationships/notesSlide" Target="/ppt/notesSlides/notesSlide7.xml" Id="R100158d01c9f4817"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2554f2deb4cc42a0" /><Relationship Type="http://schemas.openxmlformats.org/officeDocument/2006/relationships/notesSlide" Target="/ppt/notesSlides/notesSlide8.xml" Id="R1e6ce1c80b3d40b8"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853d10c1c8a84948" /><Relationship Type="http://schemas.openxmlformats.org/officeDocument/2006/relationships/notesSlide" Target="/ppt/notesSlides/notesSlide9.xml" Id="Rc85a957c8b7e425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17d70e2c642847f1" /><Relationship Type="http://schemas.openxmlformats.org/officeDocument/2006/relationships/notesSlide" Target="/ppt/notesSlides/notesSlide10.xml" Id="Rff2a6dab0f7f47ea" /></Relationships>
</file>

<file path=ppt/slides/slide1.xml><?xml version="1.0" encoding="utf-8"?>
<p:sld xmlns:p="http://schemas.openxmlformats.org/presentationml/2006/main">
  <p:cSld>
    <p:bg>
      <p:bgPr>
        <a:solidFill xmlns:a="http://schemas.openxmlformats.org/drawingml/2006/main">
          <a:srgbClr val="16202E"/>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07CD792-3122-4969-91A0-CBD9FA6791F9}"/>
              </a:ext>
            </a:extLst>
          </p:cNvPr>
          <p:cNvSpPr>
            <a:spLocks xmlns:a="http://schemas.openxmlformats.org/drawingml/2006/main" noGrp="1"/>
          </p:cNvSpPr>
          <p:nvPr/>
        </p:nvSpPr>
        <p:spPr>
          <a:xfrm xmlns:a="http://schemas.openxmlformats.org/drawingml/2006/main">
            <a:off x="812800" y="812800"/>
            <a:ext cx="10883392"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b="1" spc="200">
                <a:solidFill>
                  <a:srgbClr val="F2A65A"/>
                </a:solidFill>
                <a:latin typeface="IBM Plex Sans"/>
                <a:ea typeface="IBM Plex Sans"/>
                <a:cs typeface="IBM Plex Sans"/>
              </a:rPr>
              <a:t>DSS5105 CAPSTONE · TRACK 2 · SPRINT 2 REVIEW · GROUP 22</a:t>
            </a:r>
            <a:endParaRPr sz="1500"/>
          </a:p>
        </p:txBody>
      </p:sp>
      <p:sp>
        <p:nvSpPr>
          <p:cNvPr id="3" name="Text 1">
            <a:extLst xmlns:a="http://schemas.openxmlformats.org/drawingml/2006/main">
              <a:ext uri="{FF2B5EF4-FFF2-40B4-BE49-F238E27FC236}">
                <a16:creationId xmlns:a16="http://schemas.microsoft.com/office/drawing/2014/main" id="{02561C4E-45B8-4E84-8397-F2F81D3CE4AE}"/>
              </a:ext>
            </a:extLst>
          </p:cNvPr>
          <p:cNvSpPr>
            <a:spLocks xmlns:a="http://schemas.openxmlformats.org/drawingml/2006/main" noGrp="1"/>
          </p:cNvSpPr>
          <p:nvPr>
            <p:ph type="title" idx="0"/>
          </p:nvPr>
        </p:nvSpPr>
        <p:spPr>
          <a:xfrm xmlns:a="http://schemas.openxmlformats.org/drawingml/2006/main">
            <a:off x="812800" y="1705703"/>
            <a:ext cx="10883392" cy="15188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5880"/>
              </a:lnSpc>
              <a:buNone/>
            </a:pPr>
            <a:r>
              <a:rPr sz="5600" b="1" i="0">
                <a:solidFill>
                  <a:srgbClr val="F6F4EF"/>
                </a:solidFill>
                <a:latin typeface="Space Grotesk"/>
                <a:ea typeface="Space Grotesk"/>
                <a:cs typeface="Space Grotesk"/>
              </a:rPr>
              <a:t>The Quick-Response</a:t>
            </a:r>
            <a:endParaRPr sz="5600"/>
          </a:p>
          <a:p xmlns:a="http://schemas.openxmlformats.org/drawingml/2006/main">
            <a:pPr marL="0" indent="0" algn="l">
              <a:lnSpc>
                <a:spcPts val="5880"/>
              </a:lnSpc>
              <a:buNone/>
            </a:pPr>
            <a:r>
              <a:rPr sz="5600" b="1" i="0">
                <a:solidFill>
                  <a:srgbClr val="F6F4EF"/>
                </a:solidFill>
                <a:latin typeface="Space Grotesk"/>
                <a:ea typeface="Space Grotesk"/>
                <a:cs typeface="Space Grotesk"/>
              </a:rPr>
              <a:t>Subcontracting Desk</a:t>
            </a:r>
            <a:endParaRPr sz="5600"/>
          </a:p>
        </p:txBody>
      </p:sp>
      <p:sp>
        <p:nvSpPr>
          <p:cNvPr id="4" name="Text 2">
            <a:extLst xmlns:a="http://schemas.openxmlformats.org/drawingml/2006/main">
              <a:ext uri="{FF2B5EF4-FFF2-40B4-BE49-F238E27FC236}">
                <a16:creationId xmlns:a16="http://schemas.microsoft.com/office/drawing/2014/main" id="{4CF57129-77EC-4DB2-B4B8-50B99B8ACABE}"/>
              </a:ext>
            </a:extLst>
          </p:cNvPr>
          <p:cNvSpPr>
            <a:spLocks xmlns:a="http://schemas.openxmlformats.org/drawingml/2006/main" noGrp="1"/>
          </p:cNvSpPr>
          <p:nvPr/>
        </p:nvSpPr>
        <p:spPr>
          <a:xfrm xmlns:a="http://schemas.openxmlformats.org/drawingml/2006/main">
            <a:off x="812800" y="3376943"/>
            <a:ext cx="9156700" cy="7112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700"/>
              </a:lnSpc>
              <a:buNone/>
            </a:pPr>
            <a:r>
              <a:rPr sz="2000">
                <a:solidFill>
                  <a:srgbClr val="C9D3DE"/>
                </a:solidFill>
                <a:latin typeface="IBM Plex Sans"/>
                <a:ea typeface="IBM Plex Sans"/>
                <a:cs typeface="IBM Plex Sans"/>
              </a:rPr>
              <a:t>Built and live: a chat request goes in, an eligible, on-time workshop comes out, and the reasons are on record.</a:t>
            </a:r>
            <a:endParaRPr sz="2000"/>
          </a:p>
        </p:txBody>
      </p:sp>
      <p:sp>
        <p:nvSpPr>
          <p:cNvPr id="5" name="Text 3">
            <a:extLst xmlns:a="http://schemas.openxmlformats.org/drawingml/2006/main">
              <a:ext uri="{FF2B5EF4-FFF2-40B4-BE49-F238E27FC236}">
                <a16:creationId xmlns:a16="http://schemas.microsoft.com/office/drawing/2014/main" id="{B0A4702A-5749-4E49-999A-CB84E4DA9C44}"/>
              </a:ext>
            </a:extLst>
          </p:cNvPr>
          <p:cNvSpPr>
            <a:spLocks xmlns:a="http://schemas.openxmlformats.org/drawingml/2006/main" noGrp="1"/>
          </p:cNvSpPr>
          <p:nvPr/>
        </p:nvSpPr>
        <p:spPr>
          <a:xfrm xmlns:a="http://schemas.openxmlformats.org/drawingml/2006/main">
            <a:off x="812800" y="4688880"/>
            <a:ext cx="528472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F2A65A"/>
                </a:solidFill>
                <a:latin typeface="IBM Plex Sans"/>
                <a:ea typeface="IBM Plex Sans"/>
                <a:cs typeface="IBM Plex Sans"/>
              </a:rPr>
              <a:t>Team</a:t>
            </a:r>
            <a:endParaRPr sz="1200"/>
          </a:p>
        </p:txBody>
      </p:sp>
      <p:sp>
        <p:nvSpPr>
          <p:cNvPr id="6" name="Text 4">
            <a:extLst xmlns:a="http://schemas.openxmlformats.org/drawingml/2006/main">
              <a:ext uri="{FF2B5EF4-FFF2-40B4-BE49-F238E27FC236}">
                <a16:creationId xmlns:a16="http://schemas.microsoft.com/office/drawing/2014/main" id="{2DB8104C-ADE3-4ECB-A6F8-D4810448B01F}"/>
              </a:ext>
            </a:extLst>
          </p:cNvPr>
          <p:cNvSpPr>
            <a:spLocks xmlns:a="http://schemas.openxmlformats.org/drawingml/2006/main" noGrp="1"/>
          </p:cNvSpPr>
          <p:nvPr/>
        </p:nvSpPr>
        <p:spPr>
          <a:xfrm xmlns:a="http://schemas.openxmlformats.org/drawingml/2006/main">
            <a:off x="812800" y="4940300"/>
            <a:ext cx="5284724" cy="11303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75"/>
              </a:lnSpc>
              <a:buNone/>
            </a:pPr>
            <a:r>
              <a:rPr sz="1500">
                <a:solidFill>
                  <a:srgbClr val="E3E8EE"/>
                </a:solidFill>
                <a:latin typeface="IBM Plex Sans"/>
                <a:ea typeface="IBM Plex Sans"/>
                <a:cs typeface="IBM Plex Sans"/>
              </a:rPr>
              <a:t>Zhang Mingxuan (A0352498N)</a:t>
            </a:r>
            <a:endParaRPr sz="1500"/>
          </a:p>
          <a:p xmlns:a="http://schemas.openxmlformats.org/drawingml/2006/main">
            <a:pPr marL="0" indent="0" algn="l">
              <a:lnSpc>
                <a:spcPts val="2175"/>
              </a:lnSpc>
              <a:buNone/>
            </a:pPr>
            <a:r>
              <a:rPr sz="1500">
                <a:solidFill>
                  <a:srgbClr val="E3E8EE"/>
                </a:solidFill>
                <a:latin typeface="IBM Plex Sans"/>
                <a:ea typeface="IBM Plex Sans"/>
                <a:cs typeface="IBM Plex Sans"/>
              </a:rPr>
              <a:t>Wang Tianyi (A0352652E)</a:t>
            </a:r>
            <a:endParaRPr sz="1500"/>
          </a:p>
          <a:p xmlns:a="http://schemas.openxmlformats.org/drawingml/2006/main">
            <a:pPr marL="0" indent="0" algn="l">
              <a:lnSpc>
                <a:spcPts val="2175"/>
              </a:lnSpc>
              <a:buNone/>
            </a:pPr>
            <a:r>
              <a:rPr sz="1500">
                <a:solidFill>
                  <a:srgbClr val="E3E8EE"/>
                </a:solidFill>
                <a:latin typeface="IBM Plex Sans"/>
                <a:ea typeface="IBM Plex Sans"/>
                <a:cs typeface="IBM Plex Sans"/>
              </a:rPr>
              <a:t>Hew Kai Ling (A0126573A)</a:t>
            </a:r>
            <a:endParaRPr sz="1500"/>
          </a:p>
          <a:p xmlns:a="http://schemas.openxmlformats.org/drawingml/2006/main">
            <a:pPr marL="0" indent="0" algn="l">
              <a:lnSpc>
                <a:spcPts val="2175"/>
              </a:lnSpc>
              <a:buNone/>
            </a:pPr>
            <a:r>
              <a:rPr sz="1500">
                <a:solidFill>
                  <a:srgbClr val="E3E8EE"/>
                </a:solidFill>
                <a:latin typeface="IBM Plex Sans"/>
                <a:ea typeface="IBM Plex Sans"/>
                <a:cs typeface="IBM Plex Sans"/>
              </a:rPr>
              <a:t>Ge Yuzi (A0357013M)</a:t>
            </a:r>
            <a:endParaRPr sz="1500"/>
          </a:p>
        </p:txBody>
      </p:sp>
      <p:sp>
        <p:nvSpPr>
          <p:cNvPr id="7" name="Text 5">
            <a:extLst xmlns:a="http://schemas.openxmlformats.org/drawingml/2006/main">
              <a:ext uri="{FF2B5EF4-FFF2-40B4-BE49-F238E27FC236}">
                <a16:creationId xmlns:a16="http://schemas.microsoft.com/office/drawing/2014/main" id="{27FC77AE-09A0-4302-88CB-A4E0948B4D8F}"/>
              </a:ext>
            </a:extLst>
          </p:cNvPr>
          <p:cNvSpPr>
            <a:spLocks xmlns:a="http://schemas.openxmlformats.org/drawingml/2006/main" noGrp="1"/>
          </p:cNvSpPr>
          <p:nvPr/>
        </p:nvSpPr>
        <p:spPr>
          <a:xfrm xmlns:a="http://schemas.openxmlformats.org/drawingml/2006/main">
            <a:off x="6248400" y="4970859"/>
            <a:ext cx="528472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F2A65A"/>
                </a:solidFill>
                <a:latin typeface="IBM Plex Sans"/>
                <a:ea typeface="IBM Plex Sans"/>
                <a:cs typeface="IBM Plex Sans"/>
              </a:rPr>
              <a:t>GitHub (public)</a:t>
            </a:r>
            <a:endParaRPr sz="1200"/>
          </a:p>
        </p:txBody>
      </p:sp>
      <p:sp>
        <p:nvSpPr>
          <p:cNvPr id="8" name="Text 6">
            <a:extLst xmlns:a="http://schemas.openxmlformats.org/drawingml/2006/main">
              <a:ext uri="{FF2B5EF4-FFF2-40B4-BE49-F238E27FC236}">
                <a16:creationId xmlns:a16="http://schemas.microsoft.com/office/drawing/2014/main" id="{902B5A35-BA9D-4E2A-89D5-C895FC69E0DB}"/>
              </a:ext>
            </a:extLst>
          </p:cNvPr>
          <p:cNvSpPr>
            <a:spLocks xmlns:a="http://schemas.openxmlformats.org/drawingml/2006/main" noGrp="1"/>
          </p:cNvSpPr>
          <p:nvPr/>
        </p:nvSpPr>
        <p:spPr>
          <a:xfrm xmlns:a="http://schemas.openxmlformats.org/drawingml/2006/main">
            <a:off x="6248400" y="5222280"/>
            <a:ext cx="5284724"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u="sng">
                <a:solidFill>
                  <a:srgbClr val="E3E8EE"/>
                </a:solidFill>
                <a:latin typeface="IBM Plex Sans"/>
                <a:ea typeface="IBM Plex Sans"/>
                <a:cs typeface="IBM Plex Sans"/>
                <a:hlinkClick xmlns:r="http://schemas.openxmlformats.org/officeDocument/2006/relationships" r:id="Rba8cec4c740a4530"/>
              </a:rPr>
              <a:t>github.com/kailinghew/DSS5105_Project</a:t>
            </a:r>
            <a:endParaRPr sz="1500"/>
          </a:p>
        </p:txBody>
      </p:sp>
      <p:sp>
        <p:nvSpPr>
          <p:cNvPr id="9" name="Text 7">
            <a:extLst xmlns:a="http://schemas.openxmlformats.org/drawingml/2006/main">
              <a:ext uri="{FF2B5EF4-FFF2-40B4-BE49-F238E27FC236}">
                <a16:creationId xmlns:a16="http://schemas.microsoft.com/office/drawing/2014/main" id="{CFA22B13-4000-4978-9C45-A152C1C317B7}"/>
              </a:ext>
            </a:extLst>
          </p:cNvPr>
          <p:cNvSpPr>
            <a:spLocks xmlns:a="http://schemas.openxmlformats.org/drawingml/2006/main" noGrp="1"/>
          </p:cNvSpPr>
          <p:nvPr/>
        </p:nvSpPr>
        <p:spPr>
          <a:xfrm xmlns:a="http://schemas.openxmlformats.org/drawingml/2006/main">
            <a:off x="6248400" y="5527080"/>
            <a:ext cx="528472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F2A65A"/>
                </a:solidFill>
                <a:latin typeface="IBM Plex Sans"/>
                <a:ea typeface="IBM Plex Sans"/>
                <a:cs typeface="IBM Plex Sans"/>
              </a:rPr>
              <a:t>Live demo</a:t>
            </a:r>
            <a:endParaRPr sz="1200"/>
          </a:p>
        </p:txBody>
      </p:sp>
      <p:sp>
        <p:nvSpPr>
          <p:cNvPr id="10" name="Text 8">
            <a:extLst xmlns:a="http://schemas.openxmlformats.org/drawingml/2006/main">
              <a:ext uri="{FF2B5EF4-FFF2-40B4-BE49-F238E27FC236}">
                <a16:creationId xmlns:a16="http://schemas.microsoft.com/office/drawing/2014/main" id="{48BF3E76-C2B0-4D10-9C4D-DD5EA6F69964}"/>
              </a:ext>
            </a:extLst>
          </p:cNvPr>
          <p:cNvSpPr>
            <a:spLocks xmlns:a="http://schemas.openxmlformats.org/drawingml/2006/main" noGrp="1"/>
          </p:cNvSpPr>
          <p:nvPr/>
        </p:nvSpPr>
        <p:spPr>
          <a:xfrm xmlns:a="http://schemas.openxmlformats.org/drawingml/2006/main">
            <a:off x="6248400" y="5778500"/>
            <a:ext cx="5284724"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u="sng">
                <a:solidFill>
                  <a:srgbClr val="E3E8EE"/>
                </a:solidFill>
                <a:latin typeface="IBM Plex Sans"/>
                <a:ea typeface="IBM Plex Sans"/>
                <a:cs typeface="IBM Plex Sans"/>
                <a:hlinkClick xmlns:r="http://schemas.openxmlformats.org/officeDocument/2006/relationships" r:id="Rf2d4c02911b94964"/>
              </a:rPr>
              <a:t>qr-subcontracting-desk.onrender.com</a:t>
            </a:r>
            <a:endParaRPr sz="1500"/>
          </a:p>
        </p:txBody>
      </p:sp>
    </p:spTree>
    <p:extLst>
      <p:ext uri="{BB962C8B-B14F-4D97-AF65-F5344CB8AC3E}">
        <p14:creationId xmlns:p14="http://schemas.microsoft.com/office/powerpoint/2010/main" val="1868494967"/>
      </p:ext>
    </p:extLst>
  </p:cSld>
</p:sld>
</file>

<file path=ppt/slides/slide2.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D9F104A-AFE3-4DEF-9FA7-BD150F5A3F18}"/>
              </a:ext>
            </a:extLst>
          </p:cNvPr>
          <p:cNvSpPr>
            <a:spLocks xmlns:a="http://schemas.openxmlformats.org/drawingml/2006/main" noGrp="1"/>
          </p:cNvSpPr>
          <p:nvPr/>
        </p:nvSpPr>
        <p:spPr>
          <a:xfrm xmlns:a="http://schemas.openxmlformats.org/drawingml/2006/main">
            <a:off x="812800" y="812800"/>
            <a:ext cx="1088339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spc="150">
                <a:solidFill>
                  <a:srgbClr val="A84A14"/>
                </a:solidFill>
                <a:latin typeface="IBM Plex Sans"/>
                <a:ea typeface="IBM Plex Sans"/>
                <a:cs typeface="IBM Plex Sans"/>
              </a:rPr>
              <a:t>OBJECTIVE</a:t>
            </a:r>
            <a:endParaRPr sz="1200"/>
          </a:p>
        </p:txBody>
      </p:sp>
      <p:sp>
        <p:nvSpPr>
          <p:cNvPr id="3" name="Text 1">
            <a:extLst xmlns:a="http://schemas.openxmlformats.org/drawingml/2006/main">
              <a:ext uri="{FF2B5EF4-FFF2-40B4-BE49-F238E27FC236}">
                <a16:creationId xmlns:a16="http://schemas.microsoft.com/office/drawing/2014/main" id="{005244B4-02DB-41EA-9C9A-2FAFD3A89842}"/>
              </a:ext>
            </a:extLst>
          </p:cNvPr>
          <p:cNvSpPr>
            <a:spLocks xmlns:a="http://schemas.openxmlformats.org/drawingml/2006/main" noGrp="1"/>
          </p:cNvSpPr>
          <p:nvPr>
            <p:ph type="title" idx="0"/>
          </p:nvPr>
        </p:nvSpPr>
        <p:spPr>
          <a:xfrm xmlns:a="http://schemas.openxmlformats.org/drawingml/2006/main">
            <a:off x="812800" y="1280120"/>
            <a:ext cx="10883392" cy="8076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i="0">
                <a:solidFill>
                  <a:srgbClr val="16202E"/>
                </a:solidFill>
                <a:latin typeface="Space Grotesk"/>
                <a:ea typeface="Space Grotesk"/>
                <a:cs typeface="Space Grotesk"/>
              </a:rPr>
              <a:t>One dispatcher, eight workshops, and an hour to decide each batch</a:t>
            </a:r>
            <a:endParaRPr sz="2800"/>
          </a:p>
        </p:txBody>
      </p:sp>
      <p:sp>
        <p:nvSpPr>
          <p:cNvPr id="4" name="Text 2">
            <a:extLst xmlns:a="http://schemas.openxmlformats.org/drawingml/2006/main">
              <a:ext uri="{FF2B5EF4-FFF2-40B4-BE49-F238E27FC236}">
                <a16:creationId xmlns:a16="http://schemas.microsoft.com/office/drawing/2014/main" id="{F790257E-030A-4AA8-838C-BB6486EDDB04}"/>
              </a:ext>
            </a:extLst>
          </p:cNvPr>
          <p:cNvSpPr>
            <a:spLocks xmlns:a="http://schemas.openxmlformats.org/drawingml/2006/main" noGrp="1"/>
          </p:cNvSpPr>
          <p:nvPr/>
        </p:nvSpPr>
        <p:spPr>
          <a:xfrm xmlns:a="http://schemas.openxmlformats.org/drawingml/2006/main">
            <a:off x="812800" y="2316361"/>
            <a:ext cx="5310886"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00"/>
              </a:lnSpc>
              <a:buNone/>
            </a:pPr>
            <a:r>
              <a:rPr sz="1500" b="1">
                <a:solidFill>
                  <a:srgbClr val="16202E"/>
                </a:solidFill>
                <a:latin typeface="Space Grotesk"/>
                <a:ea typeface="Space Grotesk"/>
                <a:cs typeface="Space Grotesk"/>
              </a:rPr>
              <a:t>Who it serves</a:t>
            </a:r>
            <a:endParaRPr sz="1500"/>
          </a:p>
        </p:txBody>
      </p:sp>
      <p:sp>
        <p:nvSpPr>
          <p:cNvPr id="5" name="Text 3">
            <a:extLst xmlns:a="http://schemas.openxmlformats.org/drawingml/2006/main">
              <a:ext uri="{FF2B5EF4-FFF2-40B4-BE49-F238E27FC236}">
                <a16:creationId xmlns:a16="http://schemas.microsoft.com/office/drawing/2014/main" id="{52042507-804A-47D8-9005-5E56E893C5A5}"/>
              </a:ext>
            </a:extLst>
          </p:cNvPr>
          <p:cNvSpPr>
            <a:spLocks xmlns:a="http://schemas.openxmlformats.org/drawingml/2006/main" noGrp="1"/>
          </p:cNvSpPr>
          <p:nvPr/>
        </p:nvSpPr>
        <p:spPr>
          <a:xfrm xmlns:a="http://schemas.openxmlformats.org/drawingml/2006/main">
            <a:off x="812800" y="2595761"/>
            <a:ext cx="5310886" cy="79871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030"/>
              </a:lnSpc>
              <a:buNone/>
            </a:pPr>
            <a:r>
              <a:rPr sz="1400">
                <a:solidFill>
                  <a:srgbClr val="3E4A5A"/>
                </a:solidFill>
                <a:latin typeface="IBM Plex Sans"/>
                <a:ea typeface="IBM Plex Sans"/>
                <a:cs typeface="IBM Plex Sans"/>
              </a:rPr>
              <a:t>The dispatcher at SweaterCo, who farms out batches when the factory is full. Requests arrive as one-line messages in the group chat from the boss and planners.</a:t>
            </a:r>
            <a:endParaRPr sz="1400"/>
          </a:p>
        </p:txBody>
      </p:sp>
      <p:sp>
        <p:nvSpPr>
          <p:cNvPr id="6" name="Text 4">
            <a:extLst xmlns:a="http://schemas.openxmlformats.org/drawingml/2006/main">
              <a:ext uri="{FF2B5EF4-FFF2-40B4-BE49-F238E27FC236}">
                <a16:creationId xmlns:a16="http://schemas.microsoft.com/office/drawing/2014/main" id="{25E4A200-FFF2-4A5A-9A3B-1C10445F7131}"/>
              </a:ext>
            </a:extLst>
          </p:cNvPr>
          <p:cNvSpPr>
            <a:spLocks xmlns:a="http://schemas.openxmlformats.org/drawingml/2006/main" noGrp="1"/>
          </p:cNvSpPr>
          <p:nvPr/>
        </p:nvSpPr>
        <p:spPr>
          <a:xfrm xmlns:a="http://schemas.openxmlformats.org/drawingml/2006/main">
            <a:off x="812800" y="3521472"/>
            <a:ext cx="5310886"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00"/>
              </a:lnSpc>
              <a:buNone/>
            </a:pPr>
            <a:r>
              <a:rPr sz="1500" b="1">
                <a:solidFill>
                  <a:srgbClr val="16202E"/>
                </a:solidFill>
                <a:latin typeface="Space Grotesk"/>
                <a:ea typeface="Space Grotesk"/>
                <a:cs typeface="Space Grotesk"/>
              </a:rPr>
              <a:t>The problem</a:t>
            </a:r>
            <a:endParaRPr sz="1500"/>
          </a:p>
        </p:txBody>
      </p:sp>
      <p:sp>
        <p:nvSpPr>
          <p:cNvPr id="7" name="Text 5">
            <a:extLst xmlns:a="http://schemas.openxmlformats.org/drawingml/2006/main">
              <a:ext uri="{FF2B5EF4-FFF2-40B4-BE49-F238E27FC236}">
                <a16:creationId xmlns:a16="http://schemas.microsoft.com/office/drawing/2014/main" id="{71F85D05-8BD1-45FA-9082-78E1F2D53673}"/>
              </a:ext>
            </a:extLst>
          </p:cNvPr>
          <p:cNvSpPr>
            <a:spLocks xmlns:a="http://schemas.openxmlformats.org/drawingml/2006/main" noGrp="1"/>
          </p:cNvSpPr>
          <p:nvPr/>
        </p:nvSpPr>
        <p:spPr>
          <a:xfrm xmlns:a="http://schemas.openxmlformats.org/drawingml/2006/main">
            <a:off x="812800" y="3800872"/>
            <a:ext cx="5310886" cy="131425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030"/>
              </a:lnSpc>
              <a:buNone/>
            </a:pPr>
            <a:r>
              <a:rPr sz="1400">
                <a:solidFill>
                  <a:srgbClr val="3E4A5A"/>
                </a:solidFill>
                <a:latin typeface="IBM Plex Sans"/>
                <a:ea typeface="IBM Plex Sans"/>
                <a:cs typeface="IBM Plex Sans"/>
              </a:rPr>
              <a:t>Every batch needs three checks across eight workshops: can they make it, can they take it now, are they allowed to. Today the decision is one chat line and the reasoning lives in one person’s head. A wrong pick bounces back a day later, in a 7–14 day cycle.</a:t>
            </a:r>
            <a:endParaRPr sz="1400"/>
          </a:p>
        </p:txBody>
      </p:sp>
      <p:sp>
        <p:nvSpPr>
          <p:cNvPr id="8" name="Shape 6">
            <a:extLst xmlns:a="http://schemas.openxmlformats.org/drawingml/2006/main">
              <a:ext uri="{FF2B5EF4-FFF2-40B4-BE49-F238E27FC236}">
                <a16:creationId xmlns:a16="http://schemas.microsoft.com/office/drawing/2014/main" id="{DD0CB3E1-14AB-47D8-8F14-DF592C78DEEA}"/>
              </a:ext>
            </a:extLst>
          </p:cNvPr>
          <p:cNvSpPr>
            <a:spLocks xmlns:a="http://schemas.openxmlformats.org/drawingml/2006/main" noGrp="1"/>
          </p:cNvSpPr>
          <p:nvPr/>
        </p:nvSpPr>
        <p:spPr>
          <a:xfrm xmlns:a="http://schemas.openxmlformats.org/drawingml/2006/main">
            <a:off x="6223000" y="2316361"/>
            <a:ext cx="5156200" cy="3728839"/>
          </a:xfrm>
          <a:prstGeom xmlns:a="http://schemas.openxmlformats.org/drawingml/2006/main" prst="roundRect">
            <a:avLst>
              <a:gd name="adj" fmla="val 2725"/>
            </a:avLst>
          </a:prstGeom>
          <a:solidFill xmlns:a="http://schemas.openxmlformats.org/drawingml/2006/main">
            <a:srgbClr val="16202E"/>
          </a:solidFill>
        </p:spPr>
        <p:txBody>
          <a:bodyPr xmlns:a="http://schemas.openxmlformats.org/drawingml/2006/main"/>
          <a:lstStyle xmlns:a="http://schemas.openxmlformats.org/drawingml/2006/main"/>
          <a:p xmlns:a="http://schemas.openxmlformats.org/drawingml/2006/main">
            <a:endParaRPr/>
          </a:p>
        </p:txBody>
      </p:sp>
      <p:sp>
        <p:nvSpPr>
          <p:cNvPr id="9" name="Text 7">
            <a:extLst xmlns:a="http://schemas.openxmlformats.org/drawingml/2006/main">
              <a:ext uri="{FF2B5EF4-FFF2-40B4-BE49-F238E27FC236}">
                <a16:creationId xmlns:a16="http://schemas.microsoft.com/office/drawing/2014/main" id="{D8216835-B7A3-43DA-9DD4-4EDDF325CCAC}"/>
              </a:ext>
            </a:extLst>
          </p:cNvPr>
          <p:cNvSpPr>
            <a:spLocks xmlns:a="http://schemas.openxmlformats.org/drawingml/2006/main" noGrp="1"/>
          </p:cNvSpPr>
          <p:nvPr/>
        </p:nvSpPr>
        <p:spPr>
          <a:xfrm xmlns:a="http://schemas.openxmlformats.org/drawingml/2006/main">
            <a:off x="6477000" y="2570361"/>
            <a:ext cx="4787646"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00"/>
              </a:lnSpc>
              <a:buNone/>
            </a:pPr>
            <a:r>
              <a:rPr sz="1500" b="1">
                <a:solidFill>
                  <a:srgbClr val="F2A65A"/>
                </a:solidFill>
                <a:latin typeface="Space Grotesk"/>
                <a:ea typeface="Space Grotesk"/>
                <a:cs typeface="Space Grotesk"/>
              </a:rPr>
              <a:t>Our scope</a:t>
            </a:r>
            <a:endParaRPr sz="1500"/>
          </a:p>
        </p:txBody>
      </p:sp>
      <p:sp>
        <p:nvSpPr>
          <p:cNvPr id="10" name="Text 8">
            <a:extLst xmlns:a="http://schemas.openxmlformats.org/drawingml/2006/main">
              <a:ext uri="{FF2B5EF4-FFF2-40B4-BE49-F238E27FC236}">
                <a16:creationId xmlns:a16="http://schemas.microsoft.com/office/drawing/2014/main" id="{17D1E417-5D7A-45FB-B255-F717F78F3081}"/>
              </a:ext>
            </a:extLst>
          </p:cNvPr>
          <p:cNvSpPr>
            <a:spLocks xmlns:a="http://schemas.openxmlformats.org/drawingml/2006/main" noGrp="1"/>
          </p:cNvSpPr>
          <p:nvPr/>
        </p:nvSpPr>
        <p:spPr>
          <a:xfrm xmlns:a="http://schemas.openxmlformats.org/drawingml/2006/main">
            <a:off x="6555232" y="2913261"/>
            <a:ext cx="4701794" cy="234533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175895" indent="-175895" algn="l">
              <a:lnSpc>
                <a:spcPts val="2030"/>
              </a:lnSpc>
              <a:buSzPct val="100000"/>
              <a:buChar char="•"/>
            </a:pPr>
            <a:r>
              <a:rPr sz="1400">
                <a:solidFill>
                  <a:srgbClr val="E3E8EE"/>
                </a:solidFill>
                <a:latin typeface="IBM Plex Sans"/>
                <a:ea typeface="IBM Plex Sans"/>
                <a:cs typeface="IBM Plex Sans"/>
              </a:rPr>
              <a:t>Read the chat message, check every workshop, recommend one, record why</a:t>
            </a:r>
            <a:endParaRPr sz="1400"/>
          </a:p>
          <a:p xmlns:a="http://schemas.openxmlformats.org/drawingml/2006/main">
            <a:pPr marL="175895" indent="-175895" algn="l">
              <a:lnSpc>
                <a:spcPts val="2030"/>
              </a:lnSpc>
              <a:buSzPct val="100000"/>
              <a:buChar char="•"/>
            </a:pPr>
            <a:r>
              <a:rPr sz="1400">
                <a:solidFill>
                  <a:srgbClr val="E3E8EE"/>
                </a:solidFill>
                <a:latin typeface="IBM Plex Sans"/>
                <a:ea typeface="IBM Plex Sans"/>
                <a:cs typeface="IBM Plex Sans"/>
              </a:rPr>
              <a:t>Ask, refuse or say “impossible” instead of guessing</a:t>
            </a:r>
            <a:endParaRPr sz="1400"/>
          </a:p>
          <a:p xmlns:a="http://schemas.openxmlformats.org/drawingml/2006/main">
            <a:pPr marL="175895" indent="-175895" algn="l">
              <a:lnSpc>
                <a:spcPts val="2030"/>
              </a:lnSpc>
              <a:buSzPct val="100000"/>
              <a:buChar char="•"/>
            </a:pPr>
            <a:r>
              <a:rPr sz="1400" b="1">
                <a:solidFill>
                  <a:srgbClr val="E3E8EE"/>
                </a:solidFill>
                <a:latin typeface="IBM Plex Sans"/>
                <a:ea typeface="IBM Plex Sans"/>
                <a:cs typeface="IBM Plex Sans"/>
              </a:rPr>
              <a:t>Primary objective: minimise lateness</a:t>
            </a:r>
            <a:r>
              <a:rPr sz="1400">
                <a:solidFill>
                  <a:srgbClr val="E3E8EE"/>
                </a:solidFill>
                <a:latin typeface="IBM Plex Sans"/>
                <a:ea typeface="IBM Plex Sans"/>
                <a:cs typeface="IBM Plex Sans"/>
              </a:rPr>
              <a:t> (% late, late days)</a:t>
            </a:r>
            <a:endParaRPr sz="1400"/>
          </a:p>
          <a:p xmlns:a="http://schemas.openxmlformats.org/drawingml/2006/main">
            <a:pPr marL="175895" indent="-175895" algn="l">
              <a:lnSpc>
                <a:spcPts val="2030"/>
              </a:lnSpc>
              <a:buSzPct val="100000"/>
              <a:buChar char="•"/>
            </a:pPr>
            <a:r>
              <a:rPr sz="1400">
                <a:solidFill>
                  <a:srgbClr val="E3E8EE"/>
                </a:solidFill>
                <a:latin typeface="IBM Plex Sans"/>
                <a:ea typeface="IBM Plex Sans"/>
                <a:cs typeface="IBM Plex Sans"/>
              </a:rPr>
              <a:t>Also reported: defects, with lateness no worse than random, and a lateness–defects sweep</a:t>
            </a:r>
            <a:endParaRPr sz="1400"/>
          </a:p>
          <a:p xmlns:a="http://schemas.openxmlformats.org/drawingml/2006/main">
            <a:pPr marL="175895" indent="-175895" algn="l">
              <a:lnSpc>
                <a:spcPts val="2030"/>
              </a:lnSpc>
              <a:buSzPct val="100000"/>
              <a:buChar char="•"/>
            </a:pPr>
            <a:r>
              <a:rPr sz="1400">
                <a:solidFill>
                  <a:srgbClr val="E3E8EE"/>
                </a:solidFill>
                <a:latin typeface="IBM Plex Sans"/>
                <a:ea typeface="IBM Plex Sans"/>
                <a:cs typeface="IBM Plex Sans"/>
              </a:rPr>
              <a:t>Out of scope: the optional stage extension; batch splits stay in the chat layer</a:t>
            </a:r>
            <a:endParaRPr sz="1400"/>
          </a:p>
        </p:txBody>
      </p:sp>
    </p:spTree>
    <p:extLst>
      <p:ext uri="{BB962C8B-B14F-4D97-AF65-F5344CB8AC3E}">
        <p14:creationId xmlns:p14="http://schemas.microsoft.com/office/powerpoint/2010/main" val="2119394362"/>
      </p:ext>
    </p:extLst>
  </p:cSld>
</p:sld>
</file>

<file path=ppt/slides/slide3.xml><?xml version="1.0" encoding="utf-8"?>
<p:sld xmlns:p="http://schemas.openxmlformats.org/presentationml/2006/main">
  <p:cSld>
    <p:bg>
      <p:bgPr>
        <a:solidFill xmlns:a="http://schemas.openxmlformats.org/drawingml/2006/main">
          <a:srgbClr val="E9EE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F2E3262-82F5-48E1-8151-EA9280461326}"/>
              </a:ext>
            </a:extLst>
          </p:cNvPr>
          <p:cNvSpPr>
            <a:spLocks xmlns:a="http://schemas.openxmlformats.org/drawingml/2006/main" noGrp="1"/>
          </p:cNvSpPr>
          <p:nvPr/>
        </p:nvSpPr>
        <p:spPr>
          <a:xfrm xmlns:a="http://schemas.openxmlformats.org/drawingml/2006/main">
            <a:off x="812800" y="812800"/>
            <a:ext cx="1088339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spc="150">
                <a:solidFill>
                  <a:srgbClr val="A84A14"/>
                </a:solidFill>
                <a:latin typeface="IBM Plex Sans"/>
                <a:ea typeface="IBM Plex Sans"/>
                <a:cs typeface="IBM Plex Sans"/>
              </a:rPr>
              <a:t>SINCE SPRINT 1</a:t>
            </a:r>
            <a:endParaRPr sz="1200"/>
          </a:p>
        </p:txBody>
      </p:sp>
      <p:sp>
        <p:nvSpPr>
          <p:cNvPr id="3" name="Text 1">
            <a:extLst xmlns:a="http://schemas.openxmlformats.org/drawingml/2006/main">
              <a:ext uri="{FF2B5EF4-FFF2-40B4-BE49-F238E27FC236}">
                <a16:creationId xmlns:a16="http://schemas.microsoft.com/office/drawing/2014/main" id="{DF11841B-49AC-4715-AA74-3DAC3DC789FE}"/>
              </a:ext>
            </a:extLst>
          </p:cNvPr>
          <p:cNvSpPr>
            <a:spLocks xmlns:a="http://schemas.openxmlformats.org/drawingml/2006/main" noGrp="1"/>
          </p:cNvSpPr>
          <p:nvPr>
            <p:ph type="title" idx="0"/>
          </p:nvPr>
        </p:nvSpPr>
        <p:spPr>
          <a:xfrm xmlns:a="http://schemas.openxmlformats.org/drawingml/2006/main">
            <a:off x="812800" y="1280120"/>
            <a:ext cx="10883392"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i="0">
                <a:solidFill>
                  <a:srgbClr val="16202E"/>
                </a:solidFill>
                <a:latin typeface="Space Grotesk"/>
                <a:ea typeface="Space Grotesk"/>
                <a:cs typeface="Space Grotesk"/>
              </a:rPr>
              <a:t>What we changed after Sprint 1</a:t>
            </a:r>
            <a:endParaRPr sz="2800"/>
          </a:p>
        </p:txBody>
      </p:sp>
      <p:sp>
        <p:nvSpPr>
          <p:cNvPr id="4" name="Shape 2">
            <a:extLst xmlns:a="http://schemas.openxmlformats.org/drawingml/2006/main">
              <a:ext uri="{FF2B5EF4-FFF2-40B4-BE49-F238E27FC236}">
                <a16:creationId xmlns:a16="http://schemas.microsoft.com/office/drawing/2014/main" id="{BF45916E-02A3-4DB4-9512-0E26153E097A}"/>
              </a:ext>
            </a:extLst>
          </p:cNvPr>
          <p:cNvSpPr>
            <a:spLocks xmlns:a="http://schemas.openxmlformats.org/drawingml/2006/main" noGrp="1"/>
          </p:cNvSpPr>
          <p:nvPr/>
        </p:nvSpPr>
        <p:spPr>
          <a:xfrm xmlns:a="http://schemas.openxmlformats.org/drawingml/2006/main">
            <a:off x="812800" y="1925241"/>
            <a:ext cx="3927211" cy="4119959"/>
          </a:xfrm>
          <a:prstGeom xmlns:a="http://schemas.openxmlformats.org/drawingml/2006/main" prst="roundRect">
            <a:avLst>
              <a:gd name="adj" fmla="val 2587"/>
            </a:avLst>
          </a:prstGeom>
          <a:solidFill xmlns:a="http://schemas.openxmlformats.org/drawingml/2006/main">
            <a:srgbClr val="F6F4EF"/>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E9A5661A-243E-4041-A32C-FC7E8F6AE9F2}"/>
              </a:ext>
            </a:extLst>
          </p:cNvPr>
          <p:cNvSpPr>
            <a:spLocks xmlns:a="http://schemas.openxmlformats.org/drawingml/2006/main" noGrp="1"/>
          </p:cNvSpPr>
          <p:nvPr/>
        </p:nvSpPr>
        <p:spPr>
          <a:xfrm xmlns:a="http://schemas.openxmlformats.org/drawingml/2006/main">
            <a:off x="812800" y="1925241"/>
            <a:ext cx="3927211" cy="4119959"/>
          </a:xfrm>
          <a:custGeom xmlns:a="http://schemas.openxmlformats.org/drawingml/2006/main">
            <a:rect l="l" t="t" r="r" b="b"/>
            <a:pathLst>
              <a:path w="3927211" h="4119959">
                <a:moveTo>
                  <a:pt x="0" y="101600"/>
                </a:moveTo>
                <a:lnTo>
                  <a:pt x="0" y="101600"/>
                </a:lnTo>
                <a:arcTo wR="101600" hR="101600" stAng="10800000" swAng="5400000"/>
                <a:lnTo>
                  <a:pt x="3825611" y="0"/>
                </a:lnTo>
                <a:arcTo wR="101600" hR="101600" stAng="16200000" swAng="5400000"/>
                <a:lnTo>
                  <a:pt x="3927211" y="101600"/>
                </a:lnTo>
                <a:arcTo wR="101600" hR="63500" stAng="0" swAng="-5400000"/>
                <a:lnTo>
                  <a:pt x="101600" y="38100"/>
                </a:lnTo>
                <a:arcTo wR="101600" hR="63500" stAng="16200000" swAng="-5400000"/>
                <a:close/>
              </a:path>
            </a:pathLst>
          </a:custGeom>
          <a:solidFill xmlns:a="http://schemas.openxmlformats.org/drawingml/2006/main">
            <a:srgbClr val="A84A14"/>
          </a:solidFill>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3B2E564-5C80-4EC3-8D55-75BDA9699C72}"/>
              </a:ext>
            </a:extLst>
          </p:cNvPr>
          <p:cNvSpPr>
            <a:spLocks xmlns:a="http://schemas.openxmlformats.org/drawingml/2006/main" noGrp="1"/>
          </p:cNvSpPr>
          <p:nvPr/>
        </p:nvSpPr>
        <p:spPr>
          <a:xfrm xmlns:a="http://schemas.openxmlformats.org/drawingml/2006/main">
            <a:off x="1041400" y="2191941"/>
            <a:ext cx="357411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A84A14"/>
                </a:solidFill>
                <a:latin typeface="IBM Plex Sans"/>
                <a:ea typeface="IBM Plex Sans"/>
                <a:cs typeface="IBM Plex Sans"/>
              </a:rPr>
              <a:t>From the feedback</a:t>
            </a:r>
            <a:endParaRPr sz="1200"/>
          </a:p>
        </p:txBody>
      </p:sp>
      <p:sp>
        <p:nvSpPr>
          <p:cNvPr id="7" name="Text 5">
            <a:extLst xmlns:a="http://schemas.openxmlformats.org/drawingml/2006/main">
              <a:ext uri="{FF2B5EF4-FFF2-40B4-BE49-F238E27FC236}">
                <a16:creationId xmlns:a16="http://schemas.microsoft.com/office/drawing/2014/main" id="{15D1A805-EE28-486D-A4C7-91FABF7545A7}"/>
              </a:ext>
            </a:extLst>
          </p:cNvPr>
          <p:cNvSpPr>
            <a:spLocks xmlns:a="http://schemas.openxmlformats.org/drawingml/2006/main" noGrp="1"/>
          </p:cNvSpPr>
          <p:nvPr/>
        </p:nvSpPr>
        <p:spPr>
          <a:xfrm xmlns:a="http://schemas.openxmlformats.org/drawingml/2006/main">
            <a:off x="1041400" y="2494161"/>
            <a:ext cx="3574111"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00"/>
              </a:lnSpc>
              <a:buNone/>
            </a:pPr>
            <a:r>
              <a:rPr sz="1500" b="1">
                <a:solidFill>
                  <a:srgbClr val="16202E"/>
                </a:solidFill>
                <a:latin typeface="Space Grotesk"/>
                <a:ea typeface="Space Grotesk"/>
                <a:cs typeface="Space Grotesk"/>
              </a:rPr>
              <a:t>Risk 4 re-rated: High impact</a:t>
            </a:r>
            <a:endParaRPr sz="1500"/>
          </a:p>
        </p:txBody>
      </p:sp>
      <p:sp>
        <p:nvSpPr>
          <p:cNvPr id="8" name="Text 6">
            <a:extLst xmlns:a="http://schemas.openxmlformats.org/drawingml/2006/main">
              <a:ext uri="{FF2B5EF4-FFF2-40B4-BE49-F238E27FC236}">
                <a16:creationId xmlns:a16="http://schemas.microsoft.com/office/drawing/2014/main" id="{E702A454-DA64-48E9-A647-BD3A97DBEB7F}"/>
              </a:ext>
            </a:extLst>
          </p:cNvPr>
          <p:cNvSpPr>
            <a:spLocks xmlns:a="http://schemas.openxmlformats.org/drawingml/2006/main" noGrp="1"/>
          </p:cNvSpPr>
          <p:nvPr/>
        </p:nvSpPr>
        <p:spPr>
          <a:xfrm xmlns:a="http://schemas.openxmlformats.org/drawingml/2006/main">
            <a:off x="1041400" y="2811661"/>
            <a:ext cx="3574111" cy="90910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740"/>
              </a:lnSpc>
              <a:buNone/>
            </a:pPr>
            <a:r>
              <a:rPr sz="1200">
                <a:solidFill>
                  <a:srgbClr val="3E4A5A"/>
                </a:solidFill>
                <a:latin typeface="IBM Plex Sans"/>
                <a:ea typeface="IBM Plex Sans"/>
                <a:cs typeface="IBM Plex Sans"/>
              </a:rPr>
              <a:t>Mixing up the two queue dates (1 Apr for the inbox, 1 Jan for the simulator). Impact was Medium; now High, because a wrong queue shifts every delivery date the desk quotes.</a:t>
            </a:r>
            <a:endParaRPr sz="1200"/>
          </a:p>
        </p:txBody>
      </p:sp>
      <p:sp>
        <p:nvSpPr>
          <p:cNvPr id="9" name="Text 7">
            <a:extLst xmlns:a="http://schemas.openxmlformats.org/drawingml/2006/main">
              <a:ext uri="{FF2B5EF4-FFF2-40B4-BE49-F238E27FC236}">
                <a16:creationId xmlns:a16="http://schemas.microsoft.com/office/drawing/2014/main" id="{EFA5E432-5984-4757-B345-3F866C240235}"/>
              </a:ext>
            </a:extLst>
          </p:cNvPr>
          <p:cNvSpPr>
            <a:spLocks xmlns:a="http://schemas.openxmlformats.org/drawingml/2006/main" noGrp="1"/>
          </p:cNvSpPr>
          <p:nvPr/>
        </p:nvSpPr>
        <p:spPr>
          <a:xfrm xmlns:a="http://schemas.openxmlformats.org/drawingml/2006/main">
            <a:off x="1041400" y="3784270"/>
            <a:ext cx="3574111" cy="113003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740"/>
              </a:lnSpc>
              <a:buNone/>
            </a:pPr>
            <a:r>
              <a:rPr sz="1200" b="1">
                <a:solidFill>
                  <a:srgbClr val="3E4A5A"/>
                </a:solidFill>
                <a:latin typeface="IBM Plex Sans"/>
                <a:ea typeface="IBM Plex Sans"/>
                <a:cs typeface="IBM Plex Sans"/>
              </a:rPr>
              <a:t>Built since:</a:t>
            </a:r>
            <a:r>
              <a:rPr sz="1200">
                <a:solidFill>
                  <a:srgbClr val="3E4A5A"/>
                </a:solidFill>
                <a:latin typeface="IBM Plex Sans"/>
                <a:ea typeface="IBM Plex Sans"/>
                <a:cs typeface="IBM Plex Sans"/>
              </a:rPr>
              <a:t> the inbox reads 1 Apr queues through one function; the simulator passes its own queues on every call; neither is derived from the other. A test pins a 1 Apr estimate (GiantWeave, 1,500 pcs, back Apr 12).</a:t>
            </a:r>
            <a:endParaRPr sz="1200"/>
          </a:p>
        </p:txBody>
      </p:sp>
      <p:sp>
        <p:nvSpPr>
          <p:cNvPr id="10" name="Shape 8">
            <a:extLst xmlns:a="http://schemas.openxmlformats.org/drawingml/2006/main">
              <a:ext uri="{FF2B5EF4-FFF2-40B4-BE49-F238E27FC236}">
                <a16:creationId xmlns:a16="http://schemas.microsoft.com/office/drawing/2014/main" id="{0EC9FC99-7452-4687-BBC7-95EAFE571985}"/>
              </a:ext>
            </a:extLst>
          </p:cNvPr>
          <p:cNvSpPr>
            <a:spLocks xmlns:a="http://schemas.openxmlformats.org/drawingml/2006/main" noGrp="1"/>
          </p:cNvSpPr>
          <p:nvPr/>
        </p:nvSpPr>
        <p:spPr>
          <a:xfrm xmlns:a="http://schemas.openxmlformats.org/drawingml/2006/main">
            <a:off x="4917811" y="1925241"/>
            <a:ext cx="3141795" cy="4119959"/>
          </a:xfrm>
          <a:prstGeom xmlns:a="http://schemas.openxmlformats.org/drawingml/2006/main" prst="roundRect">
            <a:avLst>
              <a:gd name="adj" fmla="val 3234"/>
            </a:avLst>
          </a:prstGeom>
          <a:solidFill xmlns:a="http://schemas.openxmlformats.org/drawingml/2006/main">
            <a:srgbClr val="F6F4EF"/>
          </a:solidFill>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B27A1C3F-B121-4E55-97D5-2C44FBD3F909}"/>
              </a:ext>
            </a:extLst>
          </p:cNvPr>
          <p:cNvSpPr>
            <a:spLocks xmlns:a="http://schemas.openxmlformats.org/drawingml/2006/main" noGrp="1"/>
          </p:cNvSpPr>
          <p:nvPr/>
        </p:nvSpPr>
        <p:spPr>
          <a:xfrm xmlns:a="http://schemas.openxmlformats.org/drawingml/2006/main">
            <a:off x="5146411" y="2153841"/>
            <a:ext cx="27651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2C5F8A"/>
                </a:solidFill>
                <a:latin typeface="IBM Plex Sans"/>
                <a:ea typeface="IBM Plex Sans"/>
                <a:cs typeface="IBM Plex Sans"/>
              </a:rPr>
              <a:t>Design</a:t>
            </a:r>
            <a:endParaRPr sz="1200"/>
          </a:p>
        </p:txBody>
      </p:sp>
      <p:sp>
        <p:nvSpPr>
          <p:cNvPr id="12" name="Text 10">
            <a:extLst xmlns:a="http://schemas.openxmlformats.org/drawingml/2006/main">
              <a:ext uri="{FF2B5EF4-FFF2-40B4-BE49-F238E27FC236}">
                <a16:creationId xmlns:a16="http://schemas.microsoft.com/office/drawing/2014/main" id="{2693FADF-2501-4CFD-839F-6E8D196EB99E}"/>
              </a:ext>
            </a:extLst>
          </p:cNvPr>
          <p:cNvSpPr>
            <a:spLocks xmlns:a="http://schemas.openxmlformats.org/drawingml/2006/main" noGrp="1"/>
          </p:cNvSpPr>
          <p:nvPr/>
        </p:nvSpPr>
        <p:spPr>
          <a:xfrm xmlns:a="http://schemas.openxmlformats.org/drawingml/2006/main">
            <a:off x="5146411" y="2456061"/>
            <a:ext cx="2765133"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00"/>
              </a:lnSpc>
              <a:buNone/>
            </a:pPr>
            <a:r>
              <a:rPr sz="1500" b="1">
                <a:solidFill>
                  <a:srgbClr val="16202E"/>
                </a:solidFill>
                <a:latin typeface="Space Grotesk"/>
                <a:ea typeface="Space Grotesk"/>
                <a:cs typeface="Space Grotesk"/>
              </a:rPr>
              <a:t>The LLM only reads</a:t>
            </a:r>
            <a:endParaRPr sz="1500"/>
          </a:p>
        </p:txBody>
      </p:sp>
      <p:sp>
        <p:nvSpPr>
          <p:cNvPr id="13" name="Text 11">
            <a:extLst xmlns:a="http://schemas.openxmlformats.org/drawingml/2006/main">
              <a:ext uri="{FF2B5EF4-FFF2-40B4-BE49-F238E27FC236}">
                <a16:creationId xmlns:a16="http://schemas.microsoft.com/office/drawing/2014/main" id="{672CEA8E-1C96-44A8-A7D1-8F40F2264D7F}"/>
              </a:ext>
            </a:extLst>
          </p:cNvPr>
          <p:cNvSpPr>
            <a:spLocks xmlns:a="http://schemas.openxmlformats.org/drawingml/2006/main" noGrp="1"/>
          </p:cNvSpPr>
          <p:nvPr/>
        </p:nvSpPr>
        <p:spPr>
          <a:xfrm xmlns:a="http://schemas.openxmlformats.org/drawingml/2006/main">
            <a:off x="5146411" y="2773561"/>
            <a:ext cx="2765133" cy="113003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740"/>
              </a:lnSpc>
              <a:buNone/>
            </a:pPr>
            <a:r>
              <a:rPr sz="1200">
                <a:solidFill>
                  <a:srgbClr val="3E4A5A"/>
                </a:solidFill>
                <a:latin typeface="IBM Plex Sans"/>
                <a:ea typeface="IBM Plex Sans"/>
                <a:cs typeface="IBM Plex Sans"/>
              </a:rPr>
              <a:t>Sprint 1 drew an LLM orchestrator that calls tools itself. We built a narrower one: Claude extracts the request; Python rules choose what to do and call the tools.</a:t>
            </a:r>
            <a:endParaRPr sz="1200"/>
          </a:p>
        </p:txBody>
      </p:sp>
      <p:sp>
        <p:nvSpPr>
          <p:cNvPr id="14" name="Text 12">
            <a:extLst xmlns:a="http://schemas.openxmlformats.org/drawingml/2006/main">
              <a:ext uri="{FF2B5EF4-FFF2-40B4-BE49-F238E27FC236}">
                <a16:creationId xmlns:a16="http://schemas.microsoft.com/office/drawing/2014/main" id="{24B8854A-F0C0-41E5-BD86-DD4858BAF8BF}"/>
              </a:ext>
            </a:extLst>
          </p:cNvPr>
          <p:cNvSpPr>
            <a:spLocks xmlns:a="http://schemas.openxmlformats.org/drawingml/2006/main" noGrp="1"/>
          </p:cNvSpPr>
          <p:nvPr/>
        </p:nvSpPr>
        <p:spPr>
          <a:xfrm xmlns:a="http://schemas.openxmlformats.org/drawingml/2006/main">
            <a:off x="5146411" y="3967097"/>
            <a:ext cx="2765133" cy="46725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740"/>
              </a:lnSpc>
              <a:buNone/>
            </a:pPr>
            <a:r>
              <a:rPr sz="1200">
                <a:solidFill>
                  <a:srgbClr val="3E4A5A"/>
                </a:solidFill>
                <a:latin typeface="IBM Plex Sans"/>
                <a:ea typeface="IBM Plex Sans"/>
                <a:cs typeface="IBM Plex Sans"/>
              </a:rPr>
              <a:t>Same message, same decision, every time, and no arithmetic in the model.</a:t>
            </a:r>
            <a:endParaRPr sz="1200"/>
          </a:p>
        </p:txBody>
      </p:sp>
      <p:sp>
        <p:nvSpPr>
          <p:cNvPr id="15" name="Shape 13">
            <a:extLst xmlns:a="http://schemas.openxmlformats.org/drawingml/2006/main">
              <a:ext uri="{FF2B5EF4-FFF2-40B4-BE49-F238E27FC236}">
                <a16:creationId xmlns:a16="http://schemas.microsoft.com/office/drawing/2014/main" id="{4BB0AE1B-541F-47E2-999B-7428CD8EE3D0}"/>
              </a:ext>
            </a:extLst>
          </p:cNvPr>
          <p:cNvSpPr>
            <a:spLocks xmlns:a="http://schemas.openxmlformats.org/drawingml/2006/main" noGrp="1"/>
          </p:cNvSpPr>
          <p:nvPr/>
        </p:nvSpPr>
        <p:spPr>
          <a:xfrm xmlns:a="http://schemas.openxmlformats.org/drawingml/2006/main">
            <a:off x="8237406" y="1925241"/>
            <a:ext cx="3141795" cy="4119959"/>
          </a:xfrm>
          <a:prstGeom xmlns:a="http://schemas.openxmlformats.org/drawingml/2006/main" prst="roundRect">
            <a:avLst>
              <a:gd name="adj" fmla="val 3234"/>
            </a:avLst>
          </a:prstGeom>
          <a:solidFill xmlns:a="http://schemas.openxmlformats.org/drawingml/2006/main">
            <a:srgbClr val="F6F4EF"/>
          </a:solidFill>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6D5BB82C-7D81-406C-B8FF-934601688B18}"/>
              </a:ext>
            </a:extLst>
          </p:cNvPr>
          <p:cNvSpPr>
            <a:spLocks xmlns:a="http://schemas.openxmlformats.org/drawingml/2006/main" noGrp="1"/>
          </p:cNvSpPr>
          <p:nvPr/>
        </p:nvSpPr>
        <p:spPr>
          <a:xfrm xmlns:a="http://schemas.openxmlformats.org/drawingml/2006/main">
            <a:off x="8466006" y="2153841"/>
            <a:ext cx="27651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2C5F8A"/>
                </a:solidFill>
                <a:latin typeface="IBM Plex Sans"/>
                <a:ea typeface="IBM Plex Sans"/>
                <a:cs typeface="IBM Plex Sans"/>
              </a:rPr>
              <a:t>Delivery</a:t>
            </a:r>
            <a:endParaRPr sz="1200"/>
          </a:p>
        </p:txBody>
      </p:sp>
      <p:sp>
        <p:nvSpPr>
          <p:cNvPr id="17" name="Text 15">
            <a:extLst xmlns:a="http://schemas.openxmlformats.org/drawingml/2006/main">
              <a:ext uri="{FF2B5EF4-FFF2-40B4-BE49-F238E27FC236}">
                <a16:creationId xmlns:a16="http://schemas.microsoft.com/office/drawing/2014/main" id="{14426A7E-1FDF-4552-830F-B3AD33D02F88}"/>
              </a:ext>
            </a:extLst>
          </p:cNvPr>
          <p:cNvSpPr>
            <a:spLocks xmlns:a="http://schemas.openxmlformats.org/drawingml/2006/main" noGrp="1"/>
          </p:cNvSpPr>
          <p:nvPr/>
        </p:nvSpPr>
        <p:spPr>
          <a:xfrm xmlns:a="http://schemas.openxmlformats.org/drawingml/2006/main">
            <a:off x="8466006" y="2456061"/>
            <a:ext cx="2765133"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00"/>
              </a:lnSpc>
              <a:buNone/>
            </a:pPr>
            <a:r>
              <a:rPr sz="1500" b="1">
                <a:solidFill>
                  <a:srgbClr val="16202E"/>
                </a:solidFill>
                <a:latin typeface="Space Grotesk"/>
                <a:ea typeface="Space Grotesk"/>
                <a:cs typeface="Space Grotesk"/>
              </a:rPr>
              <a:t>Live, not a mock-up</a:t>
            </a:r>
            <a:endParaRPr sz="1500"/>
          </a:p>
        </p:txBody>
      </p:sp>
      <p:sp>
        <p:nvSpPr>
          <p:cNvPr id="18" name="Text 16">
            <a:extLst xmlns:a="http://schemas.openxmlformats.org/drawingml/2006/main">
              <a:ext uri="{FF2B5EF4-FFF2-40B4-BE49-F238E27FC236}">
                <a16:creationId xmlns:a16="http://schemas.microsoft.com/office/drawing/2014/main" id="{F4FBA8CA-37E9-42F2-9AC2-BCE5E853E89A}"/>
              </a:ext>
            </a:extLst>
          </p:cNvPr>
          <p:cNvSpPr>
            <a:spLocks xmlns:a="http://schemas.openxmlformats.org/drawingml/2006/main" noGrp="1"/>
          </p:cNvSpPr>
          <p:nvPr/>
        </p:nvSpPr>
        <p:spPr>
          <a:xfrm xmlns:a="http://schemas.openxmlformats.org/drawingml/2006/main">
            <a:off x="8466006" y="2773561"/>
            <a:ext cx="2765133" cy="6881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740"/>
              </a:lnSpc>
              <a:buNone/>
            </a:pPr>
            <a:r>
              <a:rPr sz="1200">
                <a:solidFill>
                  <a:srgbClr val="3E4A5A"/>
                </a:solidFill>
                <a:latin typeface="IBM Plex Sans"/>
                <a:ea typeface="IBM Plex Sans"/>
                <a:cs typeface="IBM Plex Sans"/>
              </a:rPr>
              <a:t>Streamlit was replaced by our own web page on Python’s built-in server, deployed on Render with a public link.</a:t>
            </a:r>
            <a:endParaRPr sz="1200"/>
          </a:p>
        </p:txBody>
      </p:sp>
      <p:sp>
        <p:nvSpPr>
          <p:cNvPr id="19" name="Text 17">
            <a:extLst xmlns:a="http://schemas.openxmlformats.org/drawingml/2006/main">
              <a:ext uri="{FF2B5EF4-FFF2-40B4-BE49-F238E27FC236}">
                <a16:creationId xmlns:a16="http://schemas.microsoft.com/office/drawing/2014/main" id="{C1A79121-505B-43FE-992F-32C106BFFFDE}"/>
              </a:ext>
            </a:extLst>
          </p:cNvPr>
          <p:cNvSpPr>
            <a:spLocks xmlns:a="http://schemas.openxmlformats.org/drawingml/2006/main" noGrp="1"/>
          </p:cNvSpPr>
          <p:nvPr/>
        </p:nvSpPr>
        <p:spPr>
          <a:xfrm xmlns:a="http://schemas.openxmlformats.org/drawingml/2006/main">
            <a:off x="8466006" y="3525242"/>
            <a:ext cx="2765133" cy="46725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740"/>
              </a:lnSpc>
              <a:buNone/>
            </a:pPr>
            <a:r>
              <a:rPr sz="1200">
                <a:solidFill>
                  <a:srgbClr val="3E4A5A"/>
                </a:solidFill>
                <a:latin typeface="IBM Plex Sans"/>
                <a:ea typeface="IBM Plex Sans"/>
                <a:cs typeface="IBM Plex Sans"/>
              </a:rPr>
              <a:t>23 automated tests run without an API key.</a:t>
            </a:r>
            <a:endParaRPr sz="1200"/>
          </a:p>
        </p:txBody>
      </p:sp>
    </p:spTree>
    <p:extLst>
      <p:ext uri="{BB962C8B-B14F-4D97-AF65-F5344CB8AC3E}">
        <p14:creationId xmlns:p14="http://schemas.microsoft.com/office/powerpoint/2010/main" val="200435253"/>
      </p:ext>
    </p:extLst>
  </p:cSld>
</p:sld>
</file>

<file path=ppt/slides/slide4.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1A8133B-A764-414E-B46D-39D87760B121}"/>
              </a:ext>
            </a:extLst>
          </p:cNvPr>
          <p:cNvSpPr>
            <a:spLocks xmlns:a="http://schemas.openxmlformats.org/drawingml/2006/main" noGrp="1"/>
          </p:cNvSpPr>
          <p:nvPr/>
        </p:nvSpPr>
        <p:spPr>
          <a:xfrm xmlns:a="http://schemas.openxmlformats.org/drawingml/2006/main">
            <a:off x="812800" y="812800"/>
            <a:ext cx="1088339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spc="150">
                <a:solidFill>
                  <a:srgbClr val="A84A14"/>
                </a:solidFill>
                <a:latin typeface="IBM Plex Sans"/>
                <a:ea typeface="IBM Plex Sans"/>
                <a:cs typeface="IBM Plex Sans"/>
              </a:rPr>
              <a:t>ARCHITECTURE AS BUILT</a:t>
            </a:r>
            <a:endParaRPr sz="1200"/>
          </a:p>
        </p:txBody>
      </p:sp>
      <p:sp>
        <p:nvSpPr>
          <p:cNvPr id="3" name="Text 1">
            <a:extLst xmlns:a="http://schemas.openxmlformats.org/drawingml/2006/main">
              <a:ext uri="{FF2B5EF4-FFF2-40B4-BE49-F238E27FC236}">
                <a16:creationId xmlns:a16="http://schemas.microsoft.com/office/drawing/2014/main" id="{FF70C4B2-5B46-4FBB-BA09-C3BFCC6D9EC5}"/>
              </a:ext>
            </a:extLst>
          </p:cNvPr>
          <p:cNvSpPr>
            <a:spLocks xmlns:a="http://schemas.openxmlformats.org/drawingml/2006/main" noGrp="1"/>
          </p:cNvSpPr>
          <p:nvPr>
            <p:ph type="title" idx="0"/>
          </p:nvPr>
        </p:nvSpPr>
        <p:spPr>
          <a:xfrm xmlns:a="http://schemas.openxmlformats.org/drawingml/2006/main">
            <a:off x="812800" y="1153120"/>
            <a:ext cx="10883392"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i="0">
                <a:solidFill>
                  <a:srgbClr val="16202E"/>
                </a:solidFill>
                <a:latin typeface="Space Grotesk"/>
                <a:ea typeface="Space Grotesk"/>
                <a:cs typeface="Space Grotesk"/>
              </a:rPr>
              <a:t>Claude reads the message; Python decides</a:t>
            </a:r>
            <a:endParaRPr sz="2800"/>
          </a:p>
        </p:txBody>
      </p:sp>
      <p:sp>
        <p:nvSpPr>
          <p:cNvPr id="4" name="Shape 2">
            <a:extLst xmlns:a="http://schemas.openxmlformats.org/drawingml/2006/main">
              <a:ext uri="{FF2B5EF4-FFF2-40B4-BE49-F238E27FC236}">
                <a16:creationId xmlns:a16="http://schemas.microsoft.com/office/drawing/2014/main" id="{58C5BFE1-7862-4B9F-A4A8-3091131796F5}"/>
              </a:ext>
            </a:extLst>
          </p:cNvPr>
          <p:cNvSpPr>
            <a:spLocks xmlns:a="http://schemas.openxmlformats.org/drawingml/2006/main" noGrp="1"/>
          </p:cNvSpPr>
          <p:nvPr/>
        </p:nvSpPr>
        <p:spPr>
          <a:xfrm xmlns:a="http://schemas.openxmlformats.org/drawingml/2006/main">
            <a:off x="812800" y="2095500"/>
            <a:ext cx="1885950" cy="1587500"/>
          </a:xfrm>
          <a:prstGeom xmlns:a="http://schemas.openxmlformats.org/drawingml/2006/main" prst="roundRect">
            <a:avLst>
              <a:gd name="adj" fmla="val 4800"/>
            </a:avLst>
          </a:prstGeom>
          <a:solidFill xmlns:a="http://schemas.openxmlformats.org/drawingml/2006/main">
            <a:srgbClr val="E9EEF2"/>
          </a:solidFill>
        </p:spPr>
        <p:txBody>
          <a:bodyPr xmlns:a="http://schemas.openxmlformats.org/drawingml/2006/main"/>
          <a:lstStyle xmlns:a="http://schemas.openxmlformats.org/drawingml/2006/main"/>
          <a:p xmlns:a="http://schemas.openxmlformats.org/drawingml/2006/main">
            <a:endParaRPr/>
          </a:p>
        </p:txBody>
      </p:sp>
      <p:sp>
        <p:nvSpPr>
          <p:cNvPr id="5" name="Text 3">
            <a:extLst xmlns:a="http://schemas.openxmlformats.org/drawingml/2006/main">
              <a:ext uri="{FF2B5EF4-FFF2-40B4-BE49-F238E27FC236}">
                <a16:creationId xmlns:a16="http://schemas.microsoft.com/office/drawing/2014/main" id="{866D43E0-B81D-4190-B7AE-BD16BAD48AC3}"/>
              </a:ext>
            </a:extLst>
          </p:cNvPr>
          <p:cNvSpPr>
            <a:spLocks xmlns:a="http://schemas.openxmlformats.org/drawingml/2006/main" noGrp="1"/>
          </p:cNvSpPr>
          <p:nvPr/>
        </p:nvSpPr>
        <p:spPr>
          <a:xfrm xmlns:a="http://schemas.openxmlformats.org/drawingml/2006/main">
            <a:off x="952500" y="2235200"/>
            <a:ext cx="1657350" cy="22985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10"/>
              </a:lnSpc>
              <a:buNone/>
            </a:pPr>
            <a:r>
              <a:rPr sz="1400" b="1">
                <a:solidFill>
                  <a:srgbClr val="16202E"/>
                </a:solidFill>
                <a:latin typeface="Space Grotesk"/>
                <a:ea typeface="Space Grotesk"/>
                <a:cs typeface="Space Grotesk"/>
              </a:rPr>
              <a:t>Chat message</a:t>
            </a:r>
            <a:endParaRPr sz="1400"/>
          </a:p>
        </p:txBody>
      </p:sp>
      <p:sp>
        <p:nvSpPr>
          <p:cNvPr id="6" name="Text 4">
            <a:extLst xmlns:a="http://schemas.openxmlformats.org/drawingml/2006/main">
              <a:ext uri="{FF2B5EF4-FFF2-40B4-BE49-F238E27FC236}">
                <a16:creationId xmlns:a16="http://schemas.microsoft.com/office/drawing/2014/main" id="{8466D97F-0AA1-4038-A086-4B3CFBF0D060}"/>
              </a:ext>
            </a:extLst>
          </p:cNvPr>
          <p:cNvSpPr>
            <a:spLocks xmlns:a="http://schemas.openxmlformats.org/drawingml/2006/main" noGrp="1"/>
          </p:cNvSpPr>
          <p:nvPr/>
        </p:nvSpPr>
        <p:spPr>
          <a:xfrm xmlns:a="http://schemas.openxmlformats.org/drawingml/2006/main">
            <a:off x="952500" y="2490457"/>
            <a:ext cx="1657350" cy="6425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3E4A5A"/>
                </a:solidFill>
                <a:latin typeface="IBM Plex Sans"/>
                <a:ea typeface="IBM Plex Sans"/>
                <a:cs typeface="IBM Plex Sans"/>
              </a:rPr>
              <a:t>Picked from the inbox or typed by the dispatcher</a:t>
            </a:r>
            <a:endParaRPr sz="1200"/>
          </a:p>
        </p:txBody>
      </p:sp>
      <p:sp>
        <p:nvSpPr>
          <p:cNvPr id="7" name="Shape 5">
            <a:extLst xmlns:a="http://schemas.openxmlformats.org/drawingml/2006/main">
              <a:ext uri="{FF2B5EF4-FFF2-40B4-BE49-F238E27FC236}">
                <a16:creationId xmlns:a16="http://schemas.microsoft.com/office/drawing/2014/main" id="{3EF5982F-F02B-44FD-A1AC-AC2CB6D5308D}"/>
              </a:ext>
            </a:extLst>
          </p:cNvPr>
          <p:cNvSpPr>
            <a:spLocks xmlns:a="http://schemas.openxmlformats.org/drawingml/2006/main" noGrp="1"/>
          </p:cNvSpPr>
          <p:nvPr/>
        </p:nvSpPr>
        <p:spPr>
          <a:xfrm xmlns:a="http://schemas.openxmlformats.org/drawingml/2006/main">
            <a:off x="2978150" y="2095500"/>
            <a:ext cx="1885950" cy="1587500"/>
          </a:xfrm>
          <a:prstGeom xmlns:a="http://schemas.openxmlformats.org/drawingml/2006/main" prst="roundRect">
            <a:avLst>
              <a:gd name="adj" fmla="val 4800"/>
            </a:avLst>
          </a:prstGeom>
          <a:solidFill xmlns:a="http://schemas.openxmlformats.org/drawingml/2006/main">
            <a:srgbClr val="16202E"/>
          </a:solidFill>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6C460542-1979-426B-9152-8C946FD1E9E7}"/>
              </a:ext>
            </a:extLst>
          </p:cNvPr>
          <p:cNvSpPr>
            <a:spLocks xmlns:a="http://schemas.openxmlformats.org/drawingml/2006/main" noGrp="1"/>
          </p:cNvSpPr>
          <p:nvPr/>
        </p:nvSpPr>
        <p:spPr>
          <a:xfrm xmlns:a="http://schemas.openxmlformats.org/drawingml/2006/main">
            <a:off x="3117850" y="2235200"/>
            <a:ext cx="1657350" cy="22985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10"/>
              </a:lnSpc>
              <a:buNone/>
            </a:pPr>
            <a:r>
              <a:rPr sz="1400" b="1">
                <a:solidFill>
                  <a:srgbClr val="F2A65A"/>
                </a:solidFill>
                <a:latin typeface="Space Grotesk"/>
                <a:ea typeface="Space Grotesk"/>
                <a:cs typeface="Space Grotesk"/>
              </a:rPr>
              <a:t>Claude Haiku 5.5</a:t>
            </a:r>
            <a:endParaRPr sz="1400"/>
          </a:p>
        </p:txBody>
      </p:sp>
      <p:sp>
        <p:nvSpPr>
          <p:cNvPr id="9" name="Text 7">
            <a:extLst xmlns:a="http://schemas.openxmlformats.org/drawingml/2006/main">
              <a:ext uri="{FF2B5EF4-FFF2-40B4-BE49-F238E27FC236}">
                <a16:creationId xmlns:a16="http://schemas.microsoft.com/office/drawing/2014/main" id="{124D6F69-C076-43DA-9B94-7A5B05889180}"/>
              </a:ext>
            </a:extLst>
          </p:cNvPr>
          <p:cNvSpPr>
            <a:spLocks xmlns:a="http://schemas.openxmlformats.org/drawingml/2006/main" noGrp="1"/>
          </p:cNvSpPr>
          <p:nvPr/>
        </p:nvSpPr>
        <p:spPr>
          <a:xfrm xmlns:a="http://schemas.openxmlformats.org/drawingml/2006/main">
            <a:off x="3117850" y="2490457"/>
            <a:ext cx="1657350" cy="6425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E3E8EE"/>
                </a:solidFill>
                <a:latin typeface="IBM Plex Sans"/>
                <a:ea typeface="IBM Plex Sans"/>
                <a:cs typeface="IBM Plex Sans"/>
              </a:rPr>
              <a:t>Extracts order, quantity, date and constraints as JSON</a:t>
            </a:r>
            <a:endParaRPr sz="1200"/>
          </a:p>
        </p:txBody>
      </p:sp>
      <p:sp>
        <p:nvSpPr>
          <p:cNvPr id="10" name="Shape 8">
            <a:extLst xmlns:a="http://schemas.openxmlformats.org/drawingml/2006/main">
              <a:ext uri="{FF2B5EF4-FFF2-40B4-BE49-F238E27FC236}">
                <a16:creationId xmlns:a16="http://schemas.microsoft.com/office/drawing/2014/main" id="{05CDBE43-0B39-4450-BBD9-F107678AA88B}"/>
              </a:ext>
            </a:extLst>
          </p:cNvPr>
          <p:cNvSpPr>
            <a:spLocks xmlns:a="http://schemas.openxmlformats.org/drawingml/2006/main" noGrp="1"/>
          </p:cNvSpPr>
          <p:nvPr/>
        </p:nvSpPr>
        <p:spPr>
          <a:xfrm xmlns:a="http://schemas.openxmlformats.org/drawingml/2006/main">
            <a:off x="5143500" y="2095500"/>
            <a:ext cx="1885950" cy="1587500"/>
          </a:xfrm>
          <a:prstGeom xmlns:a="http://schemas.openxmlformats.org/drawingml/2006/main" prst="roundRect">
            <a:avLst>
              <a:gd name="adj" fmla="val 4800"/>
            </a:avLst>
          </a:prstGeom>
          <a:solidFill xmlns:a="http://schemas.openxmlformats.org/drawingml/2006/main">
            <a:srgbClr val="E9EEF2"/>
          </a:solidFill>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82929B08-14DE-4985-936C-29A74947E6DC}"/>
              </a:ext>
            </a:extLst>
          </p:cNvPr>
          <p:cNvSpPr>
            <a:spLocks xmlns:a="http://schemas.openxmlformats.org/drawingml/2006/main" noGrp="1"/>
          </p:cNvSpPr>
          <p:nvPr/>
        </p:nvSpPr>
        <p:spPr>
          <a:xfrm xmlns:a="http://schemas.openxmlformats.org/drawingml/2006/main">
            <a:off x="5283200" y="2235200"/>
            <a:ext cx="1657350" cy="22985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10"/>
              </a:lnSpc>
              <a:buNone/>
            </a:pPr>
            <a:r>
              <a:rPr sz="1400" b="1">
                <a:solidFill>
                  <a:srgbClr val="16202E"/>
                </a:solidFill>
                <a:latin typeface="Space Grotesk"/>
                <a:ea typeface="Space Grotesk"/>
                <a:cs typeface="Space Grotesk"/>
              </a:rPr>
              <a:t>Validation</a:t>
            </a:r>
            <a:endParaRPr sz="1400"/>
          </a:p>
        </p:txBody>
      </p:sp>
      <p:sp>
        <p:nvSpPr>
          <p:cNvPr id="12" name="Text 10">
            <a:extLst xmlns:a="http://schemas.openxmlformats.org/drawingml/2006/main">
              <a:ext uri="{FF2B5EF4-FFF2-40B4-BE49-F238E27FC236}">
                <a16:creationId xmlns:a16="http://schemas.microsoft.com/office/drawing/2014/main" id="{A7573EE6-A70F-469C-9E27-CF582A6ADD72}"/>
              </a:ext>
            </a:extLst>
          </p:cNvPr>
          <p:cNvSpPr>
            <a:spLocks xmlns:a="http://schemas.openxmlformats.org/drawingml/2006/main" noGrp="1"/>
          </p:cNvSpPr>
          <p:nvPr/>
        </p:nvSpPr>
        <p:spPr>
          <a:xfrm xmlns:a="http://schemas.openxmlformats.org/drawingml/2006/main">
            <a:off x="5283200" y="2490457"/>
            <a:ext cx="1657350" cy="6425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3E4A5A"/>
                </a:solidFill>
                <a:latin typeface="IBM Plex Sans"/>
                <a:ea typeface="IBM Plex Sans"/>
                <a:cs typeface="IBM Plex Sans"/>
              </a:rPr>
              <a:t>Drops any number not in the message; finds the order in orders.csv</a:t>
            </a:r>
            <a:endParaRPr sz="1200"/>
          </a:p>
        </p:txBody>
      </p:sp>
      <p:sp>
        <p:nvSpPr>
          <p:cNvPr id="13" name="Shape 11">
            <a:extLst xmlns:a="http://schemas.openxmlformats.org/drawingml/2006/main">
              <a:ext uri="{FF2B5EF4-FFF2-40B4-BE49-F238E27FC236}">
                <a16:creationId xmlns:a16="http://schemas.microsoft.com/office/drawing/2014/main" id="{465E4B65-FAB0-45CA-B2F8-0A7E523E6960}"/>
              </a:ext>
            </a:extLst>
          </p:cNvPr>
          <p:cNvSpPr>
            <a:spLocks xmlns:a="http://schemas.openxmlformats.org/drawingml/2006/main" noGrp="1"/>
          </p:cNvSpPr>
          <p:nvPr/>
        </p:nvSpPr>
        <p:spPr>
          <a:xfrm xmlns:a="http://schemas.openxmlformats.org/drawingml/2006/main">
            <a:off x="7308850" y="2095500"/>
            <a:ext cx="1885950" cy="1587500"/>
          </a:xfrm>
          <a:prstGeom xmlns:a="http://schemas.openxmlformats.org/drawingml/2006/main" prst="roundRect">
            <a:avLst>
              <a:gd name="adj" fmla="val 4800"/>
            </a:avLst>
          </a:prstGeom>
          <a:solidFill xmlns:a="http://schemas.openxmlformats.org/drawingml/2006/main">
            <a:srgbClr val="E9EEF2"/>
          </a:solidFill>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8E59B0EF-1F63-467C-ADFC-A4F933C6A538}"/>
              </a:ext>
            </a:extLst>
          </p:cNvPr>
          <p:cNvSpPr>
            <a:spLocks xmlns:a="http://schemas.openxmlformats.org/drawingml/2006/main" noGrp="1"/>
          </p:cNvSpPr>
          <p:nvPr/>
        </p:nvSpPr>
        <p:spPr>
          <a:xfrm xmlns:a="http://schemas.openxmlformats.org/drawingml/2006/main">
            <a:off x="7448550" y="2235200"/>
            <a:ext cx="1657350" cy="22985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10"/>
              </a:lnSpc>
              <a:buNone/>
            </a:pPr>
            <a:r>
              <a:rPr sz="1400" b="1">
                <a:solidFill>
                  <a:srgbClr val="16202E"/>
                </a:solidFill>
                <a:latin typeface="Space Grotesk"/>
                <a:ea typeface="Space Grotesk"/>
                <a:cs typeface="Space Grotesk"/>
              </a:rPr>
              <a:t>Router (rules)</a:t>
            </a:r>
            <a:endParaRPr sz="1400"/>
          </a:p>
        </p:txBody>
      </p:sp>
      <p:sp>
        <p:nvSpPr>
          <p:cNvPr id="15" name="Text 13">
            <a:extLst xmlns:a="http://schemas.openxmlformats.org/drawingml/2006/main">
              <a:ext uri="{FF2B5EF4-FFF2-40B4-BE49-F238E27FC236}">
                <a16:creationId xmlns:a16="http://schemas.microsoft.com/office/drawing/2014/main" id="{62217D79-7A42-4572-A8FB-AB63161C0553}"/>
              </a:ext>
            </a:extLst>
          </p:cNvPr>
          <p:cNvSpPr>
            <a:spLocks xmlns:a="http://schemas.openxmlformats.org/drawingml/2006/main" noGrp="1"/>
          </p:cNvSpPr>
          <p:nvPr/>
        </p:nvSpPr>
        <p:spPr>
          <a:xfrm xmlns:a="http://schemas.openxmlformats.org/drawingml/2006/main">
            <a:off x="7448550" y="2490457"/>
            <a:ext cx="1657350" cy="6425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3E4A5A"/>
                </a:solidFill>
                <a:latin typeface="IBM Plex Sans"/>
                <a:ea typeface="IBM Plex Sans"/>
                <a:cs typeface="IBM Plex Sans"/>
              </a:rPr>
              <a:t>Allocate, ask, refuse, say impossible, or decline</a:t>
            </a:r>
            <a:endParaRPr sz="1200"/>
          </a:p>
        </p:txBody>
      </p:sp>
      <p:sp>
        <p:nvSpPr>
          <p:cNvPr id="16" name="Shape 14">
            <a:extLst xmlns:a="http://schemas.openxmlformats.org/drawingml/2006/main">
              <a:ext uri="{FF2B5EF4-FFF2-40B4-BE49-F238E27FC236}">
                <a16:creationId xmlns:a16="http://schemas.microsoft.com/office/drawing/2014/main" id="{FA08C606-EB9F-4AD9-9510-68418C314C79}"/>
              </a:ext>
            </a:extLst>
          </p:cNvPr>
          <p:cNvSpPr>
            <a:spLocks xmlns:a="http://schemas.openxmlformats.org/drawingml/2006/main" noGrp="1"/>
          </p:cNvSpPr>
          <p:nvPr/>
        </p:nvSpPr>
        <p:spPr>
          <a:xfrm xmlns:a="http://schemas.openxmlformats.org/drawingml/2006/main">
            <a:off x="9474200" y="2095500"/>
            <a:ext cx="1905000" cy="1587500"/>
          </a:xfrm>
          <a:prstGeom xmlns:a="http://schemas.openxmlformats.org/drawingml/2006/main" prst="roundRect">
            <a:avLst>
              <a:gd name="adj" fmla="val 4800"/>
            </a:avLst>
          </a:prstGeom>
          <a:solidFill xmlns:a="http://schemas.openxmlformats.org/drawingml/2006/main">
            <a:srgbClr val="E9EEF2"/>
          </a:solidFill>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A71F2251-F361-47D9-A29B-92CE415D2083}"/>
              </a:ext>
            </a:extLst>
          </p:cNvPr>
          <p:cNvSpPr>
            <a:spLocks xmlns:a="http://schemas.openxmlformats.org/drawingml/2006/main" noGrp="1"/>
          </p:cNvSpPr>
          <p:nvPr/>
        </p:nvSpPr>
        <p:spPr>
          <a:xfrm xmlns:a="http://schemas.openxmlformats.org/drawingml/2006/main">
            <a:off x="9613900" y="2235200"/>
            <a:ext cx="1676400" cy="22985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10"/>
              </a:lnSpc>
              <a:buNone/>
            </a:pPr>
            <a:r>
              <a:rPr sz="1400" b="1">
                <a:solidFill>
                  <a:srgbClr val="16202E"/>
                </a:solidFill>
                <a:latin typeface="Space Grotesk"/>
                <a:ea typeface="Space Grotesk"/>
                <a:cs typeface="Space Grotesk"/>
              </a:rPr>
              <a:t>Web app</a:t>
            </a:r>
            <a:endParaRPr sz="1400"/>
          </a:p>
        </p:txBody>
      </p:sp>
      <p:sp>
        <p:nvSpPr>
          <p:cNvPr id="18" name="Text 16">
            <a:extLst xmlns:a="http://schemas.openxmlformats.org/drawingml/2006/main">
              <a:ext uri="{FF2B5EF4-FFF2-40B4-BE49-F238E27FC236}">
                <a16:creationId xmlns:a16="http://schemas.microsoft.com/office/drawing/2014/main" id="{CC9575BC-4683-43BD-B371-4AD88751EE1F}"/>
              </a:ext>
            </a:extLst>
          </p:cNvPr>
          <p:cNvSpPr>
            <a:spLocks xmlns:a="http://schemas.openxmlformats.org/drawingml/2006/main" noGrp="1"/>
          </p:cNvSpPr>
          <p:nvPr/>
        </p:nvSpPr>
        <p:spPr>
          <a:xfrm xmlns:a="http://schemas.openxmlformats.org/drawingml/2006/main">
            <a:off x="9613900" y="2490457"/>
            <a:ext cx="1676400" cy="84825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3E4A5A"/>
                </a:solidFill>
                <a:latin typeface="IBM Plex Sans"/>
                <a:ea typeface="IBM Plex Sans"/>
                <a:cs typeface="IBM Plex Sans"/>
              </a:rPr>
              <a:t>Candidates, delivery strips, reply. A human confirms; the audit log records it</a:t>
            </a:r>
            <a:endParaRPr sz="1200"/>
          </a:p>
        </p:txBody>
      </p:sp>
      <p:pic>
        <p:nvPicPr>
          <p:cNvPr id="19" name="Image 0">
            <a:extLst xmlns:a="http://schemas.openxmlformats.org/drawingml/2006/main">
              <a:ext uri="{FF2B5EF4-FFF2-40B4-BE49-F238E27FC236}">
                <a16:creationId xmlns:a16="http://schemas.microsoft.com/office/drawing/2014/main" id="{71898515-3034-4F22-9A8E-B34ACDA3C497}"/>
              </a:ext>
            </a:extLst>
          </p:cNvPr>
          <p:cNvPicPr>
            <a:picLocks xmlns:a="http://schemas.openxmlformats.org/drawingml/2006/main" noChangeAspect="1"/>
          </p:cNvPicPr>
          <p:nvPr/>
        </p:nvPicPr>
        <p:blipFill>
          <a:blip xmlns:r="http://schemas.openxmlformats.org/officeDocument/2006/relationships" xmlns:a="http://schemas.openxmlformats.org/drawingml/2006/main" r:embed="R0e971ee9c91d49b0"/>
          <a:srcRect xmlns:a="http://schemas.openxmlformats.org/drawingml/2006/main" l="0" t="0" r="0" b="0"/>
          <a:stretch xmlns:a="http://schemas.openxmlformats.org/drawingml/2006/main">
            <a:fillRect l="0" t="0" r="0" b="0"/>
          </a:stretch>
        </p:blipFill>
        <p:spPr>
          <a:xfrm xmlns:a="http://schemas.openxmlformats.org/drawingml/2006/main">
            <a:off x="2647950" y="2838450"/>
            <a:ext cx="381000" cy="101600"/>
          </a:xfrm>
          <a:prstGeom xmlns:a="http://schemas.openxmlformats.org/drawingml/2006/main" prst="rect">
            <a:avLst/>
          </a:prstGeom>
        </p:spPr>
      </p:pic>
      <p:pic>
        <p:nvPicPr>
          <p:cNvPr id="20" name="Image 1">
            <a:extLst xmlns:a="http://schemas.openxmlformats.org/drawingml/2006/main">
              <a:ext uri="{FF2B5EF4-FFF2-40B4-BE49-F238E27FC236}">
                <a16:creationId xmlns:a16="http://schemas.microsoft.com/office/drawing/2014/main" id="{8712E0F7-9A9F-47FE-A3C0-350656080B7D}"/>
              </a:ext>
            </a:extLst>
          </p:cNvPr>
          <p:cNvPicPr>
            <a:picLocks xmlns:a="http://schemas.openxmlformats.org/drawingml/2006/main" noChangeAspect="1"/>
          </p:cNvPicPr>
          <p:nvPr/>
        </p:nvPicPr>
        <p:blipFill>
          <a:blip xmlns:r="http://schemas.openxmlformats.org/officeDocument/2006/relationships" xmlns:a="http://schemas.openxmlformats.org/drawingml/2006/main" r:embed="R0e971ee9c91d49b0"/>
          <a:srcRect xmlns:a="http://schemas.openxmlformats.org/drawingml/2006/main" l="0" t="0" r="0" b="0"/>
          <a:stretch xmlns:a="http://schemas.openxmlformats.org/drawingml/2006/main">
            <a:fillRect l="0" t="0" r="0" b="0"/>
          </a:stretch>
        </p:blipFill>
        <p:spPr>
          <a:xfrm xmlns:a="http://schemas.openxmlformats.org/drawingml/2006/main">
            <a:off x="4813300" y="2838450"/>
            <a:ext cx="381000" cy="101600"/>
          </a:xfrm>
          <a:prstGeom xmlns:a="http://schemas.openxmlformats.org/drawingml/2006/main" prst="rect">
            <a:avLst/>
          </a:prstGeom>
        </p:spPr>
      </p:pic>
      <p:pic>
        <p:nvPicPr>
          <p:cNvPr id="21" name="Image 2">
            <a:extLst xmlns:a="http://schemas.openxmlformats.org/drawingml/2006/main">
              <a:ext uri="{FF2B5EF4-FFF2-40B4-BE49-F238E27FC236}">
                <a16:creationId xmlns:a16="http://schemas.microsoft.com/office/drawing/2014/main" id="{F60204AF-533D-4531-87CA-B403FD47C582}"/>
              </a:ext>
            </a:extLst>
          </p:cNvPr>
          <p:cNvPicPr>
            <a:picLocks xmlns:a="http://schemas.openxmlformats.org/drawingml/2006/main" noChangeAspect="1"/>
          </p:cNvPicPr>
          <p:nvPr/>
        </p:nvPicPr>
        <p:blipFill>
          <a:blip xmlns:r="http://schemas.openxmlformats.org/officeDocument/2006/relationships" xmlns:a="http://schemas.openxmlformats.org/drawingml/2006/main" r:embed="R0e971ee9c91d49b0"/>
          <a:srcRect xmlns:a="http://schemas.openxmlformats.org/drawingml/2006/main" l="0" t="0" r="0" b="0"/>
          <a:stretch xmlns:a="http://schemas.openxmlformats.org/drawingml/2006/main">
            <a:fillRect l="0" t="0" r="0" b="0"/>
          </a:stretch>
        </p:blipFill>
        <p:spPr>
          <a:xfrm xmlns:a="http://schemas.openxmlformats.org/drawingml/2006/main">
            <a:off x="6978650" y="2838450"/>
            <a:ext cx="381000" cy="101600"/>
          </a:xfrm>
          <a:prstGeom xmlns:a="http://schemas.openxmlformats.org/drawingml/2006/main" prst="rect">
            <a:avLst/>
          </a:prstGeom>
        </p:spPr>
      </p:pic>
      <p:pic>
        <p:nvPicPr>
          <p:cNvPr id="22" name="Image 3">
            <a:extLst xmlns:a="http://schemas.openxmlformats.org/drawingml/2006/main">
              <a:ext uri="{FF2B5EF4-FFF2-40B4-BE49-F238E27FC236}">
                <a16:creationId xmlns:a16="http://schemas.microsoft.com/office/drawing/2014/main" id="{F938988E-A4E8-4DF6-B0D4-D8AC82F1692F}"/>
              </a:ext>
            </a:extLst>
          </p:cNvPr>
          <p:cNvPicPr>
            <a:picLocks xmlns:a="http://schemas.openxmlformats.org/drawingml/2006/main" noChangeAspect="1"/>
          </p:cNvPicPr>
          <p:nvPr/>
        </p:nvPicPr>
        <p:blipFill>
          <a:blip xmlns:r="http://schemas.openxmlformats.org/officeDocument/2006/relationships" xmlns:a="http://schemas.openxmlformats.org/drawingml/2006/main" r:embed="R0e971ee9c91d49b0"/>
          <a:srcRect xmlns:a="http://schemas.openxmlformats.org/drawingml/2006/main" l="0" t="0" r="0" b="0"/>
          <a:stretch xmlns:a="http://schemas.openxmlformats.org/drawingml/2006/main">
            <a:fillRect l="0" t="0" r="0" b="0"/>
          </a:stretch>
        </p:blipFill>
        <p:spPr>
          <a:xfrm xmlns:a="http://schemas.openxmlformats.org/drawingml/2006/main">
            <a:off x="9144000" y="2838450"/>
            <a:ext cx="381000" cy="101600"/>
          </a:xfrm>
          <a:prstGeom xmlns:a="http://schemas.openxmlformats.org/drawingml/2006/main" prst="rect">
            <a:avLst/>
          </a:prstGeom>
        </p:spPr>
      </p:pic>
      <p:pic>
        <p:nvPicPr>
          <p:cNvPr id="23" name="Image 4">
            <a:extLst xmlns:a="http://schemas.openxmlformats.org/drawingml/2006/main">
              <a:ext uri="{FF2B5EF4-FFF2-40B4-BE49-F238E27FC236}">
                <a16:creationId xmlns:a16="http://schemas.microsoft.com/office/drawing/2014/main" id="{7E62E08D-2552-4972-A7B9-8F224525AF9D}"/>
              </a:ext>
            </a:extLst>
          </p:cNvPr>
          <p:cNvPicPr>
            <a:picLocks xmlns:a="http://schemas.openxmlformats.org/drawingml/2006/main" noChangeAspect="1"/>
          </p:cNvPicPr>
          <p:nvPr/>
        </p:nvPicPr>
        <p:blipFill>
          <a:blip xmlns:r="http://schemas.openxmlformats.org/officeDocument/2006/relationships" xmlns:a="http://schemas.openxmlformats.org/drawingml/2006/main" r:embed="R5386b33dbdd84222"/>
          <a:srcRect xmlns:a="http://schemas.openxmlformats.org/drawingml/2006/main" l="0" t="0" r="0" b="0"/>
          <a:stretch xmlns:a="http://schemas.openxmlformats.org/drawingml/2006/main">
            <a:fillRect l="0" t="0" r="0" b="0"/>
          </a:stretch>
        </p:blipFill>
        <p:spPr>
          <a:xfrm xmlns:a="http://schemas.openxmlformats.org/drawingml/2006/main">
            <a:off x="3867150" y="3632200"/>
            <a:ext cx="101600" cy="482600"/>
          </a:xfrm>
          <a:prstGeom xmlns:a="http://schemas.openxmlformats.org/drawingml/2006/main" prst="rect">
            <a:avLst/>
          </a:prstGeom>
        </p:spPr>
      </p:pic>
      <p:pic>
        <p:nvPicPr>
          <p:cNvPr id="24" name="Image 5">
            <a:extLst xmlns:a="http://schemas.openxmlformats.org/drawingml/2006/main">
              <a:ext uri="{FF2B5EF4-FFF2-40B4-BE49-F238E27FC236}">
                <a16:creationId xmlns:a16="http://schemas.microsoft.com/office/drawing/2014/main" id="{9CA09038-90F8-4A07-9FAE-3D298ACC64BC}"/>
              </a:ext>
            </a:extLst>
          </p:cNvPr>
          <p:cNvPicPr>
            <a:picLocks xmlns:a="http://schemas.openxmlformats.org/drawingml/2006/main" noChangeAspect="1"/>
          </p:cNvPicPr>
          <p:nvPr/>
        </p:nvPicPr>
        <p:blipFill>
          <a:blip xmlns:r="http://schemas.openxmlformats.org/officeDocument/2006/relationships" xmlns:a="http://schemas.openxmlformats.org/drawingml/2006/main" r:embed="R7017a380ca454a41"/>
          <a:srcRect xmlns:a="http://schemas.openxmlformats.org/drawingml/2006/main" l="0" t="0" r="0" b="0"/>
          <a:stretch xmlns:a="http://schemas.openxmlformats.org/drawingml/2006/main">
            <a:fillRect l="0" t="0" r="0" b="0"/>
          </a:stretch>
        </p:blipFill>
        <p:spPr>
          <a:xfrm xmlns:a="http://schemas.openxmlformats.org/drawingml/2006/main">
            <a:off x="8197850" y="3632200"/>
            <a:ext cx="101600" cy="482600"/>
          </a:xfrm>
          <a:prstGeom xmlns:a="http://schemas.openxmlformats.org/drawingml/2006/main" prst="rect">
            <a:avLst/>
          </a:prstGeom>
        </p:spPr>
      </p:pic>
      <p:sp>
        <p:nvSpPr>
          <p:cNvPr id="25" name="Shape 17">
            <a:extLst xmlns:a="http://schemas.openxmlformats.org/drawingml/2006/main">
              <a:ext uri="{FF2B5EF4-FFF2-40B4-BE49-F238E27FC236}">
                <a16:creationId xmlns:a16="http://schemas.microsoft.com/office/drawing/2014/main" id="{3541A531-F435-4A5B-8C9B-7220EA7FE677}"/>
              </a:ext>
            </a:extLst>
          </p:cNvPr>
          <p:cNvSpPr>
            <a:spLocks xmlns:a="http://schemas.openxmlformats.org/drawingml/2006/main" noGrp="1"/>
          </p:cNvSpPr>
          <p:nvPr/>
        </p:nvSpPr>
        <p:spPr>
          <a:xfrm xmlns:a="http://schemas.openxmlformats.org/drawingml/2006/main">
            <a:off x="2984500" y="4070350"/>
            <a:ext cx="1873250" cy="1003300"/>
          </a:xfrm>
          <a:prstGeom xmlns:a="http://schemas.openxmlformats.org/drawingml/2006/main" prst="roundRect">
            <a:avLst>
              <a:gd name="adj" fmla="val 6962"/>
            </a:avLst>
          </a:prstGeom>
          <a:solidFill xmlns:a="http://schemas.openxmlformats.org/drawingml/2006/main">
            <a:srgbClr val="F6F4EF"/>
          </a:solidFill>
          <a:ln xmlns:a="http://schemas.openxmlformats.org/drawingml/2006/main" w="12700">
            <a:solidFill>
              <a:srgbClr val="2C5F8A"/>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18">
            <a:extLst xmlns:a="http://schemas.openxmlformats.org/drawingml/2006/main">
              <a:ext uri="{FF2B5EF4-FFF2-40B4-BE49-F238E27FC236}">
                <a16:creationId xmlns:a16="http://schemas.microsoft.com/office/drawing/2014/main" id="{D19523E5-7ED4-44CE-9EE4-D1ED4189F92C}"/>
              </a:ext>
            </a:extLst>
          </p:cNvPr>
          <p:cNvSpPr>
            <a:spLocks xmlns:a="http://schemas.openxmlformats.org/drawingml/2006/main" noGrp="1"/>
          </p:cNvSpPr>
          <p:nvPr/>
        </p:nvSpPr>
        <p:spPr>
          <a:xfrm xmlns:a="http://schemas.openxmlformats.org/drawingml/2006/main">
            <a:off x="3130550" y="4191000"/>
            <a:ext cx="163195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2C5F8A"/>
                </a:solidFill>
                <a:latin typeface="IBM Plex Sans"/>
                <a:ea typeface="IBM Plex Sans"/>
                <a:cs typeface="IBM Plex Sans"/>
              </a:rPr>
              <a:t>Response cache</a:t>
            </a:r>
            <a:endParaRPr sz="1200"/>
          </a:p>
        </p:txBody>
      </p:sp>
      <p:sp>
        <p:nvSpPr>
          <p:cNvPr id="27" name="Text 19">
            <a:extLst xmlns:a="http://schemas.openxmlformats.org/drawingml/2006/main">
              <a:ext uri="{FF2B5EF4-FFF2-40B4-BE49-F238E27FC236}">
                <a16:creationId xmlns:a16="http://schemas.microsoft.com/office/drawing/2014/main" id="{A287F073-2B81-40C0-ADA1-A03C5FC483A9}"/>
              </a:ext>
            </a:extLst>
          </p:cNvPr>
          <p:cNvSpPr>
            <a:spLocks xmlns:a="http://schemas.openxmlformats.org/drawingml/2006/main" noGrp="1"/>
          </p:cNvSpPr>
          <p:nvPr/>
        </p:nvSpPr>
        <p:spPr>
          <a:xfrm xmlns:a="http://schemas.openxmlformats.org/drawingml/2006/main">
            <a:off x="3130550" y="4442420"/>
            <a:ext cx="1631950" cy="42161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60"/>
              </a:lnSpc>
              <a:buNone/>
            </a:pPr>
            <a:r>
              <a:rPr sz="1200">
                <a:solidFill>
                  <a:srgbClr val="3E4A5A"/>
                </a:solidFill>
                <a:latin typeface="IBM Plex Sans"/>
                <a:ea typeface="IBM Plex Sans"/>
                <a:cs typeface="IBM Plex Sans"/>
              </a:rPr>
              <a:t>Committed: same answer every run</a:t>
            </a:r>
            <a:endParaRPr sz="1200"/>
          </a:p>
        </p:txBody>
      </p:sp>
      <p:sp>
        <p:nvSpPr>
          <p:cNvPr id="28" name="Shape 20">
            <a:extLst xmlns:a="http://schemas.openxmlformats.org/drawingml/2006/main">
              <a:ext uri="{FF2B5EF4-FFF2-40B4-BE49-F238E27FC236}">
                <a16:creationId xmlns:a16="http://schemas.microsoft.com/office/drawing/2014/main" id="{1C18308F-5107-4109-9677-62B7C52A3997}"/>
              </a:ext>
            </a:extLst>
          </p:cNvPr>
          <p:cNvSpPr>
            <a:spLocks xmlns:a="http://schemas.openxmlformats.org/drawingml/2006/main" noGrp="1"/>
          </p:cNvSpPr>
          <p:nvPr/>
        </p:nvSpPr>
        <p:spPr>
          <a:xfrm xmlns:a="http://schemas.openxmlformats.org/drawingml/2006/main">
            <a:off x="5149850" y="4070350"/>
            <a:ext cx="6223000" cy="1003300"/>
          </a:xfrm>
          <a:prstGeom xmlns:a="http://schemas.openxmlformats.org/drawingml/2006/main" prst="roundRect">
            <a:avLst>
              <a:gd name="adj" fmla="val 6962"/>
            </a:avLst>
          </a:prstGeom>
          <a:solidFill xmlns:a="http://schemas.openxmlformats.org/drawingml/2006/main">
            <a:srgbClr val="F6F4EF"/>
          </a:solidFill>
          <a:ln xmlns:a="http://schemas.openxmlformats.org/drawingml/2006/main" w="12700">
            <a:solidFill>
              <a:srgbClr val="A84A14"/>
            </a:solidFill>
            <a:prstDash val="dash"/>
          </a:ln>
        </p:spPr>
        <p:txBody>
          <a:bodyPr xmlns:a="http://schemas.openxmlformats.org/drawingml/2006/main"/>
          <a:lstStyle xmlns:a="http://schemas.openxmlformats.org/drawingml/2006/main"/>
          <a:p xmlns:a="http://schemas.openxmlformats.org/drawingml/2006/main">
            <a:endParaRPr/>
          </a:p>
        </p:txBody>
      </p:sp>
      <p:sp>
        <p:nvSpPr>
          <p:cNvPr id="29" name="Text 21">
            <a:extLst xmlns:a="http://schemas.openxmlformats.org/drawingml/2006/main">
              <a:ext uri="{FF2B5EF4-FFF2-40B4-BE49-F238E27FC236}">
                <a16:creationId xmlns:a16="http://schemas.microsoft.com/office/drawing/2014/main" id="{833FEE5D-B9B6-4E2F-82D8-29F7989276D3}"/>
              </a:ext>
            </a:extLst>
          </p:cNvPr>
          <p:cNvSpPr>
            <a:spLocks xmlns:a="http://schemas.openxmlformats.org/drawingml/2006/main" noGrp="1"/>
          </p:cNvSpPr>
          <p:nvPr/>
        </p:nvSpPr>
        <p:spPr>
          <a:xfrm xmlns:a="http://schemas.openxmlformats.org/drawingml/2006/main">
            <a:off x="5308600" y="4191000"/>
            <a:ext cx="608266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A84A14"/>
                </a:solidFill>
                <a:latin typeface="IBM Plex Sans"/>
                <a:ea typeface="IBM Plex Sans"/>
                <a:cs typeface="IBM Plex Sans"/>
              </a:rPr>
              <a:t>Deterministic tool layer: every date, cost and queue comes from here</a:t>
            </a:r>
            <a:endParaRPr sz="1200"/>
          </a:p>
        </p:txBody>
      </p:sp>
      <p:sp>
        <p:nvSpPr>
          <p:cNvPr id="30" name="Text 22">
            <a:extLst xmlns:a="http://schemas.openxmlformats.org/drawingml/2006/main">
              <a:ext uri="{FF2B5EF4-FFF2-40B4-BE49-F238E27FC236}">
                <a16:creationId xmlns:a16="http://schemas.microsoft.com/office/drawing/2014/main" id="{4D3881C7-4D6E-4483-BE95-EB689760A7DE}"/>
              </a:ext>
            </a:extLst>
          </p:cNvPr>
          <p:cNvSpPr>
            <a:spLocks xmlns:a="http://schemas.openxmlformats.org/drawingml/2006/main" noGrp="1"/>
          </p:cNvSpPr>
          <p:nvPr/>
        </p:nvSpPr>
        <p:spPr>
          <a:xfrm xmlns:a="http://schemas.openxmlformats.org/drawingml/2006/main">
            <a:off x="5308600" y="4455120"/>
            <a:ext cx="6082665" cy="43682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3E4A5A"/>
                </a:solidFill>
                <a:latin typeface="IBM Plex Sans"/>
                <a:ea typeface="IBM Plex Sans"/>
                <a:cs typeface="IBM Plex Sans"/>
              </a:rPr>
              <a:t>register_lookup · queue_check · estimate_eta · overload_probe · allocate · earliest_possible · split_options</a:t>
            </a:r>
            <a:endParaRPr sz="1200"/>
          </a:p>
        </p:txBody>
      </p:sp>
      <p:pic>
        <p:nvPicPr>
          <p:cNvPr id="31" name="Image 6">
            <a:extLst xmlns:a="http://schemas.openxmlformats.org/drawingml/2006/main">
              <a:ext uri="{FF2B5EF4-FFF2-40B4-BE49-F238E27FC236}">
                <a16:creationId xmlns:a16="http://schemas.microsoft.com/office/drawing/2014/main" id="{3A46DAF2-AB15-43F1-98D2-264C1E062628}"/>
              </a:ext>
            </a:extLst>
          </p:cNvPr>
          <p:cNvPicPr>
            <a:picLocks xmlns:a="http://schemas.openxmlformats.org/drawingml/2006/main" noChangeAspect="1"/>
          </p:cNvPicPr>
          <p:nvPr/>
        </p:nvPicPr>
        <p:blipFill>
          <a:blip xmlns:r="http://schemas.openxmlformats.org/officeDocument/2006/relationships" xmlns:a="http://schemas.openxmlformats.org/drawingml/2006/main" r:embed="R4927e984930a4c58"/>
          <a:srcRect xmlns:a="http://schemas.openxmlformats.org/drawingml/2006/main" l="0" t="0" r="0" b="0"/>
          <a:stretch xmlns:a="http://schemas.openxmlformats.org/drawingml/2006/main">
            <a:fillRect l="0" t="0" r="0" b="0"/>
          </a:stretch>
        </p:blipFill>
        <p:spPr>
          <a:xfrm xmlns:a="http://schemas.openxmlformats.org/drawingml/2006/main">
            <a:off x="8197850" y="5029200"/>
            <a:ext cx="101600" cy="292100"/>
          </a:xfrm>
          <a:prstGeom xmlns:a="http://schemas.openxmlformats.org/drawingml/2006/main" prst="rect">
            <a:avLst/>
          </a:prstGeom>
        </p:spPr>
      </p:pic>
      <p:sp>
        <p:nvSpPr>
          <p:cNvPr id="32" name="Text 23">
            <a:extLst xmlns:a="http://schemas.openxmlformats.org/drawingml/2006/main">
              <a:ext uri="{FF2B5EF4-FFF2-40B4-BE49-F238E27FC236}">
                <a16:creationId xmlns:a16="http://schemas.microsoft.com/office/drawing/2014/main" id="{42C109C9-45D7-4FF1-B3F7-88504CCF9ABE}"/>
              </a:ext>
            </a:extLst>
          </p:cNvPr>
          <p:cNvSpPr>
            <a:spLocks xmlns:a="http://schemas.openxmlformats.org/drawingml/2006/main" noGrp="1"/>
          </p:cNvSpPr>
          <p:nvPr/>
        </p:nvSpPr>
        <p:spPr>
          <a:xfrm xmlns:a="http://schemas.openxmlformats.org/drawingml/2006/main">
            <a:off x="812800" y="5270500"/>
            <a:ext cx="4051300" cy="635000"/>
          </a:xfrm>
          <a:prstGeom xmlns:a="http://schemas.openxmlformats.org/drawingml/2006/main" prst="roundRect">
            <a:avLst>
              <a:gd name="adj" fmla="val 12000"/>
            </a:avLst>
          </a:prstGeom>
          <a:solidFill xmlns:a="http://schemas.openxmlformats.org/drawingml/2006/main">
            <a:srgbClr val="E9EEF2"/>
          </a:solidFill>
        </p:spPr>
        <p:txBody>
          <a:bodyPr xmlns:a="http://schemas.openxmlformats.org/drawingml/2006/main" wrap="square" lIns="117382" tIns="79282" rIns="4225" bIns="79282" anchor="ctr">
            <a:normAutofit/>
          </a:bodyPr>
          <a:lstStyle xmlns:a="http://schemas.openxmlformats.org/drawingml/2006/main"/>
          <a:p xmlns:a="http://schemas.openxmlformats.org/drawingml/2006/main">
            <a:pPr marL="0" indent="0" algn="l">
              <a:lnSpc>
                <a:spcPts val="1560"/>
              </a:lnSpc>
              <a:buNone/>
            </a:pPr>
            <a:r>
              <a:rPr sz="1200" b="1">
                <a:solidFill>
                  <a:srgbClr val="16202E"/>
                </a:solidFill>
                <a:latin typeface="IBM Plex Sans"/>
                <a:ea typeface="IBM Plex Sans"/>
                <a:cs typeface="IBM Plex Sans"/>
              </a:rPr>
              <a:t>Hosting:</a:t>
            </a:r>
            <a:r>
              <a:rPr sz="1200">
                <a:solidFill>
                  <a:srgbClr val="16202E"/>
                </a:solidFill>
                <a:latin typeface="IBM Plex Sans"/>
                <a:ea typeface="IBM Plex Sans"/>
                <a:cs typeface="IBM Plex Sans"/>
              </a:rPr>
              <a:t> Render free tier from the public repo; the API key stays on the server</a:t>
            </a:r>
            <a:endParaRPr sz="1200"/>
          </a:p>
        </p:txBody>
      </p:sp>
      <p:sp>
        <p:nvSpPr>
          <p:cNvPr id="33" name="Text 24">
            <a:extLst xmlns:a="http://schemas.openxmlformats.org/drawingml/2006/main">
              <a:ext uri="{FF2B5EF4-FFF2-40B4-BE49-F238E27FC236}">
                <a16:creationId xmlns:a16="http://schemas.microsoft.com/office/drawing/2014/main" id="{EDF08F9D-5D43-4435-AEB2-0A03490B76A6}"/>
              </a:ext>
            </a:extLst>
          </p:cNvPr>
          <p:cNvSpPr>
            <a:spLocks xmlns:a="http://schemas.openxmlformats.org/drawingml/2006/main" noGrp="1"/>
          </p:cNvSpPr>
          <p:nvPr/>
        </p:nvSpPr>
        <p:spPr>
          <a:xfrm xmlns:a="http://schemas.openxmlformats.org/drawingml/2006/main">
            <a:off x="5143500" y="5270500"/>
            <a:ext cx="6235700" cy="635000"/>
          </a:xfrm>
          <a:prstGeom xmlns:a="http://schemas.openxmlformats.org/drawingml/2006/main" prst="roundRect">
            <a:avLst>
              <a:gd name="adj" fmla="val 12000"/>
            </a:avLst>
          </a:prstGeom>
          <a:solidFill xmlns:a="http://schemas.openxmlformats.org/drawingml/2006/main">
            <a:srgbClr val="E9EEF2"/>
          </a:solidFill>
        </p:spPr>
        <p:txBody>
          <a:bodyPr xmlns:a="http://schemas.openxmlformats.org/drawingml/2006/main" wrap="square" lIns="117382" tIns="79282" rIns="0" bIns="79282" anchor="ctr">
            <a:normAutofit/>
          </a:bodyPr>
          <a:lstStyle xmlns:a="http://schemas.openxmlformats.org/drawingml/2006/main"/>
          <a:p xmlns:a="http://schemas.openxmlformats.org/drawingml/2006/main">
            <a:pPr marL="0" indent="0" algn="l">
              <a:lnSpc>
                <a:spcPts val="1560"/>
              </a:lnSpc>
              <a:buNone/>
            </a:pPr>
            <a:r>
              <a:rPr sz="1200" b="1">
                <a:solidFill>
                  <a:srgbClr val="16202E"/>
                </a:solidFill>
                <a:latin typeface="IBM Plex Sans"/>
                <a:ea typeface="IBM Plex Sans"/>
                <a:cs typeface="IBM Plex Sans"/>
              </a:rPr>
              <a:t>Evaluation:</a:t>
            </a:r>
            <a:r>
              <a:rPr sz="1200">
                <a:solidFill>
                  <a:srgbClr val="16202E"/>
                </a:solidFill>
                <a:latin typeface="IBM Plex Sans"/>
                <a:ea typeface="IBM Plex Sans"/>
                <a:cs typeface="IBM Plex Sans"/>
              </a:rPr>
              <a:t> simulate.py calls the same allocate() 120 times per run; inbox scorer; parser comparison</a:t>
            </a:r>
            <a:endParaRPr sz="1200"/>
          </a:p>
        </p:txBody>
      </p:sp>
    </p:spTree>
    <p:extLst>
      <p:ext uri="{BB962C8B-B14F-4D97-AF65-F5344CB8AC3E}">
        <p14:creationId xmlns:p14="http://schemas.microsoft.com/office/powerpoint/2010/main" val="288363976"/>
      </p:ext>
    </p:extLst>
  </p:cSld>
</p:sld>
</file>

<file path=ppt/slides/slide5.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34651EA-7B28-497B-BAC1-A6A6E3C33F41}"/>
              </a:ext>
            </a:extLst>
          </p:cNvPr>
          <p:cNvSpPr>
            <a:spLocks xmlns:a="http://schemas.openxmlformats.org/drawingml/2006/main" noGrp="1"/>
          </p:cNvSpPr>
          <p:nvPr/>
        </p:nvSpPr>
        <p:spPr>
          <a:xfrm xmlns:a="http://schemas.openxmlformats.org/drawingml/2006/main">
            <a:off x="812800" y="812800"/>
            <a:ext cx="1088339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spc="150">
                <a:solidFill>
                  <a:srgbClr val="A84A14"/>
                </a:solidFill>
                <a:latin typeface="IBM Plex Sans"/>
                <a:ea typeface="IBM Plex Sans"/>
                <a:cs typeface="IBM Plex Sans"/>
              </a:rPr>
              <a:t>TECHNICAL CHOICES</a:t>
            </a:r>
            <a:endParaRPr sz="1200"/>
          </a:p>
        </p:txBody>
      </p:sp>
      <p:sp>
        <p:nvSpPr>
          <p:cNvPr id="3" name="Text 1">
            <a:extLst xmlns:a="http://schemas.openxmlformats.org/drawingml/2006/main">
              <a:ext uri="{FF2B5EF4-FFF2-40B4-BE49-F238E27FC236}">
                <a16:creationId xmlns:a16="http://schemas.microsoft.com/office/drawing/2014/main" id="{7F25CCA3-B64B-46FA-B9C4-0DCD7D29A2D4}"/>
              </a:ext>
            </a:extLst>
          </p:cNvPr>
          <p:cNvSpPr>
            <a:spLocks xmlns:a="http://schemas.openxmlformats.org/drawingml/2006/main" noGrp="1"/>
          </p:cNvSpPr>
          <p:nvPr>
            <p:ph type="title" idx="0"/>
          </p:nvPr>
        </p:nvSpPr>
        <p:spPr>
          <a:xfrm xmlns:a="http://schemas.openxmlformats.org/drawingml/2006/main">
            <a:off x="812800" y="1229320"/>
            <a:ext cx="10883392"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i="0">
                <a:solidFill>
                  <a:srgbClr val="16202E"/>
                </a:solidFill>
                <a:latin typeface="Space Grotesk"/>
                <a:ea typeface="Space Grotesk"/>
                <a:cs typeface="Space Grotesk"/>
              </a:rPr>
              <a:t>Key choices and the alternatives we rejected</a:t>
            </a:r>
            <a:endParaRPr sz="2800"/>
          </a:p>
        </p:txBody>
      </p:sp>
      <p:graphicFrame>
        <p:nvGraphicFramePr>
          <p:cNvPr id="4" name="Table 0">
            <a:extLst xmlns:a="http://schemas.openxmlformats.org/drawingml/2006/main">
              <a:ext uri="{FF2B5EF4-FFF2-40B4-BE49-F238E27FC236}">
                <a16:creationId xmlns:a16="http://schemas.microsoft.com/office/drawing/2014/main" id="{50E21EFC-A503-4F40-8223-0A9E22A86FD1}"/>
              </a:ext>
            </a:extLst>
          </p:cNvPr>
          <p:cNvGraphicFramePr/>
          <p:nvPr/>
        </p:nvGraphicFramePr>
        <p:xfrm>
          <a:off xmlns:a="http://schemas.openxmlformats.org/drawingml/2006/main" x="825500" y="1836341"/>
          <a:ext xmlns:a="http://schemas.openxmlformats.org/drawingml/2006/main" cx="10553700" cy="3062487"/>
        </p:xfrm>
        <a:graphic xmlns:a="http://schemas.openxmlformats.org/drawingml/2006/main">
          <a:graphicData uri="http://schemas.openxmlformats.org/drawingml/2006/table">
            <a:tbl>
              <a:tblPr/>
              <a:tblGrid>
                <a:gridCol w="2532888"/>
                <a:gridCol w="2532888"/>
                <a:gridCol w="5487924"/>
              </a:tblGrid>
              <a:tr h="332647">
                <a:tc>
                  <a:txBody>
                    <a:bodyPr/>
                    <a:lstStyle/>
                    <a:p>
                      <a:pPr marL="0" indent="0">
                        <a:lnSpc>
                          <a:spcPts val="1680"/>
                        </a:lnSpc>
                        <a:buNone/>
                      </a:pPr>
                      <a:r>
                        <a:rPr sz="1200" b="1">
                          <a:solidFill>
                            <a:srgbClr val="16202E"/>
                          </a:solidFill>
                          <a:latin typeface="IBM Plex Sans"/>
                          <a:ea typeface="IBM Plex Sans"/>
                          <a:cs typeface="IBM Plex Sans"/>
                        </a:rPr>
                        <a:t>What we chose</a:t>
                      </a:r>
                      <a:endParaRPr sz="1200">
                        <a:latin typeface="IBM Plex Sans"/>
                        <a:ea typeface="IBM Plex Sans"/>
                        <a:cs typeface="IBM Plex Sans"/>
                      </a:endParaRPr>
                    </a:p>
                  </a:txBody>
                  <a:tcPr marL="53340" marR="53340" marT="53340" marB="53340">
                    <a:lnL w="12700" cmpd="sng">
                      <a:solidFill>
                        <a:srgbClr val="C4C3BF"/>
                      </a:solidFill>
                      <a:prstDash val="solid"/>
                    </a:lnL>
                    <a:lnR w="12700" cmpd="sng">
                      <a:solidFill>
                        <a:srgbClr val="B6B5B1"/>
                      </a:solidFill>
                      <a:prstDash val="solid"/>
                    </a:lnR>
                    <a:lnT w="12700" cmpd="sng">
                      <a:solidFill>
                        <a:srgbClr val="C4C3BF"/>
                      </a:solidFill>
                      <a:prstDash val="solid"/>
                    </a:lnT>
                    <a:lnB w="12700" cmpd="sng">
                      <a:solidFill>
                        <a:srgbClr val="B6B5B1"/>
                      </a:solidFill>
                      <a:prstDash val="solid"/>
                    </a:lnB>
                    <a:solidFill>
                      <a:srgbClr val="E4E2DD"/>
                    </a:solidFill>
                  </a:tcPr>
                </a:tc>
                <a:tc>
                  <a:txBody>
                    <a:bodyPr/>
                    <a:lstStyle/>
                    <a:p>
                      <a:pPr marL="0" indent="0">
                        <a:lnSpc>
                          <a:spcPts val="1680"/>
                        </a:lnSpc>
                        <a:buNone/>
                      </a:pPr>
                      <a:r>
                        <a:rPr sz="1200" b="1">
                          <a:solidFill>
                            <a:srgbClr val="16202E"/>
                          </a:solidFill>
                          <a:latin typeface="IBM Plex Sans"/>
                          <a:ea typeface="IBM Plex Sans"/>
                          <a:cs typeface="IBM Plex Sans"/>
                        </a:rPr>
                        <a:t>Instead of</a:t>
                      </a:r>
                      <a:endParaRPr sz="1200">
                        <a:latin typeface="IBM Plex Sans"/>
                        <a:ea typeface="IBM Plex Sans"/>
                        <a:cs typeface="IBM Plex Sans"/>
                      </a:endParaRPr>
                    </a:p>
                  </a:txBody>
                  <a:tcPr marL="53340" marR="53340" marT="53340" marB="53340">
                    <a:lnL w="12700" cmpd="sng">
                      <a:solidFill>
                        <a:srgbClr val="B6B5B1"/>
                      </a:solidFill>
                      <a:prstDash val="solid"/>
                    </a:lnL>
                    <a:lnR w="12700" cmpd="sng">
                      <a:solidFill>
                        <a:srgbClr val="B6B5B1"/>
                      </a:solidFill>
                      <a:prstDash val="solid"/>
                    </a:lnR>
                    <a:lnT w="12700" cmpd="sng">
                      <a:solidFill>
                        <a:srgbClr val="C4C3BF"/>
                      </a:solidFill>
                      <a:prstDash val="solid"/>
                    </a:lnT>
                    <a:lnB w="12700" cmpd="sng">
                      <a:solidFill>
                        <a:srgbClr val="B6B5B1"/>
                      </a:solidFill>
                      <a:prstDash val="solid"/>
                    </a:lnB>
                    <a:solidFill>
                      <a:srgbClr val="E4E2DD"/>
                    </a:solidFill>
                  </a:tcPr>
                </a:tc>
                <a:tc>
                  <a:txBody>
                    <a:bodyPr/>
                    <a:lstStyle/>
                    <a:p>
                      <a:pPr marL="0" indent="0">
                        <a:lnSpc>
                          <a:spcPts val="1680"/>
                        </a:lnSpc>
                        <a:buNone/>
                      </a:pPr>
                      <a:r>
                        <a:rPr sz="1200" b="1">
                          <a:solidFill>
                            <a:srgbClr val="16202E"/>
                          </a:solidFill>
                          <a:latin typeface="IBM Plex Sans"/>
                          <a:ea typeface="IBM Plex Sans"/>
                          <a:cs typeface="IBM Plex Sans"/>
                        </a:rPr>
                        <a:t>Why</a:t>
                      </a:r>
                      <a:endParaRPr sz="1200">
                        <a:latin typeface="IBM Plex Sans"/>
                        <a:ea typeface="IBM Plex Sans"/>
                        <a:cs typeface="IBM Plex Sans"/>
                      </a:endParaRPr>
                    </a:p>
                  </a:txBody>
                  <a:tcPr marL="53340" marR="53340" marT="53340" marB="53340">
                    <a:lnL w="12700" cmpd="sng">
                      <a:solidFill>
                        <a:srgbClr val="B6B5B1"/>
                      </a:solidFill>
                      <a:prstDash val="solid"/>
                    </a:lnL>
                    <a:lnR w="12700" cmpd="sng">
                      <a:solidFill>
                        <a:srgbClr val="B6B5B1"/>
                      </a:solidFill>
                      <a:prstDash val="solid"/>
                    </a:lnR>
                    <a:lnT w="12700" cmpd="sng">
                      <a:solidFill>
                        <a:srgbClr val="C4C3BF"/>
                      </a:solidFill>
                      <a:prstDash val="solid"/>
                    </a:lnT>
                    <a:lnB w="12700" cmpd="sng">
                      <a:solidFill>
                        <a:srgbClr val="B6B5B1"/>
                      </a:solidFill>
                      <a:prstDash val="solid"/>
                    </a:lnB>
                    <a:solidFill>
                      <a:srgbClr val="E4E2DD"/>
                    </a:solidFill>
                  </a:tcPr>
                </a:tc>
              </a:tr>
              <a:tr h="545968">
                <a:tc>
                  <a:txBody>
                    <a:bodyPr/>
                    <a:lstStyle/>
                    <a:p>
                      <a:pPr marL="0" indent="0">
                        <a:lnSpc>
                          <a:spcPts val="1680"/>
                        </a:lnSpc>
                        <a:buNone/>
                      </a:pPr>
                      <a:r>
                        <a:rPr sz="1200">
                          <a:solidFill>
                            <a:srgbClr val="16202E"/>
                          </a:solidFill>
                          <a:latin typeface="IBM Plex Sans"/>
                          <a:ea typeface="IBM Plex Sans"/>
                          <a:cs typeface="IBM Plex Sans"/>
                        </a:rPr>
                        <a:t>Model: Claude Haiku 5.5</a:t>
                      </a:r>
                      <a:endParaRPr sz="1200">
                        <a:latin typeface="IBM Plex Sans"/>
                        <a:ea typeface="IBM Plex Sans"/>
                        <a:cs typeface="IBM Plex Sans"/>
                      </a:endParaRPr>
                    </a:p>
                  </a:txBody>
                  <a:tcPr marL="53340" marR="53340" marT="53340" marB="53340">
                    <a:lnL w="12700" cmpd="sng">
                      <a:solidFill>
                        <a:srgbClr val="C4C3BF"/>
                      </a:solidFill>
                      <a:prstDash val="solid"/>
                    </a:lnL>
                    <a:lnR w="12700" cmpd="sng">
                      <a:solidFill>
                        <a:srgbClr val="C4C3BF"/>
                      </a:solidFill>
                      <a:prstDash val="solid"/>
                    </a:lnR>
                    <a:lnT w="12700" cmpd="sng">
                      <a:solidFill>
                        <a:srgbClr val="B6B5B1"/>
                      </a:solidFill>
                      <a:prstDash val="solid"/>
                    </a:lnT>
                    <a:lnB w="12700" cmpd="sng">
                      <a:solidFill>
                        <a:srgbClr val="C4C3BF"/>
                      </a:solidFill>
                      <a:prstDash val="solid"/>
                    </a:lnB>
                  </a:tcPr>
                </a:tc>
                <a:tc>
                  <a:txBody>
                    <a:bodyPr/>
                    <a:lstStyle/>
                    <a:p>
                      <a:pPr marL="0" indent="0">
                        <a:lnSpc>
                          <a:spcPts val="1680"/>
                        </a:lnSpc>
                        <a:buNone/>
                      </a:pPr>
                      <a:r>
                        <a:rPr sz="1200">
                          <a:solidFill>
                            <a:srgbClr val="16202E"/>
                          </a:solidFill>
                          <a:latin typeface="IBM Plex Sans"/>
                          <a:ea typeface="IBM Plex Sans"/>
                          <a:cs typeface="IBM Plex Sans"/>
                        </a:rPr>
                        <a:t>Sonnet 5.5; regex only</a:t>
                      </a:r>
                      <a:endParaRPr sz="1200">
                        <a:latin typeface="IBM Plex Sans"/>
                        <a:ea typeface="IBM Plex Sans"/>
                        <a:cs typeface="IBM Plex Sans"/>
                      </a:endParaRPr>
                    </a:p>
                  </a:txBody>
                  <a:tcPr marL="53340" marR="53340" marT="53340" marB="53340">
                    <a:lnL w="12700" cmpd="sng">
                      <a:solidFill>
                        <a:srgbClr val="C4C3BF"/>
                      </a:solidFill>
                      <a:prstDash val="solid"/>
                    </a:lnL>
                    <a:lnR w="12700" cmpd="sng">
                      <a:solidFill>
                        <a:srgbClr val="C4C3BF"/>
                      </a:solidFill>
                      <a:prstDash val="solid"/>
                    </a:lnR>
                    <a:lnT w="12700" cmpd="sng">
                      <a:solidFill>
                        <a:srgbClr val="B6B5B1"/>
                      </a:solidFill>
                      <a:prstDash val="solid"/>
                    </a:lnT>
                    <a:lnB w="12700" cmpd="sng">
                      <a:solidFill>
                        <a:srgbClr val="C4C3BF"/>
                      </a:solidFill>
                      <a:prstDash val="solid"/>
                    </a:lnB>
                  </a:tcPr>
                </a:tc>
                <a:tc>
                  <a:txBody>
                    <a:bodyPr/>
                    <a:lstStyle/>
                    <a:p>
                      <a:pPr marL="0" indent="0">
                        <a:lnSpc>
                          <a:spcPts val="1680"/>
                        </a:lnSpc>
                        <a:buNone/>
                      </a:pPr>
                      <a:r>
                        <a:rPr sz="1200">
                          <a:solidFill>
                            <a:srgbClr val="16202E"/>
                          </a:solidFill>
                          <a:latin typeface="IBM Plex Sans"/>
                          <a:ea typeface="IBM Plex Sans"/>
                          <a:cs typeface="IBM Plex Sans"/>
                        </a:rPr>
                        <a:t>Extraction is a small job: 30/30 on the dev set after one prompt fix, about 5 s per new message. Regex stays as our no-LLM baseline.</a:t>
                      </a:r>
                      <a:endParaRPr sz="1200">
                        <a:latin typeface="IBM Plex Sans"/>
                        <a:ea typeface="IBM Plex Sans"/>
                        <a:cs typeface="IBM Plex Sans"/>
                      </a:endParaRPr>
                    </a:p>
                  </a:txBody>
                  <a:tcPr marL="53340" marR="53340" marT="53340" marB="53340">
                    <a:lnL w="12700" cmpd="sng">
                      <a:solidFill>
                        <a:srgbClr val="C4C3BF"/>
                      </a:solidFill>
                      <a:prstDash val="solid"/>
                    </a:lnL>
                    <a:lnR w="12700" cmpd="sng">
                      <a:solidFill>
                        <a:srgbClr val="C4C3BF"/>
                      </a:solidFill>
                      <a:prstDash val="solid"/>
                    </a:lnR>
                    <a:lnT w="12700" cmpd="sng">
                      <a:solidFill>
                        <a:srgbClr val="B6B5B1"/>
                      </a:solidFill>
                      <a:prstDash val="solid"/>
                    </a:lnT>
                    <a:lnB w="12700" cmpd="sng">
                      <a:solidFill>
                        <a:srgbClr val="C4C3BF"/>
                      </a:solidFill>
                      <a:prstDash val="solid"/>
                    </a:lnB>
                  </a:tcPr>
                </a:tc>
              </a:tr>
              <a:tr h="545968">
                <a:tc>
                  <a:txBody>
                    <a:bodyPr/>
                    <a:lstStyle/>
                    <a:p>
                      <a:pPr marL="0" indent="0">
                        <a:lnSpc>
                          <a:spcPts val="1680"/>
                        </a:lnSpc>
                        <a:buNone/>
                      </a:pPr>
                      <a:r>
                        <a:rPr sz="1200">
                          <a:solidFill>
                            <a:srgbClr val="16202E"/>
                          </a:solidFill>
                          <a:latin typeface="IBM Plex Sans"/>
                          <a:ea typeface="IBM Plex Sans"/>
                          <a:cs typeface="IBM Plex Sans"/>
                        </a:rPr>
                        <a:t>LLM role: extract only; rules decide</a:t>
                      </a:r>
                      <a:endParaRPr sz="1200">
                        <a:latin typeface="IBM Plex Sans"/>
                        <a:ea typeface="IBM Plex Sans"/>
                        <a:cs typeface="IBM Plex Sans"/>
                      </a:endParaRPr>
                    </a:p>
                  </a:txBody>
                  <a:tcPr marL="53340" marR="53340" marT="53340" marB="53340">
                    <a:lnL w="12700" cmpd="sng">
                      <a:solidFill>
                        <a:srgbClr val="C4C3BF"/>
                      </a:solidFill>
                      <a:prstDash val="solid"/>
                    </a:lnL>
                    <a:lnR w="12700" cmpd="sng">
                      <a:solidFill>
                        <a:srgbClr val="C4C3BF"/>
                      </a:solidFill>
                      <a:prstDash val="solid"/>
                    </a:lnR>
                    <a:lnT w="12700" cmpd="sng">
                      <a:solidFill>
                        <a:srgbClr val="C4C3BF"/>
                      </a:solidFill>
                      <a:prstDash val="solid"/>
                    </a:lnT>
                    <a:lnB w="12700" cmpd="sng">
                      <a:solidFill>
                        <a:srgbClr val="C4C3BF"/>
                      </a:solidFill>
                      <a:prstDash val="solid"/>
                    </a:lnB>
                  </a:tcPr>
                </a:tc>
                <a:tc>
                  <a:txBody>
                    <a:bodyPr/>
                    <a:lstStyle/>
                    <a:p>
                      <a:pPr marL="0" indent="0">
                        <a:lnSpc>
                          <a:spcPts val="1680"/>
                        </a:lnSpc>
                        <a:buNone/>
                      </a:pPr>
                      <a:r>
                        <a:rPr sz="1200">
                          <a:solidFill>
                            <a:srgbClr val="16202E"/>
                          </a:solidFill>
                          <a:latin typeface="IBM Plex Sans"/>
                          <a:ea typeface="IBM Plex Sans"/>
                          <a:cs typeface="IBM Plex Sans"/>
                        </a:rPr>
                        <a:t>An LLM agent that picks tools itself</a:t>
                      </a:r>
                      <a:endParaRPr sz="1200">
                        <a:latin typeface="IBM Plex Sans"/>
                        <a:ea typeface="IBM Plex Sans"/>
                        <a:cs typeface="IBM Plex Sans"/>
                      </a:endParaRPr>
                    </a:p>
                  </a:txBody>
                  <a:tcPr marL="53340" marR="53340" marT="53340" marB="53340">
                    <a:lnL w="12700" cmpd="sng">
                      <a:solidFill>
                        <a:srgbClr val="C4C3BF"/>
                      </a:solidFill>
                      <a:prstDash val="solid"/>
                    </a:lnL>
                    <a:lnR w="12700" cmpd="sng">
                      <a:solidFill>
                        <a:srgbClr val="C4C3BF"/>
                      </a:solidFill>
                      <a:prstDash val="solid"/>
                    </a:lnR>
                    <a:lnT w="12700" cmpd="sng">
                      <a:solidFill>
                        <a:srgbClr val="C4C3BF"/>
                      </a:solidFill>
                      <a:prstDash val="solid"/>
                    </a:lnT>
                    <a:lnB w="12700" cmpd="sng">
                      <a:solidFill>
                        <a:srgbClr val="C4C3BF"/>
                      </a:solidFill>
                      <a:prstDash val="solid"/>
                    </a:lnB>
                  </a:tcPr>
                </a:tc>
                <a:tc>
                  <a:txBody>
                    <a:bodyPr/>
                    <a:lstStyle/>
                    <a:p>
                      <a:pPr marL="0" indent="0">
                        <a:lnSpc>
                          <a:spcPts val="1680"/>
                        </a:lnSpc>
                        <a:buNone/>
                      </a:pPr>
                      <a:r>
                        <a:rPr sz="1200">
                          <a:solidFill>
                            <a:srgbClr val="16202E"/>
                          </a:solidFill>
                          <a:latin typeface="IBM Plex Sans"/>
                          <a:ea typeface="IBM Plex Sans"/>
                          <a:cs typeface="IBM Plex Sans"/>
                        </a:rPr>
                        <a:t>No arithmetic in the model. The same message always gets the same decision, and every number traces to a tool.</a:t>
                      </a:r>
                      <a:endParaRPr sz="1200">
                        <a:latin typeface="IBM Plex Sans"/>
                        <a:ea typeface="IBM Plex Sans"/>
                        <a:cs typeface="IBM Plex Sans"/>
                      </a:endParaRPr>
                    </a:p>
                  </a:txBody>
                  <a:tcPr marL="53340" marR="53340" marT="53340" marB="53340">
                    <a:lnL w="12700" cmpd="sng">
                      <a:solidFill>
                        <a:srgbClr val="C4C3BF"/>
                      </a:solidFill>
                      <a:prstDash val="solid"/>
                    </a:lnL>
                    <a:lnR w="12700" cmpd="sng">
                      <a:solidFill>
                        <a:srgbClr val="C4C3BF"/>
                      </a:solidFill>
                      <a:prstDash val="solid"/>
                    </a:lnR>
                    <a:lnT w="12700" cmpd="sng">
                      <a:solidFill>
                        <a:srgbClr val="C4C3BF"/>
                      </a:solidFill>
                      <a:prstDash val="solid"/>
                    </a:lnT>
                    <a:lnB w="12700" cmpd="sng">
                      <a:solidFill>
                        <a:srgbClr val="C4C3BF"/>
                      </a:solidFill>
                      <a:prstDash val="solid"/>
                    </a:lnB>
                  </a:tcPr>
                </a:tc>
              </a:tr>
              <a:tr h="545968">
                <a:tc>
                  <a:txBody>
                    <a:bodyPr/>
                    <a:lstStyle/>
                    <a:p>
                      <a:pPr marL="0" indent="0">
                        <a:lnSpc>
                          <a:spcPts val="1680"/>
                        </a:lnSpc>
                        <a:buNone/>
                      </a:pPr>
                      <a:r>
                        <a:rPr sz="1200">
                          <a:solidFill>
                            <a:srgbClr val="16202E"/>
                          </a:solidFill>
                          <a:latin typeface="IBM Plex Sans"/>
                          <a:ea typeface="IBM Plex Sans"/>
                          <a:cs typeface="IBM Plex Sans"/>
                        </a:rPr>
                        <a:t>Data: direct lookups in 3 small CSVs</a:t>
                      </a:r>
                      <a:endParaRPr sz="1200">
                        <a:latin typeface="IBM Plex Sans"/>
                        <a:ea typeface="IBM Plex Sans"/>
                        <a:cs typeface="IBM Plex Sans"/>
                      </a:endParaRPr>
                    </a:p>
                  </a:txBody>
                  <a:tcPr marL="53340" marR="53340" marT="53340" marB="53340">
                    <a:lnL w="12700" cmpd="sng">
                      <a:solidFill>
                        <a:srgbClr val="C4C3BF"/>
                      </a:solidFill>
                      <a:prstDash val="solid"/>
                    </a:lnL>
                    <a:lnR w="12700" cmpd="sng">
                      <a:solidFill>
                        <a:srgbClr val="C4C3BF"/>
                      </a:solidFill>
                      <a:prstDash val="solid"/>
                    </a:lnR>
                    <a:lnT w="12700" cmpd="sng">
                      <a:solidFill>
                        <a:srgbClr val="C4C3BF"/>
                      </a:solidFill>
                      <a:prstDash val="solid"/>
                    </a:lnT>
                    <a:lnB w="12700" cmpd="sng">
                      <a:solidFill>
                        <a:srgbClr val="C4C3BF"/>
                      </a:solidFill>
                      <a:prstDash val="solid"/>
                    </a:lnB>
                  </a:tcPr>
                </a:tc>
                <a:tc>
                  <a:txBody>
                    <a:bodyPr/>
                    <a:lstStyle/>
                    <a:p>
                      <a:pPr marL="0" indent="0">
                        <a:lnSpc>
                          <a:spcPts val="1680"/>
                        </a:lnSpc>
                        <a:buNone/>
                      </a:pPr>
                      <a:r>
                        <a:rPr sz="1200">
                          <a:solidFill>
                            <a:srgbClr val="16202E"/>
                          </a:solidFill>
                          <a:latin typeface="IBM Plex Sans"/>
                          <a:ea typeface="IBM Plex Sans"/>
                          <a:cs typeface="IBM Plex Sans"/>
                        </a:rPr>
                        <a:t>SQL database or vector index</a:t>
                      </a:r>
                      <a:endParaRPr sz="1200">
                        <a:latin typeface="IBM Plex Sans"/>
                        <a:ea typeface="IBM Plex Sans"/>
                        <a:cs typeface="IBM Plex Sans"/>
                      </a:endParaRPr>
                    </a:p>
                  </a:txBody>
                  <a:tcPr marL="53340" marR="53340" marT="53340" marB="53340">
                    <a:lnL w="12700" cmpd="sng">
                      <a:solidFill>
                        <a:srgbClr val="C4C3BF"/>
                      </a:solidFill>
                      <a:prstDash val="solid"/>
                    </a:lnL>
                    <a:lnR w="12700" cmpd="sng">
                      <a:solidFill>
                        <a:srgbClr val="C4C3BF"/>
                      </a:solidFill>
                      <a:prstDash val="solid"/>
                    </a:lnR>
                    <a:lnT w="12700" cmpd="sng">
                      <a:solidFill>
                        <a:srgbClr val="C4C3BF"/>
                      </a:solidFill>
                      <a:prstDash val="solid"/>
                    </a:lnT>
                    <a:lnB w="12700" cmpd="sng">
                      <a:solidFill>
                        <a:srgbClr val="C4C3BF"/>
                      </a:solidFill>
                      <a:prstDash val="solid"/>
                    </a:lnB>
                  </a:tcPr>
                </a:tc>
                <a:tc>
                  <a:txBody>
                    <a:bodyPr/>
                    <a:lstStyle/>
                    <a:p>
                      <a:pPr marL="0" indent="0">
                        <a:lnSpc>
                          <a:spcPts val="1680"/>
                        </a:lnSpc>
                        <a:buNone/>
                      </a:pPr>
                      <a:r>
                        <a:rPr sz="1200">
                          <a:solidFill>
                            <a:srgbClr val="16202E"/>
                          </a:solidFill>
                          <a:latin typeface="IBM Plex Sans"/>
                          <a:ea typeface="IBM Plex Sans"/>
                          <a:cs typeface="IBM Plex Sans"/>
                        </a:rPr>
                        <a:t>120 orders and 8 workshops: an exact lookup is faster and cannot retrieve the wrong row.</a:t>
                      </a:r>
                      <a:endParaRPr sz="1200">
                        <a:latin typeface="IBM Plex Sans"/>
                        <a:ea typeface="IBM Plex Sans"/>
                        <a:cs typeface="IBM Plex Sans"/>
                      </a:endParaRPr>
                    </a:p>
                  </a:txBody>
                  <a:tcPr marL="53340" marR="53340" marT="53340" marB="53340">
                    <a:lnL w="12700" cmpd="sng">
                      <a:solidFill>
                        <a:srgbClr val="C4C3BF"/>
                      </a:solidFill>
                      <a:prstDash val="solid"/>
                    </a:lnL>
                    <a:lnR w="12700" cmpd="sng">
                      <a:solidFill>
                        <a:srgbClr val="C4C3BF"/>
                      </a:solidFill>
                      <a:prstDash val="solid"/>
                    </a:lnR>
                    <a:lnT w="12700" cmpd="sng">
                      <a:solidFill>
                        <a:srgbClr val="C4C3BF"/>
                      </a:solidFill>
                      <a:prstDash val="solid"/>
                    </a:lnT>
                    <a:lnB w="12700" cmpd="sng">
                      <a:solidFill>
                        <a:srgbClr val="C4C3BF"/>
                      </a:solidFill>
                      <a:prstDash val="solid"/>
                    </a:lnB>
                  </a:tcPr>
                </a:tc>
              </a:tr>
              <a:tr h="545968">
                <a:tc>
                  <a:txBody>
                    <a:bodyPr/>
                    <a:lstStyle/>
                    <a:p>
                      <a:pPr marL="0" indent="0">
                        <a:lnSpc>
                          <a:spcPts val="1680"/>
                        </a:lnSpc>
                        <a:buNone/>
                      </a:pPr>
                      <a:r>
                        <a:rPr sz="1200">
                          <a:solidFill>
                            <a:srgbClr val="16202E"/>
                          </a:solidFill>
                          <a:latin typeface="IBM Plex Sans"/>
                          <a:ea typeface="IBM Plex Sans"/>
                          <a:cs typeface="IBM Plex Sans"/>
                        </a:rPr>
                        <a:t>Records: JSONL audit log and a committed answer cache</a:t>
                      </a:r>
                      <a:endParaRPr sz="1200">
                        <a:latin typeface="IBM Plex Sans"/>
                        <a:ea typeface="IBM Plex Sans"/>
                        <a:cs typeface="IBM Plex Sans"/>
                      </a:endParaRPr>
                    </a:p>
                  </a:txBody>
                  <a:tcPr marL="53340" marR="53340" marT="53340" marB="53340">
                    <a:lnL w="12700" cmpd="sng">
                      <a:solidFill>
                        <a:srgbClr val="C4C3BF"/>
                      </a:solidFill>
                      <a:prstDash val="solid"/>
                    </a:lnL>
                    <a:lnR w="12700" cmpd="sng">
                      <a:solidFill>
                        <a:srgbClr val="C4C3BF"/>
                      </a:solidFill>
                      <a:prstDash val="solid"/>
                    </a:lnR>
                    <a:lnT w="12700" cmpd="sng">
                      <a:solidFill>
                        <a:srgbClr val="C4C3BF"/>
                      </a:solidFill>
                      <a:prstDash val="solid"/>
                    </a:lnT>
                    <a:lnB w="12700" cmpd="sng">
                      <a:solidFill>
                        <a:srgbClr val="C4C3BF"/>
                      </a:solidFill>
                      <a:prstDash val="solid"/>
                    </a:lnB>
                  </a:tcPr>
                </a:tc>
                <a:tc>
                  <a:txBody>
                    <a:bodyPr/>
                    <a:lstStyle/>
                    <a:p>
                      <a:pPr marL="0" indent="0">
                        <a:lnSpc>
                          <a:spcPts val="1680"/>
                        </a:lnSpc>
                        <a:buNone/>
                      </a:pPr>
                      <a:r>
                        <a:rPr sz="1200">
                          <a:solidFill>
                            <a:srgbClr val="16202E"/>
                          </a:solidFill>
                          <a:latin typeface="IBM Plex Sans"/>
                          <a:ea typeface="IBM Plex Sans"/>
                          <a:cs typeface="IBM Plex Sans"/>
                        </a:rPr>
                        <a:t>A database</a:t>
                      </a:r>
                      <a:endParaRPr sz="1200">
                        <a:latin typeface="IBM Plex Sans"/>
                        <a:ea typeface="IBM Plex Sans"/>
                        <a:cs typeface="IBM Plex Sans"/>
                      </a:endParaRPr>
                    </a:p>
                  </a:txBody>
                  <a:tcPr marL="53340" marR="53340" marT="53340" marB="53340">
                    <a:lnL w="12700" cmpd="sng">
                      <a:solidFill>
                        <a:srgbClr val="C4C3BF"/>
                      </a:solidFill>
                      <a:prstDash val="solid"/>
                    </a:lnL>
                    <a:lnR w="12700" cmpd="sng">
                      <a:solidFill>
                        <a:srgbClr val="C4C3BF"/>
                      </a:solidFill>
                      <a:prstDash val="solid"/>
                    </a:lnR>
                    <a:lnT w="12700" cmpd="sng">
                      <a:solidFill>
                        <a:srgbClr val="C4C3BF"/>
                      </a:solidFill>
                      <a:prstDash val="solid"/>
                    </a:lnT>
                    <a:lnB w="12700" cmpd="sng">
                      <a:solidFill>
                        <a:srgbClr val="C4C3BF"/>
                      </a:solidFill>
                      <a:prstDash val="solid"/>
                    </a:lnB>
                  </a:tcPr>
                </a:tc>
                <a:tc>
                  <a:txBody>
                    <a:bodyPr/>
                    <a:lstStyle/>
                    <a:p>
                      <a:pPr marL="0" indent="0">
                        <a:lnSpc>
                          <a:spcPts val="1680"/>
                        </a:lnSpc>
                        <a:buNone/>
                      </a:pPr>
                      <a:r>
                        <a:rPr sz="1200">
                          <a:solidFill>
                            <a:srgbClr val="16202E"/>
                          </a:solidFill>
                          <a:latin typeface="IBM Plex Sans"/>
                          <a:ea typeface="IBM Plex Sans"/>
                          <a:cs typeface="IBM Plex Sans"/>
                        </a:rPr>
                        <a:t>Append-only and readable. Haiku 5.5 takes no temperature setting, so the cache is what makes runs repeat exactly.</a:t>
                      </a:r>
                      <a:endParaRPr sz="1200">
                        <a:latin typeface="IBM Plex Sans"/>
                        <a:ea typeface="IBM Plex Sans"/>
                        <a:cs typeface="IBM Plex Sans"/>
                      </a:endParaRPr>
                    </a:p>
                  </a:txBody>
                  <a:tcPr marL="53340" marR="53340" marT="53340" marB="53340">
                    <a:lnL w="12700" cmpd="sng">
                      <a:solidFill>
                        <a:srgbClr val="C4C3BF"/>
                      </a:solidFill>
                      <a:prstDash val="solid"/>
                    </a:lnL>
                    <a:lnR w="12700" cmpd="sng">
                      <a:solidFill>
                        <a:srgbClr val="C4C3BF"/>
                      </a:solidFill>
                      <a:prstDash val="solid"/>
                    </a:lnR>
                    <a:lnT w="12700" cmpd="sng">
                      <a:solidFill>
                        <a:srgbClr val="C4C3BF"/>
                      </a:solidFill>
                      <a:prstDash val="solid"/>
                    </a:lnT>
                    <a:lnB w="12700" cmpd="sng">
                      <a:solidFill>
                        <a:srgbClr val="C4C3BF"/>
                      </a:solidFill>
                      <a:prstDash val="solid"/>
                    </a:lnB>
                  </a:tcPr>
                </a:tc>
              </a:tr>
              <a:tr h="545968">
                <a:tc>
                  <a:txBody>
                    <a:bodyPr/>
                    <a:lstStyle/>
                    <a:p>
                      <a:pPr marL="0" indent="0">
                        <a:lnSpc>
                          <a:spcPts val="1680"/>
                        </a:lnSpc>
                        <a:buNone/>
                      </a:pPr>
                      <a:r>
                        <a:rPr sz="1200">
                          <a:solidFill>
                            <a:srgbClr val="16202E"/>
                          </a:solidFill>
                          <a:latin typeface="IBM Plex Sans"/>
                          <a:ea typeface="IBM Plex Sans"/>
                          <a:cs typeface="IBM Plex Sans"/>
                        </a:rPr>
                        <a:t>UI and hosting: own page on Python’s server, Render</a:t>
                      </a:r>
                      <a:endParaRPr sz="1200">
                        <a:latin typeface="IBM Plex Sans"/>
                        <a:ea typeface="IBM Plex Sans"/>
                        <a:cs typeface="IBM Plex Sans"/>
                      </a:endParaRPr>
                    </a:p>
                  </a:txBody>
                  <a:tcPr marL="53340" marR="53340" marT="53340" marB="53340">
                    <a:lnL w="12700" cmpd="sng">
                      <a:solidFill>
                        <a:srgbClr val="C4C3BF"/>
                      </a:solidFill>
                      <a:prstDash val="solid"/>
                    </a:lnL>
                    <a:lnR w="12700" cmpd="sng">
                      <a:solidFill>
                        <a:srgbClr val="C4C3BF"/>
                      </a:solidFill>
                      <a:prstDash val="solid"/>
                    </a:lnR>
                    <a:lnT w="12700" cmpd="sng">
                      <a:solidFill>
                        <a:srgbClr val="C4C3BF"/>
                      </a:solidFill>
                      <a:prstDash val="solid"/>
                    </a:lnT>
                    <a:lnB w="12700" cmpd="sng">
                      <a:solidFill>
                        <a:srgbClr val="C4C3BF"/>
                      </a:solidFill>
                      <a:prstDash val="solid"/>
                    </a:lnB>
                  </a:tcPr>
                </a:tc>
                <a:tc>
                  <a:txBody>
                    <a:bodyPr/>
                    <a:lstStyle/>
                    <a:p>
                      <a:pPr marL="0" indent="0">
                        <a:lnSpc>
                          <a:spcPts val="1680"/>
                        </a:lnSpc>
                        <a:buNone/>
                      </a:pPr>
                      <a:r>
                        <a:rPr sz="1200">
                          <a:solidFill>
                            <a:srgbClr val="16202E"/>
                          </a:solidFill>
                          <a:latin typeface="IBM Plex Sans"/>
                          <a:ea typeface="IBM Plex Sans"/>
                          <a:cs typeface="IBM Plex Sans"/>
                        </a:rPr>
                        <a:t>Streamlit; Hugging Face Spaces</a:t>
                      </a:r>
                      <a:endParaRPr sz="1200">
                        <a:latin typeface="IBM Plex Sans"/>
                        <a:ea typeface="IBM Plex Sans"/>
                        <a:cs typeface="IBM Plex Sans"/>
                      </a:endParaRPr>
                    </a:p>
                  </a:txBody>
                  <a:tcPr marL="53340" marR="53340" marT="53340" marB="53340">
                    <a:lnL w="12700" cmpd="sng">
                      <a:solidFill>
                        <a:srgbClr val="C4C3BF"/>
                      </a:solidFill>
                      <a:prstDash val="solid"/>
                    </a:lnL>
                    <a:lnR w="12700" cmpd="sng">
                      <a:solidFill>
                        <a:srgbClr val="C4C3BF"/>
                      </a:solidFill>
                      <a:prstDash val="solid"/>
                    </a:lnR>
                    <a:lnT w="12700" cmpd="sng">
                      <a:solidFill>
                        <a:srgbClr val="C4C3BF"/>
                      </a:solidFill>
                      <a:prstDash val="solid"/>
                    </a:lnT>
                    <a:lnB w="12700" cmpd="sng">
                      <a:solidFill>
                        <a:srgbClr val="C4C3BF"/>
                      </a:solidFill>
                      <a:prstDash val="solid"/>
                    </a:lnB>
                  </a:tcPr>
                </a:tc>
                <a:tc>
                  <a:txBody>
                    <a:bodyPr/>
                    <a:lstStyle/>
                    <a:p>
                      <a:pPr marL="0" indent="0">
                        <a:lnSpc>
                          <a:spcPts val="1680"/>
                        </a:lnSpc>
                        <a:buNone/>
                      </a:pPr>
                      <a:r>
                        <a:rPr sz="1200">
                          <a:solidFill>
                            <a:srgbClr val="16202E"/>
                          </a:solidFill>
                          <a:latin typeface="IBM Plex Sans"/>
                          <a:ea typeface="IBM Plex Sans"/>
                          <a:cs typeface="IBM Plex Sans"/>
                        </a:rPr>
                        <a:t>Full control of the layout and one dependency. Hugging Face Docker Spaces now need a paid plan.</a:t>
                      </a:r>
                      <a:endParaRPr sz="1200">
                        <a:latin typeface="IBM Plex Sans"/>
                        <a:ea typeface="IBM Plex Sans"/>
                        <a:cs typeface="IBM Plex Sans"/>
                      </a:endParaRPr>
                    </a:p>
                  </a:txBody>
                  <a:tcPr marL="53340" marR="53340" marT="53340" marB="53340">
                    <a:lnL w="12700" cmpd="sng">
                      <a:solidFill>
                        <a:srgbClr val="C4C3BF"/>
                      </a:solidFill>
                      <a:prstDash val="solid"/>
                    </a:lnL>
                    <a:lnR w="12700" cmpd="sng">
                      <a:solidFill>
                        <a:srgbClr val="C4C3BF"/>
                      </a:solidFill>
                      <a:prstDash val="solid"/>
                    </a:lnR>
                    <a:lnT w="12700" cmpd="sng">
                      <a:solidFill>
                        <a:srgbClr val="C4C3BF"/>
                      </a:solidFill>
                      <a:prstDash val="solid"/>
                    </a:lnT>
                    <a:lnB w="12700" cmpd="sng">
                      <a:solidFill>
                        <a:srgbClr val="C4C3BF"/>
                      </a:solidFill>
                      <a:prstDash val="solid"/>
                    </a:lnB>
                  </a:tcPr>
                </a:tc>
              </a:tr>
            </a:tbl>
          </a:graphicData>
        </a:graphic>
      </p:graphicFrame>
    </p:spTree>
    <p:extLst>
      <p:ext uri="{BB962C8B-B14F-4D97-AF65-F5344CB8AC3E}">
        <p14:creationId xmlns:p14="http://schemas.microsoft.com/office/powerpoint/2010/main" val="1111647664"/>
      </p:ext>
    </p:extLst>
  </p:cSld>
</p:sld>
</file>

<file path=ppt/slides/slide6.xml><?xml version="1.0" encoding="utf-8"?>
<p:sld xmlns:p="http://schemas.openxmlformats.org/presentationml/2006/main">
  <p:cSld>
    <p:bg>
      <p:bgPr>
        <a:solidFill xmlns:a="http://schemas.openxmlformats.org/drawingml/2006/main">
          <a:srgbClr val="E9EE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DDBD525-CEA8-4F6A-8844-EE4183FA6369}"/>
              </a:ext>
            </a:extLst>
          </p:cNvPr>
          <p:cNvSpPr>
            <a:spLocks xmlns:a="http://schemas.openxmlformats.org/drawingml/2006/main" noGrp="1"/>
          </p:cNvSpPr>
          <p:nvPr/>
        </p:nvSpPr>
        <p:spPr>
          <a:xfrm xmlns:a="http://schemas.openxmlformats.org/drawingml/2006/main">
            <a:off x="812800" y="812800"/>
            <a:ext cx="1088339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spc="150">
                <a:solidFill>
                  <a:srgbClr val="A84A14"/>
                </a:solidFill>
                <a:latin typeface="IBM Plex Sans"/>
                <a:ea typeface="IBM Plex Sans"/>
                <a:cs typeface="IBM Plex Sans"/>
              </a:rPr>
              <a:t>PROGRESS SINCE THE SPRINT 1 ROADMAP</a:t>
            </a:r>
            <a:endParaRPr sz="1200"/>
          </a:p>
        </p:txBody>
      </p:sp>
      <p:sp>
        <p:nvSpPr>
          <p:cNvPr id="3" name="Text 1">
            <a:extLst xmlns:a="http://schemas.openxmlformats.org/drawingml/2006/main">
              <a:ext uri="{FF2B5EF4-FFF2-40B4-BE49-F238E27FC236}">
                <a16:creationId xmlns:a16="http://schemas.microsoft.com/office/drawing/2014/main" id="{891E2032-7BBA-44CF-87D2-87948DDF3D9F}"/>
              </a:ext>
            </a:extLst>
          </p:cNvPr>
          <p:cNvSpPr>
            <a:spLocks xmlns:a="http://schemas.openxmlformats.org/drawingml/2006/main" noGrp="1"/>
          </p:cNvSpPr>
          <p:nvPr>
            <p:ph type="title" idx="0"/>
          </p:nvPr>
        </p:nvSpPr>
        <p:spPr>
          <a:xfrm xmlns:a="http://schemas.openxmlformats.org/drawingml/2006/main">
            <a:off x="812800" y="1229320"/>
            <a:ext cx="10883392"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i="0">
                <a:solidFill>
                  <a:srgbClr val="16202E"/>
                </a:solidFill>
                <a:latin typeface="Space Grotesk"/>
                <a:ea typeface="Space Grotesk"/>
                <a:cs typeface="Space Grotesk"/>
              </a:rPr>
              <a:t>Every feature, its owner and its status</a:t>
            </a:r>
            <a:endParaRPr sz="2800"/>
          </a:p>
        </p:txBody>
      </p:sp>
      <p:graphicFrame>
        <p:nvGraphicFramePr>
          <p:cNvPr id="4" name="Table 0">
            <a:extLst xmlns:a="http://schemas.openxmlformats.org/drawingml/2006/main">
              <a:ext uri="{FF2B5EF4-FFF2-40B4-BE49-F238E27FC236}">
                <a16:creationId xmlns:a16="http://schemas.microsoft.com/office/drawing/2014/main" id="{3AB1DE3A-AE5D-40F7-98F4-057129F4265F}"/>
              </a:ext>
            </a:extLst>
          </p:cNvPr>
          <p:cNvGraphicFramePr/>
          <p:nvPr/>
        </p:nvGraphicFramePr>
        <p:xfrm>
          <a:off xmlns:a="http://schemas.openxmlformats.org/drawingml/2006/main" x="825500" y="1836341"/>
          <a:ext xmlns:a="http://schemas.openxmlformats.org/drawingml/2006/main" cx="5143500" cy="3326470"/>
        </p:xfrm>
        <a:graphic xmlns:a="http://schemas.openxmlformats.org/drawingml/2006/main">
          <a:graphicData uri="http://schemas.openxmlformats.org/drawingml/2006/table">
            <a:tbl>
              <a:tblPr/>
              <a:tblGrid>
                <a:gridCol w="3086100"/>
                <a:gridCol w="1131570"/>
                <a:gridCol w="925830"/>
              </a:tblGrid>
              <a:tr h="332647">
                <a:tc>
                  <a:txBody>
                    <a:bodyPr/>
                    <a:lstStyle/>
                    <a:p>
                      <a:pPr marL="0" indent="0">
                        <a:lnSpc>
                          <a:spcPts val="1680"/>
                        </a:lnSpc>
                        <a:buNone/>
                      </a:pPr>
                      <a:r>
                        <a:rPr sz="1200" b="1">
                          <a:solidFill>
                            <a:srgbClr val="16202E"/>
                          </a:solidFill>
                          <a:latin typeface="IBM Plex Sans"/>
                          <a:ea typeface="IBM Plex Sans"/>
                          <a:cs typeface="IBM Plex Sans"/>
                        </a:rPr>
                        <a:t>Feature</a:t>
                      </a:r>
                      <a:endParaRPr sz="1200">
                        <a:latin typeface="IBM Plex Sans"/>
                        <a:ea typeface="IBM Plex Sans"/>
                        <a:cs typeface="IBM Plex Sans"/>
                      </a:endParaRPr>
                    </a:p>
                  </a:txBody>
                  <a:tcPr marL="53340" marR="53340" marT="53340" marB="53340">
                    <a:lnL w="12700" cmpd="sng">
                      <a:solidFill>
                        <a:srgbClr val="BABEC1"/>
                      </a:solidFill>
                      <a:prstDash val="solid"/>
                    </a:lnL>
                    <a:lnR w="12700" cmpd="sng">
                      <a:solidFill>
                        <a:srgbClr val="ADB1B3"/>
                      </a:solidFill>
                      <a:prstDash val="solid"/>
                    </a:lnR>
                    <a:lnT w="12700" cmpd="sng">
                      <a:solidFill>
                        <a:srgbClr val="BABEC1"/>
                      </a:solidFill>
                      <a:prstDash val="solid"/>
                    </a:lnT>
                    <a:lnB w="12700" cmpd="sng">
                      <a:solidFill>
                        <a:srgbClr val="ADB1B3"/>
                      </a:solidFill>
                      <a:prstDash val="solid"/>
                    </a:lnB>
                    <a:solidFill>
                      <a:srgbClr val="D8DDE0"/>
                    </a:solidFill>
                  </a:tcPr>
                </a:tc>
                <a:tc>
                  <a:txBody>
                    <a:bodyPr/>
                    <a:lstStyle/>
                    <a:p>
                      <a:pPr marL="0" indent="0">
                        <a:lnSpc>
                          <a:spcPts val="1680"/>
                        </a:lnSpc>
                        <a:buNone/>
                      </a:pPr>
                      <a:r>
                        <a:rPr sz="1200" b="1">
                          <a:solidFill>
                            <a:srgbClr val="16202E"/>
                          </a:solidFill>
                          <a:latin typeface="IBM Plex Sans"/>
                          <a:ea typeface="IBM Plex Sans"/>
                          <a:cs typeface="IBM Plex Sans"/>
                        </a:rPr>
                        <a:t>Owner</a:t>
                      </a:r>
                      <a:endParaRPr sz="1200">
                        <a:latin typeface="IBM Plex Sans"/>
                        <a:ea typeface="IBM Plex Sans"/>
                        <a:cs typeface="IBM Plex Sans"/>
                      </a:endParaRPr>
                    </a:p>
                  </a:txBody>
                  <a:tcPr marL="53340" marR="53340" marT="53340" marB="53340">
                    <a:lnL w="12700" cmpd="sng">
                      <a:solidFill>
                        <a:srgbClr val="ADB1B3"/>
                      </a:solidFill>
                      <a:prstDash val="solid"/>
                    </a:lnL>
                    <a:lnR w="12700" cmpd="sng">
                      <a:solidFill>
                        <a:srgbClr val="ADB1B3"/>
                      </a:solidFill>
                      <a:prstDash val="solid"/>
                    </a:lnR>
                    <a:lnT w="12700" cmpd="sng">
                      <a:solidFill>
                        <a:srgbClr val="BABEC1"/>
                      </a:solidFill>
                      <a:prstDash val="solid"/>
                    </a:lnT>
                    <a:lnB w="12700" cmpd="sng">
                      <a:solidFill>
                        <a:srgbClr val="ADB1B3"/>
                      </a:solidFill>
                      <a:prstDash val="solid"/>
                    </a:lnB>
                    <a:solidFill>
                      <a:srgbClr val="D8DDE0"/>
                    </a:solidFill>
                  </a:tcPr>
                </a:tc>
                <a:tc>
                  <a:txBody>
                    <a:bodyPr/>
                    <a:lstStyle/>
                    <a:p>
                      <a:pPr marL="0" indent="0">
                        <a:lnSpc>
                          <a:spcPts val="1680"/>
                        </a:lnSpc>
                        <a:buNone/>
                      </a:pPr>
                      <a:r>
                        <a:rPr sz="1200" b="1">
                          <a:solidFill>
                            <a:srgbClr val="16202E"/>
                          </a:solidFill>
                          <a:latin typeface="IBM Plex Sans"/>
                          <a:ea typeface="IBM Plex Sans"/>
                          <a:cs typeface="IBM Plex Sans"/>
                        </a:rPr>
                        <a:t>Status</a:t>
                      </a:r>
                      <a:endParaRPr sz="1200">
                        <a:latin typeface="IBM Plex Sans"/>
                        <a:ea typeface="IBM Plex Sans"/>
                        <a:cs typeface="IBM Plex Sans"/>
                      </a:endParaRPr>
                    </a:p>
                  </a:txBody>
                  <a:tcPr marL="53340" marR="53340" marT="53340" marB="53340">
                    <a:lnL w="12700" cmpd="sng">
                      <a:solidFill>
                        <a:srgbClr val="ADB1B3"/>
                      </a:solidFill>
                      <a:prstDash val="solid"/>
                    </a:lnL>
                    <a:lnR w="12700" cmpd="sng">
                      <a:solidFill>
                        <a:srgbClr val="ADB1B3"/>
                      </a:solidFill>
                      <a:prstDash val="solid"/>
                    </a:lnR>
                    <a:lnT w="12700" cmpd="sng">
                      <a:solidFill>
                        <a:srgbClr val="BABEC1"/>
                      </a:solidFill>
                      <a:prstDash val="solid"/>
                    </a:lnT>
                    <a:lnB w="12700" cmpd="sng">
                      <a:solidFill>
                        <a:srgbClr val="ADB1B3"/>
                      </a:solidFill>
                      <a:prstDash val="solid"/>
                    </a:lnB>
                    <a:solidFill>
                      <a:srgbClr val="D8DDE0"/>
                    </a:solidFill>
                  </a:tcPr>
                </a:tc>
              </a:tr>
              <a:tr h="332647">
                <a:tc>
                  <a:txBody>
                    <a:bodyPr/>
                    <a:lstStyle/>
                    <a:p>
                      <a:pPr marL="0" indent="0">
                        <a:lnSpc>
                          <a:spcPts val="1680"/>
                        </a:lnSpc>
                        <a:buNone/>
                      </a:pPr>
                      <a:r>
                        <a:rPr sz="1200">
                          <a:solidFill>
                            <a:srgbClr val="16202E"/>
                          </a:solidFill>
                          <a:latin typeface="IBM Plex Sans"/>
                          <a:ea typeface="IBM Plex Sans"/>
                          <a:cs typeface="IBM Plex Sans"/>
                        </a:rPr>
                        <a:t>Tool layer (7 tools)</a:t>
                      </a:r>
                      <a:endParaRPr sz="1200">
                        <a:latin typeface="IBM Plex Sans"/>
                        <a:ea typeface="IBM Plex Sans"/>
                        <a:cs typeface="IBM Plex Sans"/>
                      </a:endParaRPr>
                    </a:p>
                  </a:txBody>
                  <a:tcPr marL="53340" marR="53340" marT="53340" marB="53340">
                    <a:lnL w="12700" cmpd="sng">
                      <a:solidFill>
                        <a:srgbClr val="BABEC1"/>
                      </a:solidFill>
                      <a:prstDash val="solid"/>
                    </a:lnL>
                    <a:lnR w="12700" cmpd="sng">
                      <a:solidFill>
                        <a:srgbClr val="BABEC1"/>
                      </a:solidFill>
                      <a:prstDash val="solid"/>
                    </a:lnR>
                    <a:lnT w="12700" cmpd="sng">
                      <a:solidFill>
                        <a:srgbClr val="ADB1B3"/>
                      </a:solidFill>
                      <a:prstDash val="solid"/>
                    </a:lnT>
                    <a:lnB w="12700" cmpd="sng">
                      <a:solidFill>
                        <a:srgbClr val="BABEC1"/>
                      </a:solidFill>
                      <a:prstDash val="solid"/>
                    </a:lnB>
                  </a:tcPr>
                </a:tc>
                <a:tc>
                  <a:txBody>
                    <a:bodyPr/>
                    <a:lstStyle/>
                    <a:p>
                      <a:pPr marL="0" indent="0">
                        <a:lnSpc>
                          <a:spcPts val="1680"/>
                        </a:lnSpc>
                        <a:buNone/>
                      </a:pPr>
                      <a:r>
                        <a:rPr sz="1200">
                          <a:latin typeface="IBM Plex Sans"/>
                          <a:ea typeface="IBM Plex Sans"/>
                          <a:cs typeface="IBM Plex Sans"/>
                        </a:rPr>
                        <a:t>Hew Kai Ling</a:t>
                      </a:r>
                      <a:endParaRPr sz="1200">
                        <a:latin typeface="IBM Plex Sans"/>
                        <a:ea typeface="IBM Plex Sans"/>
                        <a:cs typeface="IBM Plex Sans"/>
                      </a:endParaRPr>
                    </a:p>
                  </a:txBody>
                  <a:tcPr marL="53340" marR="53340" marT="53340" marB="53340">
                    <a:lnL w="12700" cmpd="sng">
                      <a:solidFill>
                        <a:srgbClr val="BABEC1"/>
                      </a:solidFill>
                      <a:prstDash val="solid"/>
                    </a:lnL>
                    <a:lnR w="12700" cmpd="sng">
                      <a:solidFill>
                        <a:srgbClr val="BABEC1"/>
                      </a:solidFill>
                      <a:prstDash val="solid"/>
                    </a:lnR>
                    <a:lnT w="12700" cmpd="sng">
                      <a:solidFill>
                        <a:srgbClr val="ADB1B3"/>
                      </a:solidFill>
                      <a:prstDash val="solid"/>
                    </a:lnT>
                    <a:lnB w="12700" cmpd="sng">
                      <a:solidFill>
                        <a:srgbClr val="BABEC1"/>
                      </a:solidFill>
                      <a:prstDash val="solid"/>
                    </a:lnB>
                  </a:tcPr>
                </a:tc>
                <a:tc>
                  <a:txBody>
                    <a:bodyPr/>
                    <a:lstStyle/>
                    <a:p>
                      <a:pPr marL="0" indent="0">
                        <a:lnSpc>
                          <a:spcPts val="1680"/>
                        </a:lnSpc>
                        <a:buNone/>
                      </a:pPr>
                      <a:r>
                        <a:rPr sz="1200">
                          <a:solidFill>
                            <a:srgbClr val="2C5F8A"/>
                          </a:solidFill>
                          <a:latin typeface="IBM Plex Sans"/>
                          <a:ea typeface="IBM Plex Sans"/>
                          <a:cs typeface="IBM Plex Sans"/>
                        </a:rPr>
                        <a:t>Done</a:t>
                      </a:r>
                      <a:endParaRPr sz="1200">
                        <a:latin typeface="IBM Plex Sans"/>
                        <a:ea typeface="IBM Plex Sans"/>
                        <a:cs typeface="IBM Plex Sans"/>
                      </a:endParaRPr>
                    </a:p>
                  </a:txBody>
                  <a:tcPr marL="53340" marR="53340" marT="53340" marB="53340">
                    <a:lnL w="12700" cmpd="sng">
                      <a:solidFill>
                        <a:srgbClr val="BABEC1"/>
                      </a:solidFill>
                      <a:prstDash val="solid"/>
                    </a:lnL>
                    <a:lnR w="12700" cmpd="sng">
                      <a:solidFill>
                        <a:srgbClr val="BABEC1"/>
                      </a:solidFill>
                      <a:prstDash val="solid"/>
                    </a:lnR>
                    <a:lnT w="12700" cmpd="sng">
                      <a:solidFill>
                        <a:srgbClr val="ADB1B3"/>
                      </a:solidFill>
                      <a:prstDash val="solid"/>
                    </a:lnT>
                    <a:lnB w="12700" cmpd="sng">
                      <a:solidFill>
                        <a:srgbClr val="BABEC1"/>
                      </a:solidFill>
                      <a:prstDash val="solid"/>
                    </a:lnB>
                  </a:tcPr>
                </a:tc>
              </a:tr>
              <a:tr h="332647">
                <a:tc>
                  <a:txBody>
                    <a:bodyPr/>
                    <a:lstStyle/>
                    <a:p>
                      <a:pPr marL="0" indent="0">
                        <a:lnSpc>
                          <a:spcPts val="1680"/>
                        </a:lnSpc>
                        <a:buNone/>
                      </a:pPr>
                      <a:r>
                        <a:rPr sz="1200">
                          <a:solidFill>
                            <a:srgbClr val="16202E"/>
                          </a:solidFill>
                          <a:latin typeface="IBM Plex Sans"/>
                          <a:ea typeface="IBM Plex Sans"/>
                          <a:cs typeface="IBM Plex Sans"/>
                        </a:rPr>
                        <a:t>Allocator, 5 objective settings</a:t>
                      </a:r>
                      <a:endParaRPr sz="1200">
                        <a:latin typeface="IBM Plex Sans"/>
                        <a:ea typeface="IBM Plex Sans"/>
                        <a:cs typeface="IBM Plex Sans"/>
                      </a:endParaRPr>
                    </a:p>
                  </a:txBody>
                  <a:tcPr marL="53340" marR="53340" marT="53340" marB="53340">
                    <a:lnL w="12700" cmpd="sng">
                      <a:solidFill>
                        <a:srgbClr val="BABEC1"/>
                      </a:solidFill>
                      <a:prstDash val="solid"/>
                    </a:lnL>
                    <a:lnR w="12700" cmpd="sng">
                      <a:solidFill>
                        <a:srgbClr val="BABEC1"/>
                      </a:solidFill>
                      <a:prstDash val="solid"/>
                    </a:lnR>
                    <a:lnT w="12700" cmpd="sng">
                      <a:solidFill>
                        <a:srgbClr val="BABEC1"/>
                      </a:solidFill>
                      <a:prstDash val="solid"/>
                    </a:lnT>
                    <a:lnB w="12700" cmpd="sng">
                      <a:solidFill>
                        <a:srgbClr val="BABEC1"/>
                      </a:solidFill>
                      <a:prstDash val="solid"/>
                    </a:lnB>
                  </a:tcPr>
                </a:tc>
                <a:tc>
                  <a:txBody>
                    <a:bodyPr/>
                    <a:lstStyle/>
                    <a:p>
                      <a:pPr marL="0" marR="0" lvl="0" indent="0" algn="l" defTabSz="914400">
                        <a:lnSpc>
                          <a:spcPts val="1680"/>
                        </a:lnSpc>
                        <a:spcBef>
                          <a:spcPts val="0"/>
                        </a:spcBef>
                        <a:spcAft>
                          <a:spcPts val="0"/>
                        </a:spcAft>
                        <a:buClrTx/>
                        <a:buSzTx/>
                        <a:buFontTx/>
                        <a:buNone/>
                      </a:pPr>
                      <a:r>
                        <a:rPr sz="1200">
                          <a:latin typeface="IBM Plex Sans"/>
                          <a:ea typeface="IBM Plex Sans"/>
                          <a:cs typeface="IBM Plex Sans"/>
                        </a:rPr>
                        <a:t>Hew Kai Ling</a:t>
                      </a:r>
                      <a:endParaRPr sz="1200">
                        <a:latin typeface="IBM Plex Sans"/>
                        <a:ea typeface="IBM Plex Sans"/>
                        <a:cs typeface="IBM Plex Sans"/>
                      </a:endParaRPr>
                    </a:p>
                  </a:txBody>
                  <a:tcPr marL="53340" marR="53340" marT="53340" marB="53340">
                    <a:lnL w="12700" cmpd="sng">
                      <a:solidFill>
                        <a:srgbClr val="BABEC1"/>
                      </a:solidFill>
                      <a:prstDash val="solid"/>
                    </a:lnL>
                    <a:lnR w="12700" cmpd="sng">
                      <a:solidFill>
                        <a:srgbClr val="BABEC1"/>
                      </a:solidFill>
                      <a:prstDash val="solid"/>
                    </a:lnR>
                    <a:lnT w="12700" cmpd="sng">
                      <a:solidFill>
                        <a:srgbClr val="BABEC1"/>
                      </a:solidFill>
                      <a:prstDash val="solid"/>
                    </a:lnT>
                    <a:lnB w="12700" cmpd="sng">
                      <a:solidFill>
                        <a:srgbClr val="BABEC1"/>
                      </a:solidFill>
                      <a:prstDash val="solid"/>
                    </a:lnB>
                  </a:tcPr>
                </a:tc>
                <a:tc>
                  <a:txBody>
                    <a:bodyPr/>
                    <a:lstStyle/>
                    <a:p>
                      <a:pPr marL="0" indent="0">
                        <a:lnSpc>
                          <a:spcPts val="1680"/>
                        </a:lnSpc>
                        <a:buNone/>
                      </a:pPr>
                      <a:r>
                        <a:rPr sz="1200">
                          <a:solidFill>
                            <a:srgbClr val="2C5F8A"/>
                          </a:solidFill>
                          <a:latin typeface="IBM Plex Sans"/>
                          <a:ea typeface="IBM Plex Sans"/>
                          <a:cs typeface="IBM Plex Sans"/>
                        </a:rPr>
                        <a:t>Done</a:t>
                      </a:r>
                      <a:endParaRPr sz="1200">
                        <a:latin typeface="IBM Plex Sans"/>
                        <a:ea typeface="IBM Plex Sans"/>
                        <a:cs typeface="IBM Plex Sans"/>
                      </a:endParaRPr>
                    </a:p>
                  </a:txBody>
                  <a:tcPr marL="53340" marR="53340" marT="53340" marB="53340">
                    <a:lnL w="12700" cmpd="sng">
                      <a:solidFill>
                        <a:srgbClr val="BABEC1"/>
                      </a:solidFill>
                      <a:prstDash val="solid"/>
                    </a:lnL>
                    <a:lnR w="12700" cmpd="sng">
                      <a:solidFill>
                        <a:srgbClr val="BABEC1"/>
                      </a:solidFill>
                      <a:prstDash val="solid"/>
                    </a:lnR>
                    <a:lnT w="12700" cmpd="sng">
                      <a:solidFill>
                        <a:srgbClr val="BABEC1"/>
                      </a:solidFill>
                      <a:prstDash val="solid"/>
                    </a:lnT>
                    <a:lnB w="12700" cmpd="sng">
                      <a:solidFill>
                        <a:srgbClr val="BABEC1"/>
                      </a:solidFill>
                      <a:prstDash val="solid"/>
                    </a:lnB>
                  </a:tcPr>
                </a:tc>
              </a:tr>
              <a:tr h="332647">
                <a:tc>
                  <a:txBody>
                    <a:bodyPr/>
                    <a:lstStyle/>
                    <a:p>
                      <a:pPr marL="0" indent="0">
                        <a:lnSpc>
                          <a:spcPts val="1680"/>
                        </a:lnSpc>
                        <a:buNone/>
                      </a:pPr>
                      <a:r>
                        <a:rPr sz="1200">
                          <a:solidFill>
                            <a:srgbClr val="16202E"/>
                          </a:solidFill>
                          <a:latin typeface="IBM Plex Sans"/>
                          <a:ea typeface="IBM Plex Sans"/>
                          <a:cs typeface="IBM Plex Sans"/>
                        </a:rPr>
                        <a:t>Claude parser and validation</a:t>
                      </a:r>
                      <a:endParaRPr sz="1200">
                        <a:latin typeface="IBM Plex Sans"/>
                        <a:ea typeface="IBM Plex Sans"/>
                        <a:cs typeface="IBM Plex Sans"/>
                      </a:endParaRPr>
                    </a:p>
                  </a:txBody>
                  <a:tcPr marL="53340" marR="53340" marT="53340" marB="53340">
                    <a:lnL w="12700" cmpd="sng">
                      <a:solidFill>
                        <a:srgbClr val="BABEC1"/>
                      </a:solidFill>
                      <a:prstDash val="solid"/>
                    </a:lnL>
                    <a:lnR w="12700" cmpd="sng">
                      <a:solidFill>
                        <a:srgbClr val="BABEC1"/>
                      </a:solidFill>
                      <a:prstDash val="solid"/>
                    </a:lnR>
                    <a:lnT w="12700" cmpd="sng">
                      <a:solidFill>
                        <a:srgbClr val="BABEC1"/>
                      </a:solidFill>
                      <a:prstDash val="solid"/>
                    </a:lnT>
                    <a:lnB w="12700" cmpd="sng">
                      <a:solidFill>
                        <a:srgbClr val="BABEC1"/>
                      </a:solidFill>
                      <a:prstDash val="solid"/>
                    </a:lnB>
                  </a:tcPr>
                </a:tc>
                <a:tc>
                  <a:txBody>
                    <a:bodyPr/>
                    <a:lstStyle/>
                    <a:p>
                      <a:pPr marL="0" marR="0" lvl="0" indent="0" algn="l" defTabSz="914400">
                        <a:lnSpc>
                          <a:spcPts val="1680"/>
                        </a:lnSpc>
                        <a:spcBef>
                          <a:spcPts val="0"/>
                        </a:spcBef>
                        <a:spcAft>
                          <a:spcPts val="0"/>
                        </a:spcAft>
                        <a:buClrTx/>
                        <a:buSzTx/>
                        <a:buFontTx/>
                        <a:buNone/>
                      </a:pPr>
                      <a:r>
                        <a:rPr sz="1200">
                          <a:latin typeface="IBM Plex Sans"/>
                          <a:ea typeface="IBM Plex Sans"/>
                          <a:cs typeface="IBM Plex Sans"/>
                        </a:rPr>
                        <a:t>Hew Kai Ling</a:t>
                      </a:r>
                      <a:endParaRPr sz="1200">
                        <a:latin typeface="IBM Plex Sans"/>
                        <a:ea typeface="IBM Plex Sans"/>
                        <a:cs typeface="IBM Plex Sans"/>
                      </a:endParaRPr>
                    </a:p>
                  </a:txBody>
                  <a:tcPr marL="53340" marR="53340" marT="53340" marB="53340">
                    <a:lnL w="12700" cmpd="sng">
                      <a:solidFill>
                        <a:srgbClr val="BABEC1"/>
                      </a:solidFill>
                      <a:prstDash val="solid"/>
                    </a:lnL>
                    <a:lnR w="12700" cmpd="sng">
                      <a:solidFill>
                        <a:srgbClr val="BABEC1"/>
                      </a:solidFill>
                      <a:prstDash val="solid"/>
                    </a:lnR>
                    <a:lnT w="12700" cmpd="sng">
                      <a:solidFill>
                        <a:srgbClr val="BABEC1"/>
                      </a:solidFill>
                      <a:prstDash val="solid"/>
                    </a:lnT>
                    <a:lnB w="12700" cmpd="sng">
                      <a:solidFill>
                        <a:srgbClr val="BABEC1"/>
                      </a:solidFill>
                      <a:prstDash val="solid"/>
                    </a:lnB>
                  </a:tcPr>
                </a:tc>
                <a:tc>
                  <a:txBody>
                    <a:bodyPr/>
                    <a:lstStyle/>
                    <a:p>
                      <a:pPr marL="0" indent="0">
                        <a:lnSpc>
                          <a:spcPts val="1680"/>
                        </a:lnSpc>
                        <a:buNone/>
                      </a:pPr>
                      <a:r>
                        <a:rPr sz="1200">
                          <a:solidFill>
                            <a:srgbClr val="2C5F8A"/>
                          </a:solidFill>
                          <a:latin typeface="IBM Plex Sans"/>
                          <a:ea typeface="IBM Plex Sans"/>
                          <a:cs typeface="IBM Plex Sans"/>
                        </a:rPr>
                        <a:t>Done</a:t>
                      </a:r>
                      <a:endParaRPr sz="1200">
                        <a:latin typeface="IBM Plex Sans"/>
                        <a:ea typeface="IBM Plex Sans"/>
                        <a:cs typeface="IBM Plex Sans"/>
                      </a:endParaRPr>
                    </a:p>
                  </a:txBody>
                  <a:tcPr marL="53340" marR="53340" marT="53340" marB="53340">
                    <a:lnL w="12700" cmpd="sng">
                      <a:solidFill>
                        <a:srgbClr val="BABEC1"/>
                      </a:solidFill>
                      <a:prstDash val="solid"/>
                    </a:lnL>
                    <a:lnR w="12700" cmpd="sng">
                      <a:solidFill>
                        <a:srgbClr val="BABEC1"/>
                      </a:solidFill>
                      <a:prstDash val="solid"/>
                    </a:lnR>
                    <a:lnT w="12700" cmpd="sng">
                      <a:solidFill>
                        <a:srgbClr val="BABEC1"/>
                      </a:solidFill>
                      <a:prstDash val="solid"/>
                    </a:lnT>
                    <a:lnB w="12700" cmpd="sng">
                      <a:solidFill>
                        <a:srgbClr val="BABEC1"/>
                      </a:solidFill>
                      <a:prstDash val="solid"/>
                    </a:lnB>
                  </a:tcPr>
                </a:tc>
              </a:tr>
              <a:tr h="332647">
                <a:tc>
                  <a:txBody>
                    <a:bodyPr/>
                    <a:lstStyle/>
                    <a:p>
                      <a:pPr marL="0" indent="0">
                        <a:lnSpc>
                          <a:spcPts val="1680"/>
                        </a:lnSpc>
                        <a:buNone/>
                      </a:pPr>
                      <a:r>
                        <a:rPr sz="1200">
                          <a:solidFill>
                            <a:srgbClr val="16202E"/>
                          </a:solidFill>
                          <a:latin typeface="IBM Plex Sans"/>
                          <a:ea typeface="IBM Plex Sans"/>
                          <a:cs typeface="IBM Plex Sans"/>
                        </a:rPr>
                        <a:t>Router: 5 behaviours, replies</a:t>
                      </a:r>
                      <a:endParaRPr sz="1200">
                        <a:latin typeface="IBM Plex Sans"/>
                        <a:ea typeface="IBM Plex Sans"/>
                        <a:cs typeface="IBM Plex Sans"/>
                      </a:endParaRPr>
                    </a:p>
                  </a:txBody>
                  <a:tcPr marL="53340" marR="53340" marT="53340" marB="53340">
                    <a:lnL w="12700" cmpd="sng">
                      <a:solidFill>
                        <a:srgbClr val="BABEC1"/>
                      </a:solidFill>
                      <a:prstDash val="solid"/>
                    </a:lnL>
                    <a:lnR w="12700" cmpd="sng">
                      <a:solidFill>
                        <a:srgbClr val="BABEC1"/>
                      </a:solidFill>
                      <a:prstDash val="solid"/>
                    </a:lnR>
                    <a:lnT w="12700" cmpd="sng">
                      <a:solidFill>
                        <a:srgbClr val="BABEC1"/>
                      </a:solidFill>
                      <a:prstDash val="solid"/>
                    </a:lnT>
                    <a:lnB w="12700" cmpd="sng">
                      <a:solidFill>
                        <a:srgbClr val="BABEC1"/>
                      </a:solidFill>
                      <a:prstDash val="solid"/>
                    </a:lnB>
                  </a:tcPr>
                </a:tc>
                <a:tc>
                  <a:txBody>
                    <a:bodyPr/>
                    <a:lstStyle/>
                    <a:p>
                      <a:pPr marL="0" marR="0" lvl="0" indent="0" algn="l" defTabSz="914400">
                        <a:lnSpc>
                          <a:spcPts val="1680"/>
                        </a:lnSpc>
                        <a:spcBef>
                          <a:spcPts val="0"/>
                        </a:spcBef>
                        <a:spcAft>
                          <a:spcPts val="0"/>
                        </a:spcAft>
                        <a:buClrTx/>
                        <a:buSzTx/>
                        <a:buFontTx/>
                        <a:buNone/>
                      </a:pPr>
                      <a:r>
                        <a:rPr sz="1200">
                          <a:latin typeface="IBM Plex Sans"/>
                          <a:ea typeface="IBM Plex Sans"/>
                          <a:cs typeface="IBM Plex Sans"/>
                        </a:rPr>
                        <a:t>Hew Kai Ling</a:t>
                      </a:r>
                      <a:endParaRPr sz="1200">
                        <a:latin typeface="IBM Plex Sans"/>
                        <a:ea typeface="IBM Plex Sans"/>
                        <a:cs typeface="IBM Plex Sans"/>
                      </a:endParaRPr>
                    </a:p>
                  </a:txBody>
                  <a:tcPr marL="53340" marR="53340" marT="53340" marB="53340">
                    <a:lnL w="12700" cmpd="sng">
                      <a:solidFill>
                        <a:srgbClr val="BABEC1"/>
                      </a:solidFill>
                      <a:prstDash val="solid"/>
                    </a:lnL>
                    <a:lnR w="12700" cmpd="sng">
                      <a:solidFill>
                        <a:srgbClr val="BABEC1"/>
                      </a:solidFill>
                      <a:prstDash val="solid"/>
                    </a:lnR>
                    <a:lnT w="12700" cmpd="sng">
                      <a:solidFill>
                        <a:srgbClr val="BABEC1"/>
                      </a:solidFill>
                      <a:prstDash val="solid"/>
                    </a:lnT>
                    <a:lnB w="12700" cmpd="sng">
                      <a:solidFill>
                        <a:srgbClr val="BABEC1"/>
                      </a:solidFill>
                      <a:prstDash val="solid"/>
                    </a:lnB>
                  </a:tcPr>
                </a:tc>
                <a:tc>
                  <a:txBody>
                    <a:bodyPr/>
                    <a:lstStyle/>
                    <a:p>
                      <a:pPr marL="0" indent="0">
                        <a:lnSpc>
                          <a:spcPts val="1680"/>
                        </a:lnSpc>
                        <a:buNone/>
                      </a:pPr>
                      <a:r>
                        <a:rPr sz="1200">
                          <a:solidFill>
                            <a:srgbClr val="2C5F8A"/>
                          </a:solidFill>
                          <a:latin typeface="IBM Plex Sans"/>
                          <a:ea typeface="IBM Plex Sans"/>
                          <a:cs typeface="IBM Plex Sans"/>
                        </a:rPr>
                        <a:t>Done</a:t>
                      </a:r>
                      <a:endParaRPr sz="1200">
                        <a:latin typeface="IBM Plex Sans"/>
                        <a:ea typeface="IBM Plex Sans"/>
                        <a:cs typeface="IBM Plex Sans"/>
                      </a:endParaRPr>
                    </a:p>
                  </a:txBody>
                  <a:tcPr marL="53340" marR="53340" marT="53340" marB="53340">
                    <a:lnL w="12700" cmpd="sng">
                      <a:solidFill>
                        <a:srgbClr val="BABEC1"/>
                      </a:solidFill>
                      <a:prstDash val="solid"/>
                    </a:lnL>
                    <a:lnR w="12700" cmpd="sng">
                      <a:solidFill>
                        <a:srgbClr val="BABEC1"/>
                      </a:solidFill>
                      <a:prstDash val="solid"/>
                    </a:lnR>
                    <a:lnT w="12700" cmpd="sng">
                      <a:solidFill>
                        <a:srgbClr val="BABEC1"/>
                      </a:solidFill>
                      <a:prstDash val="solid"/>
                    </a:lnT>
                    <a:lnB w="12700" cmpd="sng">
                      <a:solidFill>
                        <a:srgbClr val="BABEC1"/>
                      </a:solidFill>
                      <a:prstDash val="solid"/>
                    </a:lnB>
                  </a:tcPr>
                </a:tc>
              </a:tr>
              <a:tr h="332647">
                <a:tc>
                  <a:txBody>
                    <a:bodyPr/>
                    <a:lstStyle/>
                    <a:p>
                      <a:pPr marL="0" indent="0">
                        <a:lnSpc>
                          <a:spcPts val="1680"/>
                        </a:lnSpc>
                        <a:buNone/>
                      </a:pPr>
                      <a:r>
                        <a:rPr sz="1200">
                          <a:solidFill>
                            <a:srgbClr val="16202E"/>
                          </a:solidFill>
                          <a:latin typeface="IBM Plex Sans"/>
                          <a:ea typeface="IBM Plex Sans"/>
                          <a:cs typeface="IBM Plex Sans"/>
                        </a:rPr>
                        <a:t>Number-trace check</a:t>
                      </a:r>
                      <a:endParaRPr sz="1200">
                        <a:latin typeface="IBM Plex Sans"/>
                        <a:ea typeface="IBM Plex Sans"/>
                        <a:cs typeface="IBM Plex Sans"/>
                      </a:endParaRPr>
                    </a:p>
                  </a:txBody>
                  <a:tcPr marL="53340" marR="53340" marT="53340" marB="53340">
                    <a:lnL w="12700" cmpd="sng">
                      <a:solidFill>
                        <a:srgbClr val="BABEC1"/>
                      </a:solidFill>
                      <a:prstDash val="solid"/>
                    </a:lnL>
                    <a:lnR w="12700" cmpd="sng">
                      <a:solidFill>
                        <a:srgbClr val="BABEC1"/>
                      </a:solidFill>
                      <a:prstDash val="solid"/>
                    </a:lnR>
                    <a:lnT w="12700" cmpd="sng">
                      <a:solidFill>
                        <a:srgbClr val="BABEC1"/>
                      </a:solidFill>
                      <a:prstDash val="solid"/>
                    </a:lnT>
                    <a:lnB w="12700" cmpd="sng">
                      <a:solidFill>
                        <a:srgbClr val="BABEC1"/>
                      </a:solidFill>
                      <a:prstDash val="solid"/>
                    </a:lnB>
                  </a:tcPr>
                </a:tc>
                <a:tc>
                  <a:txBody>
                    <a:bodyPr/>
                    <a:lstStyle/>
                    <a:p>
                      <a:pPr marL="0" marR="0" lvl="0" indent="0" algn="l" defTabSz="914400">
                        <a:lnSpc>
                          <a:spcPts val="1680"/>
                        </a:lnSpc>
                        <a:spcBef>
                          <a:spcPts val="0"/>
                        </a:spcBef>
                        <a:spcAft>
                          <a:spcPts val="0"/>
                        </a:spcAft>
                        <a:buClrTx/>
                        <a:buSzTx/>
                        <a:buFontTx/>
                        <a:buNone/>
                      </a:pPr>
                      <a:r>
                        <a:rPr sz="1200">
                          <a:latin typeface="IBM Plex Sans"/>
                          <a:ea typeface="IBM Plex Sans"/>
                          <a:cs typeface="IBM Plex Sans"/>
                        </a:rPr>
                        <a:t>Hew Kai Ling</a:t>
                      </a:r>
                      <a:endParaRPr sz="1200">
                        <a:latin typeface="IBM Plex Sans"/>
                        <a:ea typeface="IBM Plex Sans"/>
                        <a:cs typeface="IBM Plex Sans"/>
                      </a:endParaRPr>
                    </a:p>
                  </a:txBody>
                  <a:tcPr marL="53340" marR="53340" marT="53340" marB="53340">
                    <a:lnL w="12700" cmpd="sng">
                      <a:solidFill>
                        <a:srgbClr val="BABEC1"/>
                      </a:solidFill>
                      <a:prstDash val="solid"/>
                    </a:lnL>
                    <a:lnR w="12700" cmpd="sng">
                      <a:solidFill>
                        <a:srgbClr val="BABEC1"/>
                      </a:solidFill>
                      <a:prstDash val="solid"/>
                    </a:lnR>
                    <a:lnT w="12700" cmpd="sng">
                      <a:solidFill>
                        <a:srgbClr val="BABEC1"/>
                      </a:solidFill>
                      <a:prstDash val="solid"/>
                    </a:lnT>
                    <a:lnB w="12700" cmpd="sng">
                      <a:solidFill>
                        <a:srgbClr val="BABEC1"/>
                      </a:solidFill>
                      <a:prstDash val="solid"/>
                    </a:lnB>
                  </a:tcPr>
                </a:tc>
                <a:tc>
                  <a:txBody>
                    <a:bodyPr/>
                    <a:lstStyle/>
                    <a:p>
                      <a:pPr marL="0" indent="0">
                        <a:lnSpc>
                          <a:spcPts val="1680"/>
                        </a:lnSpc>
                        <a:buNone/>
                      </a:pPr>
                      <a:r>
                        <a:rPr sz="1200">
                          <a:solidFill>
                            <a:srgbClr val="2C5F8A"/>
                          </a:solidFill>
                          <a:latin typeface="IBM Plex Sans"/>
                          <a:ea typeface="IBM Plex Sans"/>
                          <a:cs typeface="IBM Plex Sans"/>
                        </a:rPr>
                        <a:t>Done</a:t>
                      </a:r>
                      <a:endParaRPr sz="1200">
                        <a:latin typeface="IBM Plex Sans"/>
                        <a:ea typeface="IBM Plex Sans"/>
                        <a:cs typeface="IBM Plex Sans"/>
                      </a:endParaRPr>
                    </a:p>
                  </a:txBody>
                  <a:tcPr marL="53340" marR="53340" marT="53340" marB="53340">
                    <a:lnL w="12700" cmpd="sng">
                      <a:solidFill>
                        <a:srgbClr val="BABEC1"/>
                      </a:solidFill>
                      <a:prstDash val="solid"/>
                    </a:lnL>
                    <a:lnR w="12700" cmpd="sng">
                      <a:solidFill>
                        <a:srgbClr val="BABEC1"/>
                      </a:solidFill>
                      <a:prstDash val="solid"/>
                    </a:lnR>
                    <a:lnT w="12700" cmpd="sng">
                      <a:solidFill>
                        <a:srgbClr val="BABEC1"/>
                      </a:solidFill>
                      <a:prstDash val="solid"/>
                    </a:lnT>
                    <a:lnB w="12700" cmpd="sng">
                      <a:solidFill>
                        <a:srgbClr val="BABEC1"/>
                      </a:solidFill>
                      <a:prstDash val="solid"/>
                    </a:lnB>
                  </a:tcPr>
                </a:tc>
              </a:tr>
              <a:tr h="332647">
                <a:tc>
                  <a:txBody>
                    <a:bodyPr/>
                    <a:lstStyle/>
                    <a:p>
                      <a:pPr marL="0" indent="0">
                        <a:lnSpc>
                          <a:spcPts val="1680"/>
                        </a:lnSpc>
                        <a:buNone/>
                      </a:pPr>
                      <a:r>
                        <a:rPr sz="1200">
                          <a:solidFill>
                            <a:srgbClr val="16202E"/>
                          </a:solidFill>
                          <a:latin typeface="IBM Plex Sans"/>
                          <a:ea typeface="IBM Plex Sans"/>
                          <a:cs typeface="IBM Plex Sans"/>
                        </a:rPr>
                        <a:t>Audit log, confirm step</a:t>
                      </a:r>
                      <a:endParaRPr sz="1200">
                        <a:latin typeface="IBM Plex Sans"/>
                        <a:ea typeface="IBM Plex Sans"/>
                        <a:cs typeface="IBM Plex Sans"/>
                      </a:endParaRPr>
                    </a:p>
                  </a:txBody>
                  <a:tcPr marL="53340" marR="53340" marT="53340" marB="53340">
                    <a:lnL w="12700" cmpd="sng">
                      <a:solidFill>
                        <a:srgbClr val="BABEC1"/>
                      </a:solidFill>
                      <a:prstDash val="solid"/>
                    </a:lnL>
                    <a:lnR w="12700" cmpd="sng">
                      <a:solidFill>
                        <a:srgbClr val="BABEC1"/>
                      </a:solidFill>
                      <a:prstDash val="solid"/>
                    </a:lnR>
                    <a:lnT w="12700" cmpd="sng">
                      <a:solidFill>
                        <a:srgbClr val="BABEC1"/>
                      </a:solidFill>
                      <a:prstDash val="solid"/>
                    </a:lnT>
                    <a:lnB w="12700" cmpd="sng">
                      <a:solidFill>
                        <a:srgbClr val="BABEC1"/>
                      </a:solidFill>
                      <a:prstDash val="solid"/>
                    </a:lnB>
                  </a:tcPr>
                </a:tc>
                <a:tc>
                  <a:txBody>
                    <a:bodyPr/>
                    <a:lstStyle/>
                    <a:p>
                      <a:pPr marL="0" marR="0" lvl="0" indent="0" algn="l" defTabSz="914400">
                        <a:lnSpc>
                          <a:spcPts val="1680"/>
                        </a:lnSpc>
                        <a:spcBef>
                          <a:spcPts val="0"/>
                        </a:spcBef>
                        <a:spcAft>
                          <a:spcPts val="0"/>
                        </a:spcAft>
                        <a:buClrTx/>
                        <a:buSzTx/>
                        <a:buFontTx/>
                        <a:buNone/>
                      </a:pPr>
                      <a:r>
                        <a:rPr sz="1200">
                          <a:latin typeface="IBM Plex Sans"/>
                          <a:ea typeface="IBM Plex Sans"/>
                          <a:cs typeface="IBM Plex Sans"/>
                        </a:rPr>
                        <a:t>Hew Kai Ling</a:t>
                      </a:r>
                      <a:endParaRPr sz="1200">
                        <a:latin typeface="IBM Plex Sans"/>
                        <a:ea typeface="IBM Plex Sans"/>
                        <a:cs typeface="IBM Plex Sans"/>
                      </a:endParaRPr>
                    </a:p>
                  </a:txBody>
                  <a:tcPr marL="53340" marR="53340" marT="53340" marB="53340">
                    <a:lnL w="12700" cmpd="sng">
                      <a:solidFill>
                        <a:srgbClr val="BABEC1"/>
                      </a:solidFill>
                      <a:prstDash val="solid"/>
                    </a:lnL>
                    <a:lnR w="12700" cmpd="sng">
                      <a:solidFill>
                        <a:srgbClr val="BABEC1"/>
                      </a:solidFill>
                      <a:prstDash val="solid"/>
                    </a:lnR>
                    <a:lnT w="12700" cmpd="sng">
                      <a:solidFill>
                        <a:srgbClr val="BABEC1"/>
                      </a:solidFill>
                      <a:prstDash val="solid"/>
                    </a:lnT>
                    <a:lnB w="12700" cmpd="sng">
                      <a:solidFill>
                        <a:srgbClr val="BABEC1"/>
                      </a:solidFill>
                      <a:prstDash val="solid"/>
                    </a:lnB>
                  </a:tcPr>
                </a:tc>
                <a:tc>
                  <a:txBody>
                    <a:bodyPr/>
                    <a:lstStyle/>
                    <a:p>
                      <a:pPr marL="0" indent="0">
                        <a:lnSpc>
                          <a:spcPts val="1680"/>
                        </a:lnSpc>
                        <a:buNone/>
                      </a:pPr>
                      <a:r>
                        <a:rPr sz="1200">
                          <a:solidFill>
                            <a:srgbClr val="2C5F8A"/>
                          </a:solidFill>
                          <a:latin typeface="IBM Plex Sans"/>
                          <a:ea typeface="IBM Plex Sans"/>
                          <a:cs typeface="IBM Plex Sans"/>
                        </a:rPr>
                        <a:t>Done</a:t>
                      </a:r>
                      <a:endParaRPr sz="1200">
                        <a:latin typeface="IBM Plex Sans"/>
                        <a:ea typeface="IBM Plex Sans"/>
                        <a:cs typeface="IBM Plex Sans"/>
                      </a:endParaRPr>
                    </a:p>
                  </a:txBody>
                  <a:tcPr marL="53340" marR="53340" marT="53340" marB="53340">
                    <a:lnL w="12700" cmpd="sng">
                      <a:solidFill>
                        <a:srgbClr val="BABEC1"/>
                      </a:solidFill>
                      <a:prstDash val="solid"/>
                    </a:lnL>
                    <a:lnR w="12700" cmpd="sng">
                      <a:solidFill>
                        <a:srgbClr val="BABEC1"/>
                      </a:solidFill>
                      <a:prstDash val="solid"/>
                    </a:lnR>
                    <a:lnT w="12700" cmpd="sng">
                      <a:solidFill>
                        <a:srgbClr val="BABEC1"/>
                      </a:solidFill>
                      <a:prstDash val="solid"/>
                    </a:lnT>
                    <a:lnB w="12700" cmpd="sng">
                      <a:solidFill>
                        <a:srgbClr val="BABEC1"/>
                      </a:solidFill>
                      <a:prstDash val="solid"/>
                    </a:lnB>
                  </a:tcPr>
                </a:tc>
              </a:tr>
              <a:tr h="332647">
                <a:tc>
                  <a:txBody>
                    <a:bodyPr/>
                    <a:lstStyle/>
                    <a:p>
                      <a:pPr marL="0" indent="0">
                        <a:lnSpc>
                          <a:spcPts val="1680"/>
                        </a:lnSpc>
                        <a:buNone/>
                      </a:pPr>
                      <a:r>
                        <a:rPr sz="1200">
                          <a:solidFill>
                            <a:srgbClr val="16202E"/>
                          </a:solidFill>
                          <a:latin typeface="IBM Plex Sans"/>
                          <a:ea typeface="IBM Plex Sans"/>
                          <a:cs typeface="IBM Plex Sans"/>
                        </a:rPr>
                        <a:t>Web app, deployed on Render</a:t>
                      </a:r>
                      <a:endParaRPr sz="1200">
                        <a:latin typeface="IBM Plex Sans"/>
                        <a:ea typeface="IBM Plex Sans"/>
                        <a:cs typeface="IBM Plex Sans"/>
                      </a:endParaRPr>
                    </a:p>
                  </a:txBody>
                  <a:tcPr marL="53340" marR="53340" marT="53340" marB="53340">
                    <a:lnL w="12700" cmpd="sng">
                      <a:solidFill>
                        <a:srgbClr val="BABEC1"/>
                      </a:solidFill>
                      <a:prstDash val="solid"/>
                    </a:lnL>
                    <a:lnR w="12700" cmpd="sng">
                      <a:solidFill>
                        <a:srgbClr val="BABEC1"/>
                      </a:solidFill>
                      <a:prstDash val="solid"/>
                    </a:lnR>
                    <a:lnT w="12700" cmpd="sng">
                      <a:solidFill>
                        <a:srgbClr val="BABEC1"/>
                      </a:solidFill>
                      <a:prstDash val="solid"/>
                    </a:lnT>
                    <a:lnB w="12700" cmpd="sng">
                      <a:solidFill>
                        <a:srgbClr val="BABEC1"/>
                      </a:solidFill>
                      <a:prstDash val="solid"/>
                    </a:lnB>
                  </a:tcPr>
                </a:tc>
                <a:tc>
                  <a:txBody>
                    <a:bodyPr/>
                    <a:lstStyle/>
                    <a:p>
                      <a:pPr marL="0" marR="0" lvl="0" indent="0" algn="l" defTabSz="914400">
                        <a:lnSpc>
                          <a:spcPts val="1680"/>
                        </a:lnSpc>
                        <a:spcBef>
                          <a:spcPts val="0"/>
                        </a:spcBef>
                        <a:spcAft>
                          <a:spcPts val="0"/>
                        </a:spcAft>
                        <a:buClrTx/>
                        <a:buSzTx/>
                        <a:buFontTx/>
                        <a:buNone/>
                      </a:pPr>
                      <a:r>
                        <a:rPr sz="1200">
                          <a:latin typeface="IBM Plex Sans"/>
                          <a:ea typeface="IBM Plex Sans"/>
                          <a:cs typeface="IBM Plex Sans"/>
                        </a:rPr>
                        <a:t>Hew Kai Ling</a:t>
                      </a:r>
                      <a:endParaRPr sz="1200">
                        <a:latin typeface="IBM Plex Sans"/>
                        <a:ea typeface="IBM Plex Sans"/>
                        <a:cs typeface="IBM Plex Sans"/>
                      </a:endParaRPr>
                    </a:p>
                  </a:txBody>
                  <a:tcPr marL="53340" marR="53340" marT="53340" marB="53340">
                    <a:lnL w="12700" cmpd="sng">
                      <a:solidFill>
                        <a:srgbClr val="BABEC1"/>
                      </a:solidFill>
                      <a:prstDash val="solid"/>
                    </a:lnL>
                    <a:lnR w="12700" cmpd="sng">
                      <a:solidFill>
                        <a:srgbClr val="BABEC1"/>
                      </a:solidFill>
                      <a:prstDash val="solid"/>
                    </a:lnR>
                    <a:lnT w="12700" cmpd="sng">
                      <a:solidFill>
                        <a:srgbClr val="BABEC1"/>
                      </a:solidFill>
                      <a:prstDash val="solid"/>
                    </a:lnT>
                    <a:lnB w="12700" cmpd="sng">
                      <a:solidFill>
                        <a:srgbClr val="BABEC1"/>
                      </a:solidFill>
                      <a:prstDash val="solid"/>
                    </a:lnB>
                  </a:tcPr>
                </a:tc>
                <a:tc>
                  <a:txBody>
                    <a:bodyPr/>
                    <a:lstStyle/>
                    <a:p>
                      <a:pPr marL="0" indent="0">
                        <a:lnSpc>
                          <a:spcPts val="1680"/>
                        </a:lnSpc>
                        <a:buNone/>
                      </a:pPr>
                      <a:r>
                        <a:rPr sz="1200">
                          <a:solidFill>
                            <a:srgbClr val="2C5F8A"/>
                          </a:solidFill>
                          <a:latin typeface="IBM Plex Sans"/>
                          <a:ea typeface="IBM Plex Sans"/>
                          <a:cs typeface="IBM Plex Sans"/>
                        </a:rPr>
                        <a:t>Done</a:t>
                      </a:r>
                      <a:endParaRPr sz="1200">
                        <a:latin typeface="IBM Plex Sans"/>
                        <a:ea typeface="IBM Plex Sans"/>
                        <a:cs typeface="IBM Plex Sans"/>
                      </a:endParaRPr>
                    </a:p>
                  </a:txBody>
                  <a:tcPr marL="53340" marR="53340" marT="53340" marB="53340">
                    <a:lnL w="12700" cmpd="sng">
                      <a:solidFill>
                        <a:srgbClr val="BABEC1"/>
                      </a:solidFill>
                      <a:prstDash val="solid"/>
                    </a:lnL>
                    <a:lnR w="12700" cmpd="sng">
                      <a:solidFill>
                        <a:srgbClr val="BABEC1"/>
                      </a:solidFill>
                      <a:prstDash val="solid"/>
                    </a:lnR>
                    <a:lnT w="12700" cmpd="sng">
                      <a:solidFill>
                        <a:srgbClr val="BABEC1"/>
                      </a:solidFill>
                      <a:prstDash val="solid"/>
                    </a:lnT>
                    <a:lnB w="12700" cmpd="sng">
                      <a:solidFill>
                        <a:srgbClr val="BABEC1"/>
                      </a:solidFill>
                      <a:prstDash val="solid"/>
                    </a:lnB>
                  </a:tcPr>
                </a:tc>
              </a:tr>
              <a:tr h="332647">
                <a:tc>
                  <a:txBody>
                    <a:bodyPr/>
                    <a:lstStyle/>
                    <a:p>
                      <a:pPr marL="0" indent="0">
                        <a:lnSpc>
                          <a:spcPts val="1680"/>
                        </a:lnSpc>
                        <a:buNone/>
                      </a:pPr>
                      <a:r>
                        <a:rPr sz="1200">
                          <a:solidFill>
                            <a:srgbClr val="16202E"/>
                          </a:solidFill>
                          <a:latin typeface="IBM Plex Sans"/>
                          <a:ea typeface="IBM Plex Sans"/>
                          <a:cs typeface="IBM Plex Sans"/>
                        </a:rPr>
                        <a:t>Inbox scorer, parser comparison</a:t>
                      </a:r>
                      <a:endParaRPr sz="1200">
                        <a:latin typeface="IBM Plex Sans"/>
                        <a:ea typeface="IBM Plex Sans"/>
                        <a:cs typeface="IBM Plex Sans"/>
                      </a:endParaRPr>
                    </a:p>
                  </a:txBody>
                  <a:tcPr marL="53340" marR="53340" marT="53340" marB="53340">
                    <a:lnL w="12700" cmpd="sng">
                      <a:solidFill>
                        <a:srgbClr val="BABEC1"/>
                      </a:solidFill>
                      <a:prstDash val="solid"/>
                    </a:lnL>
                    <a:lnR w="12700" cmpd="sng">
                      <a:solidFill>
                        <a:srgbClr val="BABEC1"/>
                      </a:solidFill>
                      <a:prstDash val="solid"/>
                    </a:lnR>
                    <a:lnT w="12700" cmpd="sng">
                      <a:solidFill>
                        <a:srgbClr val="BABEC1"/>
                      </a:solidFill>
                      <a:prstDash val="solid"/>
                    </a:lnT>
                    <a:lnB w="12700" cmpd="sng">
                      <a:solidFill>
                        <a:srgbClr val="BABEC1"/>
                      </a:solidFill>
                      <a:prstDash val="solid"/>
                    </a:lnB>
                  </a:tcPr>
                </a:tc>
                <a:tc>
                  <a:txBody>
                    <a:bodyPr/>
                    <a:lstStyle/>
                    <a:p>
                      <a:pPr marL="0" marR="0" lvl="0" indent="0" algn="l" defTabSz="914400">
                        <a:lnSpc>
                          <a:spcPts val="1680"/>
                        </a:lnSpc>
                        <a:spcBef>
                          <a:spcPts val="0"/>
                        </a:spcBef>
                        <a:spcAft>
                          <a:spcPts val="0"/>
                        </a:spcAft>
                        <a:buClrTx/>
                        <a:buSzTx/>
                        <a:buFontTx/>
                        <a:buNone/>
                      </a:pPr>
                      <a:r>
                        <a:rPr sz="1200">
                          <a:latin typeface="IBM Plex Sans"/>
                          <a:ea typeface="IBM Plex Sans"/>
                          <a:cs typeface="IBM Plex Sans"/>
                        </a:rPr>
                        <a:t>Hew Kai Ling</a:t>
                      </a:r>
                      <a:endParaRPr sz="1200">
                        <a:latin typeface="IBM Plex Sans"/>
                        <a:ea typeface="IBM Plex Sans"/>
                        <a:cs typeface="IBM Plex Sans"/>
                      </a:endParaRPr>
                    </a:p>
                  </a:txBody>
                  <a:tcPr marL="53340" marR="53340" marT="53340" marB="53340">
                    <a:lnL w="12700" cmpd="sng">
                      <a:solidFill>
                        <a:srgbClr val="BABEC1"/>
                      </a:solidFill>
                      <a:prstDash val="solid"/>
                    </a:lnL>
                    <a:lnR w="12700" cmpd="sng">
                      <a:solidFill>
                        <a:srgbClr val="BABEC1"/>
                      </a:solidFill>
                      <a:prstDash val="solid"/>
                    </a:lnR>
                    <a:lnT w="12700" cmpd="sng">
                      <a:solidFill>
                        <a:srgbClr val="BABEC1"/>
                      </a:solidFill>
                      <a:prstDash val="solid"/>
                    </a:lnT>
                    <a:lnB w="12700" cmpd="sng">
                      <a:solidFill>
                        <a:srgbClr val="BABEC1"/>
                      </a:solidFill>
                      <a:prstDash val="solid"/>
                    </a:lnB>
                  </a:tcPr>
                </a:tc>
                <a:tc>
                  <a:txBody>
                    <a:bodyPr/>
                    <a:lstStyle/>
                    <a:p>
                      <a:pPr marL="0" indent="0">
                        <a:lnSpc>
                          <a:spcPts val="1680"/>
                        </a:lnSpc>
                        <a:buNone/>
                      </a:pPr>
                      <a:r>
                        <a:rPr sz="1200">
                          <a:solidFill>
                            <a:srgbClr val="2C5F8A"/>
                          </a:solidFill>
                          <a:latin typeface="IBM Plex Sans"/>
                          <a:ea typeface="IBM Plex Sans"/>
                          <a:cs typeface="IBM Plex Sans"/>
                        </a:rPr>
                        <a:t>Done</a:t>
                      </a:r>
                      <a:endParaRPr sz="1200">
                        <a:latin typeface="IBM Plex Sans"/>
                        <a:ea typeface="IBM Plex Sans"/>
                        <a:cs typeface="IBM Plex Sans"/>
                      </a:endParaRPr>
                    </a:p>
                  </a:txBody>
                  <a:tcPr marL="53340" marR="53340" marT="53340" marB="53340">
                    <a:lnL w="12700" cmpd="sng">
                      <a:solidFill>
                        <a:srgbClr val="BABEC1"/>
                      </a:solidFill>
                      <a:prstDash val="solid"/>
                    </a:lnL>
                    <a:lnR w="12700" cmpd="sng">
                      <a:solidFill>
                        <a:srgbClr val="BABEC1"/>
                      </a:solidFill>
                      <a:prstDash val="solid"/>
                    </a:lnR>
                    <a:lnT w="12700" cmpd="sng">
                      <a:solidFill>
                        <a:srgbClr val="BABEC1"/>
                      </a:solidFill>
                      <a:prstDash val="solid"/>
                    </a:lnT>
                    <a:lnB w="12700" cmpd="sng">
                      <a:solidFill>
                        <a:srgbClr val="BABEC1"/>
                      </a:solidFill>
                      <a:prstDash val="solid"/>
                    </a:lnB>
                  </a:tcPr>
                </a:tc>
              </a:tr>
              <a:tr h="332647">
                <a:tc>
                  <a:txBody>
                    <a:bodyPr/>
                    <a:lstStyle/>
                    <a:p>
                      <a:pPr marL="0" indent="0">
                        <a:lnSpc>
                          <a:spcPts val="1680"/>
                        </a:lnSpc>
                        <a:buNone/>
                      </a:pPr>
                      <a:r>
                        <a:rPr sz="1200">
                          <a:solidFill>
                            <a:srgbClr val="16202E"/>
                          </a:solidFill>
                          <a:latin typeface="IBM Plex Sans"/>
                          <a:ea typeface="IBM Plex Sans"/>
                          <a:cs typeface="IBM Plex Sans"/>
                        </a:rPr>
                        <a:t>23 automated tests</a:t>
                      </a:r>
                      <a:endParaRPr sz="1200">
                        <a:latin typeface="IBM Plex Sans"/>
                        <a:ea typeface="IBM Plex Sans"/>
                        <a:cs typeface="IBM Plex Sans"/>
                      </a:endParaRPr>
                    </a:p>
                  </a:txBody>
                  <a:tcPr marL="53340" marR="53340" marT="53340" marB="53340">
                    <a:lnL w="12700" cmpd="sng">
                      <a:solidFill>
                        <a:srgbClr val="BABEC1"/>
                      </a:solidFill>
                      <a:prstDash val="solid"/>
                    </a:lnL>
                    <a:lnR w="12700" cmpd="sng">
                      <a:solidFill>
                        <a:srgbClr val="BABEC1"/>
                      </a:solidFill>
                      <a:prstDash val="solid"/>
                    </a:lnR>
                    <a:lnT w="12700" cmpd="sng">
                      <a:solidFill>
                        <a:srgbClr val="BABEC1"/>
                      </a:solidFill>
                      <a:prstDash val="solid"/>
                    </a:lnT>
                    <a:lnB w="12700" cmpd="sng">
                      <a:solidFill>
                        <a:srgbClr val="BABEC1"/>
                      </a:solidFill>
                      <a:prstDash val="solid"/>
                    </a:lnB>
                  </a:tcPr>
                </a:tc>
                <a:tc>
                  <a:txBody>
                    <a:bodyPr/>
                    <a:lstStyle/>
                    <a:p>
                      <a:pPr marL="0" marR="0" lvl="0" indent="0" algn="l" defTabSz="914400">
                        <a:lnSpc>
                          <a:spcPts val="1680"/>
                        </a:lnSpc>
                        <a:spcBef>
                          <a:spcPts val="0"/>
                        </a:spcBef>
                        <a:spcAft>
                          <a:spcPts val="0"/>
                        </a:spcAft>
                        <a:buClrTx/>
                        <a:buSzTx/>
                        <a:buFontTx/>
                        <a:buNone/>
                      </a:pPr>
                      <a:r>
                        <a:rPr sz="1200">
                          <a:latin typeface="IBM Plex Sans"/>
                          <a:ea typeface="IBM Plex Sans"/>
                          <a:cs typeface="IBM Plex Sans"/>
                        </a:rPr>
                        <a:t>Hew Kai Ling</a:t>
                      </a:r>
                      <a:endParaRPr sz="1200">
                        <a:latin typeface="IBM Plex Sans"/>
                        <a:ea typeface="IBM Plex Sans"/>
                        <a:cs typeface="IBM Plex Sans"/>
                      </a:endParaRPr>
                    </a:p>
                  </a:txBody>
                  <a:tcPr marL="53340" marR="53340" marT="53340" marB="53340">
                    <a:lnL w="12700" cmpd="sng">
                      <a:solidFill>
                        <a:srgbClr val="BABEC1"/>
                      </a:solidFill>
                      <a:prstDash val="solid"/>
                    </a:lnL>
                    <a:lnR w="12700" cmpd="sng">
                      <a:solidFill>
                        <a:srgbClr val="BABEC1"/>
                      </a:solidFill>
                      <a:prstDash val="solid"/>
                    </a:lnR>
                    <a:lnT w="12700" cmpd="sng">
                      <a:solidFill>
                        <a:srgbClr val="BABEC1"/>
                      </a:solidFill>
                      <a:prstDash val="solid"/>
                    </a:lnT>
                    <a:lnB w="12700" cmpd="sng">
                      <a:solidFill>
                        <a:srgbClr val="BABEC1"/>
                      </a:solidFill>
                      <a:prstDash val="solid"/>
                    </a:lnB>
                  </a:tcPr>
                </a:tc>
                <a:tc>
                  <a:txBody>
                    <a:bodyPr/>
                    <a:lstStyle/>
                    <a:p>
                      <a:pPr marL="0" indent="0">
                        <a:lnSpc>
                          <a:spcPts val="1680"/>
                        </a:lnSpc>
                        <a:buNone/>
                      </a:pPr>
                      <a:r>
                        <a:rPr sz="1200">
                          <a:solidFill>
                            <a:srgbClr val="2C5F8A"/>
                          </a:solidFill>
                          <a:latin typeface="IBM Plex Sans"/>
                          <a:ea typeface="IBM Plex Sans"/>
                          <a:cs typeface="IBM Plex Sans"/>
                        </a:rPr>
                        <a:t>Done</a:t>
                      </a:r>
                      <a:endParaRPr sz="1200">
                        <a:latin typeface="IBM Plex Sans"/>
                        <a:ea typeface="IBM Plex Sans"/>
                        <a:cs typeface="IBM Plex Sans"/>
                      </a:endParaRPr>
                    </a:p>
                  </a:txBody>
                  <a:tcPr marL="53340" marR="53340" marT="53340" marB="53340">
                    <a:lnL w="12700" cmpd="sng">
                      <a:solidFill>
                        <a:srgbClr val="BABEC1"/>
                      </a:solidFill>
                      <a:prstDash val="solid"/>
                    </a:lnL>
                    <a:lnR w="12700" cmpd="sng">
                      <a:solidFill>
                        <a:srgbClr val="BABEC1"/>
                      </a:solidFill>
                      <a:prstDash val="solid"/>
                    </a:lnR>
                    <a:lnT w="12700" cmpd="sng">
                      <a:solidFill>
                        <a:srgbClr val="BABEC1"/>
                      </a:solidFill>
                      <a:prstDash val="solid"/>
                    </a:lnT>
                    <a:lnB w="12700" cmpd="sng">
                      <a:solidFill>
                        <a:srgbClr val="BABEC1"/>
                      </a:solidFill>
                      <a:prstDash val="solid"/>
                    </a:lnB>
                  </a:tcPr>
                </a:tc>
              </a:tr>
            </a:tbl>
          </a:graphicData>
        </a:graphic>
      </p:graphicFrame>
      <p:graphicFrame>
        <p:nvGraphicFramePr>
          <p:cNvPr id="5" name="Table 1">
            <a:extLst xmlns:a="http://schemas.openxmlformats.org/drawingml/2006/main">
              <a:ext uri="{FF2B5EF4-FFF2-40B4-BE49-F238E27FC236}">
                <a16:creationId xmlns:a16="http://schemas.microsoft.com/office/drawing/2014/main" id="{751BEFA2-EDA1-4C44-90A4-F384FD7BD3C1}"/>
              </a:ext>
            </a:extLst>
          </p:cNvPr>
          <p:cNvGraphicFramePr/>
          <p:nvPr/>
        </p:nvGraphicFramePr>
        <p:xfrm>
          <a:off xmlns:a="http://schemas.openxmlformats.org/drawingml/2006/main" x="6235700" y="1836341"/>
          <a:ext xmlns:a="http://schemas.openxmlformats.org/drawingml/2006/main" cx="5143500" cy="3326470"/>
        </p:xfrm>
        <a:graphic xmlns:a="http://schemas.openxmlformats.org/drawingml/2006/main">
          <a:graphicData uri="http://schemas.openxmlformats.org/drawingml/2006/table">
            <a:tbl>
              <a:tblPr/>
              <a:tblGrid>
                <a:gridCol w="2983230"/>
                <a:gridCol w="1028700"/>
                <a:gridCol w="1131570"/>
              </a:tblGrid>
              <a:tr h="332647">
                <a:tc>
                  <a:txBody>
                    <a:bodyPr/>
                    <a:lstStyle/>
                    <a:p>
                      <a:pPr marL="0" indent="0">
                        <a:lnSpc>
                          <a:spcPts val="1680"/>
                        </a:lnSpc>
                        <a:buNone/>
                      </a:pPr>
                      <a:r>
                        <a:rPr sz="1200" b="1">
                          <a:solidFill>
                            <a:srgbClr val="16202E"/>
                          </a:solidFill>
                          <a:latin typeface="IBM Plex Sans"/>
                          <a:ea typeface="IBM Plex Sans"/>
                          <a:cs typeface="IBM Plex Sans"/>
                        </a:rPr>
                        <a:t>Feature</a:t>
                      </a:r>
                      <a:endParaRPr sz="1200">
                        <a:latin typeface="IBM Plex Sans"/>
                        <a:ea typeface="IBM Plex Sans"/>
                        <a:cs typeface="IBM Plex Sans"/>
                      </a:endParaRPr>
                    </a:p>
                  </a:txBody>
                  <a:tcPr marL="53340" marR="53340" marT="53340" marB="53340">
                    <a:lnL w="12700" cmpd="sng">
                      <a:solidFill>
                        <a:srgbClr val="BABEC1"/>
                      </a:solidFill>
                      <a:prstDash val="solid"/>
                    </a:lnL>
                    <a:lnR w="12700" cmpd="sng">
                      <a:solidFill>
                        <a:srgbClr val="ADB1B3"/>
                      </a:solidFill>
                      <a:prstDash val="solid"/>
                    </a:lnR>
                    <a:lnT w="12700" cmpd="sng">
                      <a:solidFill>
                        <a:srgbClr val="BABEC1"/>
                      </a:solidFill>
                      <a:prstDash val="solid"/>
                    </a:lnT>
                    <a:lnB w="12700" cmpd="sng">
                      <a:solidFill>
                        <a:srgbClr val="ADB1B3"/>
                      </a:solidFill>
                      <a:prstDash val="solid"/>
                    </a:lnB>
                    <a:solidFill>
                      <a:srgbClr val="D8DDE0"/>
                    </a:solidFill>
                  </a:tcPr>
                </a:tc>
                <a:tc>
                  <a:txBody>
                    <a:bodyPr/>
                    <a:lstStyle/>
                    <a:p>
                      <a:pPr marL="0" indent="0">
                        <a:lnSpc>
                          <a:spcPts val="1680"/>
                        </a:lnSpc>
                        <a:buNone/>
                      </a:pPr>
                      <a:r>
                        <a:rPr sz="1200" b="1">
                          <a:solidFill>
                            <a:srgbClr val="16202E"/>
                          </a:solidFill>
                          <a:latin typeface="IBM Plex Sans"/>
                          <a:ea typeface="IBM Plex Sans"/>
                          <a:cs typeface="IBM Plex Sans"/>
                        </a:rPr>
                        <a:t>Owner</a:t>
                      </a:r>
                      <a:endParaRPr sz="1200">
                        <a:latin typeface="IBM Plex Sans"/>
                        <a:ea typeface="IBM Plex Sans"/>
                        <a:cs typeface="IBM Plex Sans"/>
                      </a:endParaRPr>
                    </a:p>
                  </a:txBody>
                  <a:tcPr marL="53340" marR="53340" marT="53340" marB="53340">
                    <a:lnL w="12700" cmpd="sng">
                      <a:solidFill>
                        <a:srgbClr val="ADB1B3"/>
                      </a:solidFill>
                      <a:prstDash val="solid"/>
                    </a:lnL>
                    <a:lnR w="12700" cmpd="sng">
                      <a:solidFill>
                        <a:srgbClr val="ADB1B3"/>
                      </a:solidFill>
                      <a:prstDash val="solid"/>
                    </a:lnR>
                    <a:lnT w="12700" cmpd="sng">
                      <a:solidFill>
                        <a:srgbClr val="BABEC1"/>
                      </a:solidFill>
                      <a:prstDash val="solid"/>
                    </a:lnT>
                    <a:lnB w="12700" cmpd="sng">
                      <a:solidFill>
                        <a:srgbClr val="ADB1B3"/>
                      </a:solidFill>
                      <a:prstDash val="solid"/>
                    </a:lnB>
                    <a:solidFill>
                      <a:srgbClr val="D8DDE0"/>
                    </a:solidFill>
                  </a:tcPr>
                </a:tc>
                <a:tc>
                  <a:txBody>
                    <a:bodyPr/>
                    <a:lstStyle/>
                    <a:p>
                      <a:pPr marL="0" indent="0">
                        <a:lnSpc>
                          <a:spcPts val="1680"/>
                        </a:lnSpc>
                        <a:buNone/>
                      </a:pPr>
                      <a:r>
                        <a:rPr sz="1200" b="1">
                          <a:solidFill>
                            <a:srgbClr val="16202E"/>
                          </a:solidFill>
                          <a:latin typeface="IBM Plex Sans"/>
                          <a:ea typeface="IBM Plex Sans"/>
                          <a:cs typeface="IBM Plex Sans"/>
                        </a:rPr>
                        <a:t>Status</a:t>
                      </a:r>
                      <a:endParaRPr sz="1200">
                        <a:latin typeface="IBM Plex Sans"/>
                        <a:ea typeface="IBM Plex Sans"/>
                        <a:cs typeface="IBM Plex Sans"/>
                      </a:endParaRPr>
                    </a:p>
                  </a:txBody>
                  <a:tcPr marL="53340" marR="53340" marT="53340" marB="53340">
                    <a:lnL w="12700" cmpd="sng">
                      <a:solidFill>
                        <a:srgbClr val="ADB1B3"/>
                      </a:solidFill>
                      <a:prstDash val="solid"/>
                    </a:lnL>
                    <a:lnR w="12700" cmpd="sng">
                      <a:solidFill>
                        <a:srgbClr val="ADB1B3"/>
                      </a:solidFill>
                      <a:prstDash val="solid"/>
                    </a:lnR>
                    <a:lnT w="12700" cmpd="sng">
                      <a:solidFill>
                        <a:srgbClr val="BABEC1"/>
                      </a:solidFill>
                      <a:prstDash val="solid"/>
                    </a:lnT>
                    <a:lnB w="12700" cmpd="sng">
                      <a:solidFill>
                        <a:srgbClr val="ADB1B3"/>
                      </a:solidFill>
                      <a:prstDash val="solid"/>
                    </a:lnB>
                    <a:solidFill>
                      <a:srgbClr val="D8DDE0"/>
                    </a:solidFill>
                  </a:tcPr>
                </a:tc>
              </a:tr>
              <a:tr h="332647">
                <a:tc>
                  <a:txBody>
                    <a:bodyPr/>
                    <a:lstStyle/>
                    <a:p>
                      <a:pPr marL="0" indent="0">
                        <a:lnSpc>
                          <a:spcPts val="1680"/>
                        </a:lnSpc>
                        <a:buNone/>
                      </a:pPr>
                      <a:r>
                        <a:rPr sz="1200">
                          <a:solidFill>
                            <a:srgbClr val="16202E"/>
                          </a:solidFill>
                          <a:latin typeface="IBM Plex Sans"/>
                          <a:ea typeface="IBM Plex Sans"/>
                          <a:cs typeface="IBM Plex Sans"/>
                        </a:rPr>
                        <a:t>Held-out request set</a:t>
                      </a:r>
                      <a:endParaRPr sz="1200">
                        <a:latin typeface="IBM Plex Sans"/>
                        <a:ea typeface="IBM Plex Sans"/>
                        <a:cs typeface="IBM Plex Sans"/>
                      </a:endParaRPr>
                    </a:p>
                  </a:txBody>
                  <a:tcPr marL="53340" marR="53340" marT="53340" marB="53340">
                    <a:lnL w="12700" cmpd="sng">
                      <a:solidFill>
                        <a:srgbClr val="BABEC1"/>
                      </a:solidFill>
                      <a:prstDash val="solid"/>
                    </a:lnL>
                    <a:lnR w="12700" cmpd="sng">
                      <a:solidFill>
                        <a:srgbClr val="BABEC1"/>
                      </a:solidFill>
                      <a:prstDash val="solid"/>
                    </a:lnR>
                    <a:lnT w="12700" cmpd="sng">
                      <a:solidFill>
                        <a:srgbClr val="ADB1B3"/>
                      </a:solidFill>
                      <a:prstDash val="solid"/>
                    </a:lnT>
                    <a:lnB w="12700" cmpd="sng">
                      <a:solidFill>
                        <a:srgbClr val="BABEC1"/>
                      </a:solidFill>
                      <a:prstDash val="solid"/>
                    </a:lnB>
                  </a:tcPr>
                </a:tc>
                <a:tc>
                  <a:txBody>
                    <a:bodyPr/>
                    <a:lstStyle/>
                    <a:p>
                      <a:pPr marL="0" indent="0">
                        <a:lnSpc>
                          <a:spcPts val="1680"/>
                        </a:lnSpc>
                        <a:buNone/>
                      </a:pPr>
                      <a:r>
                        <a:t>Ge Yuzi</a:t>
                      </a:r>
                      <a:endParaRPr sz="1200">
                        <a:latin typeface="IBM Plex Sans"/>
                        <a:ea typeface="IBM Plex Sans"/>
                        <a:cs typeface="IBM Plex Sans"/>
                      </a:endParaRPr>
                    </a:p>
                  </a:txBody>
                  <a:tcPr marL="53340" marR="53340" marT="53340" marB="53340">
                    <a:lnL w="12700" cmpd="sng">
                      <a:solidFill>
                        <a:srgbClr val="BABEC1"/>
                      </a:solidFill>
                      <a:prstDash val="solid"/>
                    </a:lnL>
                    <a:lnR w="12700" cmpd="sng">
                      <a:solidFill>
                        <a:srgbClr val="BABEC1"/>
                      </a:solidFill>
                      <a:prstDash val="solid"/>
                    </a:lnR>
                    <a:lnT w="12700" cmpd="sng">
                      <a:solidFill>
                        <a:srgbClr val="ADB1B3"/>
                      </a:solidFill>
                      <a:prstDash val="solid"/>
                    </a:lnT>
                    <a:lnB w="12700" cmpd="sng">
                      <a:solidFill>
                        <a:srgbClr val="BABEC1"/>
                      </a:solidFill>
                      <a:prstDash val="solid"/>
                    </a:lnB>
                  </a:tcPr>
                </a:tc>
                <a:tc>
                  <a:txBody>
                    <a:bodyPr/>
                    <a:lstStyle/>
                    <a:p>
                      <a:pPr marL="0" indent="0">
                        <a:lnSpc>
                          <a:spcPts val="1680"/>
                        </a:lnSpc>
                        <a:buNone/>
                      </a:pPr>
                      <a:r>
                        <a:rPr sz="1200">
                          <a:solidFill>
                            <a:srgbClr val="A84A14"/>
                          </a:solidFill>
                          <a:latin typeface="IBM Plex Sans"/>
                          <a:ea typeface="IBM Plex Sans"/>
                          <a:cs typeface="IBM Plex Sans"/>
                        </a:rPr>
                        <a:t>Done</a:t>
                      </a:r>
                      <a:endParaRPr sz="1200">
                        <a:latin typeface="IBM Plex Sans"/>
                        <a:ea typeface="IBM Plex Sans"/>
                        <a:cs typeface="IBM Plex Sans"/>
                      </a:endParaRPr>
                    </a:p>
                  </a:txBody>
                  <a:tcPr marL="53340" marR="53340" marT="53340" marB="53340">
                    <a:lnL w="12700" cmpd="sng">
                      <a:solidFill>
                        <a:srgbClr val="BABEC1"/>
                      </a:solidFill>
                      <a:prstDash val="solid"/>
                    </a:lnL>
                    <a:lnR w="12700" cmpd="sng">
                      <a:solidFill>
                        <a:srgbClr val="BABEC1"/>
                      </a:solidFill>
                      <a:prstDash val="solid"/>
                    </a:lnR>
                    <a:lnT w="12700" cmpd="sng">
                      <a:solidFill>
                        <a:srgbClr val="ADB1B3"/>
                      </a:solidFill>
                      <a:prstDash val="solid"/>
                    </a:lnT>
                    <a:lnB w="12700" cmpd="sng">
                      <a:solidFill>
                        <a:srgbClr val="BABEC1"/>
                      </a:solidFill>
                      <a:prstDash val="solid"/>
                    </a:lnB>
                  </a:tcPr>
                </a:tc>
              </a:tr>
              <a:tr h="332647">
                <a:tc>
                  <a:txBody>
                    <a:bodyPr/>
                    <a:lstStyle/>
                    <a:p>
                      <a:pPr marL="0" indent="0">
                        <a:lnSpc>
                          <a:spcPts val="1680"/>
                        </a:lnSpc>
                        <a:buNone/>
                      </a:pPr>
                      <a:r>
                        <a:rPr sz="1200">
                          <a:solidFill>
                            <a:srgbClr val="16202E"/>
                          </a:solidFill>
                          <a:latin typeface="IBM Plex Sans"/>
                          <a:ea typeface="IBM Plex Sans"/>
                          <a:cs typeface="IBM Plex Sans"/>
                        </a:rPr>
                        <a:t>Defects within lateness guardrail</a:t>
                      </a:r>
                      <a:endParaRPr sz="1200">
                        <a:latin typeface="IBM Plex Sans"/>
                        <a:ea typeface="IBM Plex Sans"/>
                        <a:cs typeface="IBM Plex Sans"/>
                      </a:endParaRPr>
                    </a:p>
                  </a:txBody>
                  <a:tcPr marL="53340" marR="53340" marT="53340" marB="53340">
                    <a:lnL w="12700" cmpd="sng">
                      <a:solidFill>
                        <a:srgbClr val="BABEC1"/>
                      </a:solidFill>
                      <a:prstDash val="solid"/>
                    </a:lnL>
                    <a:lnR w="12700" cmpd="sng">
                      <a:solidFill>
                        <a:srgbClr val="BABEC1"/>
                      </a:solidFill>
                      <a:prstDash val="solid"/>
                    </a:lnR>
                    <a:lnT w="12700" cmpd="sng">
                      <a:solidFill>
                        <a:srgbClr val="BABEC1"/>
                      </a:solidFill>
                      <a:prstDash val="solid"/>
                    </a:lnT>
                    <a:lnB w="12700" cmpd="sng">
                      <a:solidFill>
                        <a:srgbClr val="BABEC1"/>
                      </a:solidFill>
                      <a:prstDash val="solid"/>
                    </a:lnB>
                  </a:tcPr>
                </a:tc>
                <a:tc>
                  <a:txBody>
                    <a:bodyPr/>
                    <a:lstStyle/>
                    <a:p>
                      <a:pPr marL="0" indent="0">
                        <a:lnSpc>
                          <a:spcPts val="1680"/>
                        </a:lnSpc>
                        <a:buNone/>
                      </a:pPr>
                      <a:endParaRPr sz="1200">
                        <a:latin typeface="IBM Plex Sans"/>
                        <a:ea typeface="IBM Plex Sans"/>
                        <a:cs typeface="IBM Plex Sans"/>
                      </a:endParaRPr>
                    </a:p>
                  </a:txBody>
                  <a:tcPr marL="53340" marR="53340" marT="53340" marB="53340">
                    <a:lnL w="12700" cmpd="sng">
                      <a:solidFill>
                        <a:srgbClr val="BABEC1"/>
                      </a:solidFill>
                      <a:prstDash val="solid"/>
                    </a:lnL>
                    <a:lnR w="12700" cmpd="sng">
                      <a:solidFill>
                        <a:srgbClr val="BABEC1"/>
                      </a:solidFill>
                      <a:prstDash val="solid"/>
                    </a:lnR>
                    <a:lnT w="12700" cmpd="sng">
                      <a:solidFill>
                        <a:srgbClr val="BABEC1"/>
                      </a:solidFill>
                      <a:prstDash val="solid"/>
                    </a:lnT>
                    <a:lnB w="12700" cmpd="sng">
                      <a:solidFill>
                        <a:srgbClr val="BABEC1"/>
                      </a:solidFill>
                      <a:prstDash val="solid"/>
                    </a:lnB>
                  </a:tcPr>
                </a:tc>
                <a:tc>
                  <a:txBody>
                    <a:bodyPr/>
                    <a:lstStyle/>
                    <a:p>
                      <a:pPr marL="0" indent="0">
                        <a:lnSpc>
                          <a:spcPts val="1680"/>
                        </a:lnSpc>
                        <a:buNone/>
                      </a:pPr>
                      <a:r>
                        <a:rPr sz="1200">
                          <a:solidFill>
                            <a:srgbClr val="A84A14"/>
                          </a:solidFill>
                          <a:latin typeface="IBM Plex Sans"/>
                          <a:ea typeface="IBM Plex Sans"/>
                          <a:cs typeface="IBM Plex Sans"/>
                        </a:rPr>
                        <a:t>In progress</a:t>
                      </a:r>
                      <a:endParaRPr sz="1200">
                        <a:latin typeface="IBM Plex Sans"/>
                        <a:ea typeface="IBM Plex Sans"/>
                        <a:cs typeface="IBM Plex Sans"/>
                      </a:endParaRPr>
                    </a:p>
                  </a:txBody>
                  <a:tcPr marL="53340" marR="53340" marT="53340" marB="53340">
                    <a:lnL w="12700" cmpd="sng">
                      <a:solidFill>
                        <a:srgbClr val="BABEC1"/>
                      </a:solidFill>
                      <a:prstDash val="solid"/>
                    </a:lnL>
                    <a:lnR w="12700" cmpd="sng">
                      <a:solidFill>
                        <a:srgbClr val="BABEC1"/>
                      </a:solidFill>
                      <a:prstDash val="solid"/>
                    </a:lnR>
                    <a:lnT w="12700" cmpd="sng">
                      <a:solidFill>
                        <a:srgbClr val="BABEC1"/>
                      </a:solidFill>
                      <a:prstDash val="solid"/>
                    </a:lnT>
                    <a:lnB w="12700" cmpd="sng">
                      <a:solidFill>
                        <a:srgbClr val="BABEC1"/>
                      </a:solidFill>
                      <a:prstDash val="solid"/>
                    </a:lnB>
                  </a:tcPr>
                </a:tc>
              </a:tr>
              <a:tr h="332647">
                <a:tc>
                  <a:txBody>
                    <a:bodyPr/>
                    <a:lstStyle/>
                    <a:p>
                      <a:pPr marL="0" indent="0">
                        <a:lnSpc>
                          <a:spcPts val="1680"/>
                        </a:lnSpc>
                        <a:buNone/>
                      </a:pPr>
                      <a:r>
                        <a:rPr sz="1200">
                          <a:solidFill>
                            <a:srgbClr val="16202E"/>
                          </a:solidFill>
                          <a:latin typeface="IBM Plex Sans"/>
                          <a:ea typeface="IBM Plex Sans"/>
                          <a:cs typeface="IBM Plex Sans"/>
                        </a:rPr>
                        <a:t>Lateness–defects sweep</a:t>
                      </a:r>
                      <a:endParaRPr sz="1200">
                        <a:latin typeface="IBM Plex Sans"/>
                        <a:ea typeface="IBM Plex Sans"/>
                        <a:cs typeface="IBM Plex Sans"/>
                      </a:endParaRPr>
                    </a:p>
                  </a:txBody>
                  <a:tcPr marL="53340" marR="53340" marT="53340" marB="53340">
                    <a:lnL w="12700" cmpd="sng">
                      <a:solidFill>
                        <a:srgbClr val="BABEC1"/>
                      </a:solidFill>
                      <a:prstDash val="solid"/>
                    </a:lnL>
                    <a:lnR w="12700" cmpd="sng">
                      <a:solidFill>
                        <a:srgbClr val="BABEC1"/>
                      </a:solidFill>
                      <a:prstDash val="solid"/>
                    </a:lnR>
                    <a:lnT w="12700" cmpd="sng">
                      <a:solidFill>
                        <a:srgbClr val="BABEC1"/>
                      </a:solidFill>
                      <a:prstDash val="solid"/>
                    </a:lnT>
                    <a:lnB w="12700" cmpd="sng">
                      <a:solidFill>
                        <a:srgbClr val="BABEC1"/>
                      </a:solidFill>
                      <a:prstDash val="solid"/>
                    </a:lnB>
                  </a:tcPr>
                </a:tc>
                <a:tc>
                  <a:txBody>
                    <a:bodyPr/>
                    <a:lstStyle/>
                    <a:p>
                      <a:pPr marL="0" indent="0">
                        <a:lnSpc>
                          <a:spcPts val="1680"/>
                        </a:lnSpc>
                        <a:buNone/>
                      </a:pPr>
                      <a:endParaRPr sz="1200">
                        <a:latin typeface="IBM Plex Sans"/>
                        <a:ea typeface="IBM Plex Sans"/>
                        <a:cs typeface="IBM Plex Sans"/>
                      </a:endParaRPr>
                    </a:p>
                  </a:txBody>
                  <a:tcPr marL="53340" marR="53340" marT="53340" marB="53340">
                    <a:lnL w="12700" cmpd="sng">
                      <a:solidFill>
                        <a:srgbClr val="BABEC1"/>
                      </a:solidFill>
                      <a:prstDash val="solid"/>
                    </a:lnL>
                    <a:lnR w="12700" cmpd="sng">
                      <a:solidFill>
                        <a:srgbClr val="BABEC1"/>
                      </a:solidFill>
                      <a:prstDash val="solid"/>
                    </a:lnR>
                    <a:lnT w="12700" cmpd="sng">
                      <a:solidFill>
                        <a:srgbClr val="BABEC1"/>
                      </a:solidFill>
                      <a:prstDash val="solid"/>
                    </a:lnT>
                    <a:lnB w="12700" cmpd="sng">
                      <a:solidFill>
                        <a:srgbClr val="BABEC1"/>
                      </a:solidFill>
                      <a:prstDash val="solid"/>
                    </a:lnB>
                  </a:tcPr>
                </a:tc>
                <a:tc>
                  <a:txBody>
                    <a:bodyPr/>
                    <a:lstStyle/>
                    <a:p>
                      <a:pPr marL="0" indent="0">
                        <a:lnSpc>
                          <a:spcPts val="1680"/>
                        </a:lnSpc>
                        <a:buNone/>
                      </a:pPr>
                      <a:r>
                        <a:rPr sz="1200">
                          <a:solidFill>
                            <a:srgbClr val="A84A14"/>
                          </a:solidFill>
                          <a:latin typeface="IBM Plex Sans"/>
                          <a:ea typeface="IBM Plex Sans"/>
                          <a:cs typeface="IBM Plex Sans"/>
                        </a:rPr>
                        <a:t>In progress</a:t>
                      </a:r>
                      <a:endParaRPr sz="1200">
                        <a:latin typeface="IBM Plex Sans"/>
                        <a:ea typeface="IBM Plex Sans"/>
                        <a:cs typeface="IBM Plex Sans"/>
                      </a:endParaRPr>
                    </a:p>
                  </a:txBody>
                  <a:tcPr marL="53340" marR="53340" marT="53340" marB="53340">
                    <a:lnL w="12700" cmpd="sng">
                      <a:solidFill>
                        <a:srgbClr val="BABEC1"/>
                      </a:solidFill>
                      <a:prstDash val="solid"/>
                    </a:lnL>
                    <a:lnR w="12700" cmpd="sng">
                      <a:solidFill>
                        <a:srgbClr val="BABEC1"/>
                      </a:solidFill>
                      <a:prstDash val="solid"/>
                    </a:lnR>
                    <a:lnT w="12700" cmpd="sng">
                      <a:solidFill>
                        <a:srgbClr val="BABEC1"/>
                      </a:solidFill>
                      <a:prstDash val="solid"/>
                    </a:lnT>
                    <a:lnB w="12700" cmpd="sng">
                      <a:solidFill>
                        <a:srgbClr val="BABEC1"/>
                      </a:solidFill>
                      <a:prstDash val="solid"/>
                    </a:lnB>
                  </a:tcPr>
                </a:tc>
              </a:tr>
              <a:tr h="332647">
                <a:tc>
                  <a:txBody>
                    <a:bodyPr/>
                    <a:lstStyle/>
                    <a:p>
                      <a:pPr marL="0" indent="0">
                        <a:lnSpc>
                          <a:spcPts val="1680"/>
                        </a:lnSpc>
                        <a:buNone/>
                      </a:pPr>
                      <a:r>
                        <a:rPr sz="1200">
                          <a:solidFill>
                            <a:srgbClr val="16202E"/>
                          </a:solidFill>
                          <a:latin typeface="IBM Plex Sans"/>
                          <a:ea typeface="IBM Plex Sans"/>
                          <a:cs typeface="IBM Plex Sans"/>
                        </a:rPr>
                        <a:t>Second check of the 30 labels</a:t>
                      </a:r>
                      <a:endParaRPr sz="1200">
                        <a:latin typeface="IBM Plex Sans"/>
                        <a:ea typeface="IBM Plex Sans"/>
                        <a:cs typeface="IBM Plex Sans"/>
                      </a:endParaRPr>
                    </a:p>
                  </a:txBody>
                  <a:tcPr marL="53340" marR="53340" marT="53340" marB="53340">
                    <a:lnL w="12700" cmpd="sng">
                      <a:solidFill>
                        <a:srgbClr val="BABEC1"/>
                      </a:solidFill>
                      <a:prstDash val="solid"/>
                    </a:lnL>
                    <a:lnR w="12700" cmpd="sng">
                      <a:solidFill>
                        <a:srgbClr val="BABEC1"/>
                      </a:solidFill>
                      <a:prstDash val="solid"/>
                    </a:lnR>
                    <a:lnT w="12700" cmpd="sng">
                      <a:solidFill>
                        <a:srgbClr val="BABEC1"/>
                      </a:solidFill>
                      <a:prstDash val="solid"/>
                    </a:lnT>
                    <a:lnB w="12700" cmpd="sng">
                      <a:solidFill>
                        <a:srgbClr val="BABEC1"/>
                      </a:solidFill>
                      <a:prstDash val="solid"/>
                    </a:lnB>
                  </a:tcPr>
                </a:tc>
                <a:tc>
                  <a:txBody>
                    <a:bodyPr/>
                    <a:lstStyle/>
                    <a:p>
                      <a:pPr marL="0" indent="0">
                        <a:lnSpc>
                          <a:spcPts val="1680"/>
                        </a:lnSpc>
                        <a:buNone/>
                      </a:pPr>
                      <a:r>
                        <a:t>Ge Yuzi</a:t>
                      </a:r>
                      <a:endParaRPr sz="1200">
                        <a:latin typeface="IBM Plex Sans"/>
                        <a:ea typeface="IBM Plex Sans"/>
                        <a:cs typeface="IBM Plex Sans"/>
                      </a:endParaRPr>
                    </a:p>
                  </a:txBody>
                  <a:tcPr marL="53340" marR="53340" marT="53340" marB="53340">
                    <a:lnL w="12700" cmpd="sng">
                      <a:solidFill>
                        <a:srgbClr val="BABEC1"/>
                      </a:solidFill>
                      <a:prstDash val="solid"/>
                    </a:lnL>
                    <a:lnR w="12700" cmpd="sng">
                      <a:solidFill>
                        <a:srgbClr val="BABEC1"/>
                      </a:solidFill>
                      <a:prstDash val="solid"/>
                    </a:lnR>
                    <a:lnT w="12700" cmpd="sng">
                      <a:solidFill>
                        <a:srgbClr val="BABEC1"/>
                      </a:solidFill>
                      <a:prstDash val="solid"/>
                    </a:lnT>
                    <a:lnB w="12700" cmpd="sng">
                      <a:solidFill>
                        <a:srgbClr val="BABEC1"/>
                      </a:solidFill>
                      <a:prstDash val="solid"/>
                    </a:lnB>
                  </a:tcPr>
                </a:tc>
                <a:tc>
                  <a:txBody>
                    <a:bodyPr/>
                    <a:lstStyle/>
                    <a:p>
                      <a:pPr marL="0" indent="0">
                        <a:lnSpc>
                          <a:spcPts val="1680"/>
                        </a:lnSpc>
                        <a:buNone/>
                      </a:pPr>
                      <a:r>
                        <a:rPr sz="1200">
                          <a:solidFill>
                            <a:srgbClr val="A84A14"/>
                          </a:solidFill>
                          <a:latin typeface="IBM Plex Sans"/>
                          <a:ea typeface="IBM Plex Sans"/>
                          <a:cs typeface="IBM Plex Sans"/>
                        </a:rPr>
                        <a:t>Done</a:t>
                      </a:r>
                      <a:endParaRPr sz="1200">
                        <a:latin typeface="IBM Plex Sans"/>
                        <a:ea typeface="IBM Plex Sans"/>
                        <a:cs typeface="IBM Plex Sans"/>
                      </a:endParaRPr>
                    </a:p>
                  </a:txBody>
                  <a:tcPr marL="53340" marR="53340" marT="53340" marB="53340">
                    <a:lnL w="12700" cmpd="sng">
                      <a:solidFill>
                        <a:srgbClr val="BABEC1"/>
                      </a:solidFill>
                      <a:prstDash val="solid"/>
                    </a:lnL>
                    <a:lnR w="12700" cmpd="sng">
                      <a:solidFill>
                        <a:srgbClr val="BABEC1"/>
                      </a:solidFill>
                      <a:prstDash val="solid"/>
                    </a:lnR>
                    <a:lnT w="12700" cmpd="sng">
                      <a:solidFill>
                        <a:srgbClr val="BABEC1"/>
                      </a:solidFill>
                      <a:prstDash val="solid"/>
                    </a:lnT>
                    <a:lnB w="12700" cmpd="sng">
                      <a:solidFill>
                        <a:srgbClr val="BABEC1"/>
                      </a:solidFill>
                      <a:prstDash val="solid"/>
                    </a:lnB>
                  </a:tcPr>
                </a:tc>
              </a:tr>
              <a:tr h="332647">
                <a:tc>
                  <a:txBody>
                    <a:bodyPr/>
                    <a:lstStyle/>
                    <a:p>
                      <a:pPr marL="0" indent="0">
                        <a:lnSpc>
                          <a:spcPts val="1680"/>
                        </a:lnSpc>
                        <a:buNone/>
                      </a:pPr>
                      <a:r>
                        <a:rPr sz="1200">
                          <a:solidFill>
                            <a:srgbClr val="16202E"/>
                          </a:solidFill>
                          <a:latin typeface="IBM Plex Sans"/>
                          <a:ea typeface="IBM Plex Sans"/>
                          <a:cs typeface="IBM Plex Sans"/>
                        </a:rPr>
                        <a:t>Delivery estimates vs simulator</a:t>
                      </a:r>
                      <a:endParaRPr sz="1200">
                        <a:latin typeface="IBM Plex Sans"/>
                        <a:ea typeface="IBM Plex Sans"/>
                        <a:cs typeface="IBM Plex Sans"/>
                      </a:endParaRPr>
                    </a:p>
                  </a:txBody>
                  <a:tcPr marL="53340" marR="53340" marT="53340" marB="53340">
                    <a:lnL w="12700" cmpd="sng">
                      <a:solidFill>
                        <a:srgbClr val="BABEC1"/>
                      </a:solidFill>
                      <a:prstDash val="solid"/>
                    </a:lnL>
                    <a:lnR w="12700" cmpd="sng">
                      <a:solidFill>
                        <a:srgbClr val="BABEC1"/>
                      </a:solidFill>
                      <a:prstDash val="solid"/>
                    </a:lnR>
                    <a:lnT w="12700" cmpd="sng">
                      <a:solidFill>
                        <a:srgbClr val="BABEC1"/>
                      </a:solidFill>
                      <a:prstDash val="solid"/>
                    </a:lnT>
                    <a:lnB w="12700" cmpd="sng">
                      <a:solidFill>
                        <a:srgbClr val="BABEC1"/>
                      </a:solidFill>
                      <a:prstDash val="solid"/>
                    </a:lnB>
                  </a:tcPr>
                </a:tc>
                <a:tc>
                  <a:txBody>
                    <a:bodyPr/>
                    <a:lstStyle/>
                    <a:p>
                      <a:pPr marL="0" indent="0">
                        <a:lnSpc>
                          <a:spcPts val="1680"/>
                        </a:lnSpc>
                        <a:buNone/>
                      </a:pPr>
                      <a:endParaRPr sz="1200">
                        <a:latin typeface="IBM Plex Sans"/>
                        <a:ea typeface="IBM Plex Sans"/>
                        <a:cs typeface="IBM Plex Sans"/>
                      </a:endParaRPr>
                    </a:p>
                  </a:txBody>
                  <a:tcPr marL="53340" marR="53340" marT="53340" marB="53340">
                    <a:lnL w="12700" cmpd="sng">
                      <a:solidFill>
                        <a:srgbClr val="BABEC1"/>
                      </a:solidFill>
                      <a:prstDash val="solid"/>
                    </a:lnL>
                    <a:lnR w="12700" cmpd="sng">
                      <a:solidFill>
                        <a:srgbClr val="BABEC1"/>
                      </a:solidFill>
                      <a:prstDash val="solid"/>
                    </a:lnR>
                    <a:lnT w="12700" cmpd="sng">
                      <a:solidFill>
                        <a:srgbClr val="BABEC1"/>
                      </a:solidFill>
                      <a:prstDash val="solid"/>
                    </a:lnT>
                    <a:lnB w="12700" cmpd="sng">
                      <a:solidFill>
                        <a:srgbClr val="BABEC1"/>
                      </a:solidFill>
                      <a:prstDash val="solid"/>
                    </a:lnB>
                  </a:tcPr>
                </a:tc>
                <a:tc>
                  <a:txBody>
                    <a:bodyPr/>
                    <a:lstStyle/>
                    <a:p>
                      <a:pPr marL="0" marR="0" lvl="0" indent="0" algn="l" defTabSz="914400">
                        <a:lnSpc>
                          <a:spcPts val="1680"/>
                        </a:lnSpc>
                        <a:spcBef>
                          <a:spcPts val="0"/>
                        </a:spcBef>
                        <a:spcAft>
                          <a:spcPts val="0"/>
                        </a:spcAft>
                        <a:buClrTx/>
                        <a:buSzTx/>
                        <a:buFontTx/>
                        <a:buNone/>
                      </a:pPr>
                      <a:r>
                        <a:rPr sz="1200">
                          <a:solidFill>
                            <a:srgbClr val="A84A14"/>
                          </a:solidFill>
                          <a:latin typeface="IBM Plex Sans"/>
                          <a:ea typeface="IBM Plex Sans"/>
                          <a:cs typeface="IBM Plex Sans"/>
                        </a:rPr>
                        <a:t>In progress</a:t>
                      </a:r>
                      <a:endParaRPr sz="1200">
                        <a:latin typeface="IBM Plex Sans"/>
                        <a:ea typeface="IBM Plex Sans"/>
                        <a:cs typeface="IBM Plex Sans"/>
                      </a:endParaRPr>
                    </a:p>
                  </a:txBody>
                  <a:tcPr marL="53340" marR="53340" marT="53340" marB="53340">
                    <a:lnL w="12700" cmpd="sng">
                      <a:solidFill>
                        <a:srgbClr val="BABEC1"/>
                      </a:solidFill>
                      <a:prstDash val="solid"/>
                    </a:lnL>
                    <a:lnR w="12700" cmpd="sng">
                      <a:solidFill>
                        <a:srgbClr val="BABEC1"/>
                      </a:solidFill>
                      <a:prstDash val="solid"/>
                    </a:lnR>
                    <a:lnT w="12700" cmpd="sng">
                      <a:solidFill>
                        <a:srgbClr val="BABEC1"/>
                      </a:solidFill>
                      <a:prstDash val="solid"/>
                    </a:lnT>
                    <a:lnB w="12700" cmpd="sng">
                      <a:solidFill>
                        <a:srgbClr val="BABEC1"/>
                      </a:solidFill>
                      <a:prstDash val="solid"/>
                    </a:lnB>
                  </a:tcPr>
                </a:tc>
              </a:tr>
              <a:tr h="332647">
                <a:tc>
                  <a:txBody>
                    <a:bodyPr/>
                    <a:lstStyle/>
                    <a:p>
                      <a:pPr marL="0" indent="0">
                        <a:lnSpc>
                          <a:spcPts val="1680"/>
                        </a:lnSpc>
                        <a:buNone/>
                      </a:pPr>
                      <a:r>
                        <a:rPr sz="1200">
                          <a:solidFill>
                            <a:srgbClr val="16202E"/>
                          </a:solidFill>
                          <a:latin typeface="IBM Plex Sans"/>
                          <a:ea typeface="IBM Plex Sans"/>
                          <a:cs typeface="IBM Plex Sans"/>
                        </a:rPr>
                        <a:t>Stricter number-trace check</a:t>
                      </a:r>
                      <a:endParaRPr sz="1200">
                        <a:latin typeface="IBM Plex Sans"/>
                        <a:ea typeface="IBM Plex Sans"/>
                        <a:cs typeface="IBM Plex Sans"/>
                      </a:endParaRPr>
                    </a:p>
                  </a:txBody>
                  <a:tcPr marL="53340" marR="53340" marT="53340" marB="53340">
                    <a:lnL w="12700" cmpd="sng">
                      <a:solidFill>
                        <a:srgbClr val="BABEC1"/>
                      </a:solidFill>
                      <a:prstDash val="solid"/>
                    </a:lnL>
                    <a:lnR w="12700" cmpd="sng">
                      <a:solidFill>
                        <a:srgbClr val="BABEC1"/>
                      </a:solidFill>
                      <a:prstDash val="solid"/>
                    </a:lnR>
                    <a:lnT w="12700" cmpd="sng">
                      <a:solidFill>
                        <a:srgbClr val="BABEC1"/>
                      </a:solidFill>
                      <a:prstDash val="solid"/>
                    </a:lnT>
                    <a:lnB w="12700" cmpd="sng">
                      <a:solidFill>
                        <a:srgbClr val="BABEC1"/>
                      </a:solidFill>
                      <a:prstDash val="solid"/>
                    </a:lnB>
                  </a:tcPr>
                </a:tc>
                <a:tc>
                  <a:txBody>
                    <a:bodyPr/>
                    <a:lstStyle/>
                    <a:p>
                      <a:pPr marL="0" indent="0">
                        <a:lnSpc>
                          <a:spcPts val="1680"/>
                        </a:lnSpc>
                        <a:buNone/>
                      </a:pPr>
                      <a:r>
                        <a:t>Ge Yuzi</a:t>
                      </a:r>
                      <a:endParaRPr sz="1200">
                        <a:latin typeface="IBM Plex Sans"/>
                        <a:ea typeface="IBM Plex Sans"/>
                        <a:cs typeface="IBM Plex Sans"/>
                      </a:endParaRPr>
                    </a:p>
                  </a:txBody>
                  <a:tcPr marL="53340" marR="53340" marT="53340" marB="53340">
                    <a:lnL w="12700" cmpd="sng">
                      <a:solidFill>
                        <a:srgbClr val="BABEC1"/>
                      </a:solidFill>
                      <a:prstDash val="solid"/>
                    </a:lnL>
                    <a:lnR w="12700" cmpd="sng">
                      <a:solidFill>
                        <a:srgbClr val="BABEC1"/>
                      </a:solidFill>
                      <a:prstDash val="solid"/>
                    </a:lnR>
                    <a:lnT w="12700" cmpd="sng">
                      <a:solidFill>
                        <a:srgbClr val="BABEC1"/>
                      </a:solidFill>
                      <a:prstDash val="solid"/>
                    </a:lnT>
                    <a:lnB w="12700" cmpd="sng">
                      <a:solidFill>
                        <a:srgbClr val="BABEC1"/>
                      </a:solidFill>
                      <a:prstDash val="solid"/>
                    </a:lnB>
                  </a:tcPr>
                </a:tc>
                <a:tc>
                  <a:txBody>
                    <a:bodyPr/>
                    <a:lstStyle/>
                    <a:p>
                      <a:pPr marL="0" marR="0" lvl="0" indent="0" algn="l" defTabSz="914400">
                        <a:lnSpc>
                          <a:spcPts val="1680"/>
                        </a:lnSpc>
                        <a:spcBef>
                          <a:spcPts val="0"/>
                        </a:spcBef>
                        <a:spcAft>
                          <a:spcPts val="0"/>
                        </a:spcAft>
                        <a:buClrTx/>
                        <a:buSzTx/>
                        <a:buFontTx/>
                        <a:buNone/>
                      </a:pPr>
                      <a:r>
                        <a:rPr sz="1200">
                          <a:solidFill>
                            <a:srgbClr val="A84A14"/>
                          </a:solidFill>
                          <a:latin typeface="IBM Plex Sans"/>
                          <a:ea typeface="IBM Plex Sans"/>
                          <a:cs typeface="IBM Plex Sans"/>
                        </a:rPr>
                        <a:t>Done</a:t>
                      </a:r>
                      <a:endParaRPr sz="1200">
                        <a:latin typeface="IBM Plex Sans"/>
                        <a:ea typeface="IBM Plex Sans"/>
                        <a:cs typeface="IBM Plex Sans"/>
                      </a:endParaRPr>
                    </a:p>
                  </a:txBody>
                  <a:tcPr marL="53340" marR="53340" marT="53340" marB="53340">
                    <a:lnL w="12700" cmpd="sng">
                      <a:solidFill>
                        <a:srgbClr val="BABEC1"/>
                      </a:solidFill>
                      <a:prstDash val="solid"/>
                    </a:lnL>
                    <a:lnR w="12700" cmpd="sng">
                      <a:solidFill>
                        <a:srgbClr val="BABEC1"/>
                      </a:solidFill>
                      <a:prstDash val="solid"/>
                    </a:lnR>
                    <a:lnT w="12700" cmpd="sng">
                      <a:solidFill>
                        <a:srgbClr val="BABEC1"/>
                      </a:solidFill>
                      <a:prstDash val="solid"/>
                    </a:lnT>
                    <a:lnB w="12700" cmpd="sng">
                      <a:solidFill>
                        <a:srgbClr val="BABEC1"/>
                      </a:solidFill>
                      <a:prstDash val="solid"/>
                    </a:lnB>
                  </a:tcPr>
                </a:tc>
              </a:tr>
              <a:tr h="332647">
                <a:tc>
                  <a:txBody>
                    <a:bodyPr/>
                    <a:lstStyle/>
                    <a:p>
                      <a:pPr marL="0" indent="0">
                        <a:lnSpc>
                          <a:spcPts val="1680"/>
                        </a:lnSpc>
                        <a:buNone/>
                      </a:pPr>
                      <a:r>
                        <a:rPr sz="1200">
                          <a:solidFill>
                            <a:srgbClr val="16202E"/>
                          </a:solidFill>
                          <a:latin typeface="IBM Plex Sans"/>
                          <a:ea typeface="IBM Plex Sans"/>
                          <a:cs typeface="IBM Plex Sans"/>
                        </a:rPr>
                        <a:t>Failure log, 10+ cases</a:t>
                      </a:r>
                      <a:endParaRPr sz="1200">
                        <a:latin typeface="IBM Plex Sans"/>
                        <a:ea typeface="IBM Plex Sans"/>
                        <a:cs typeface="IBM Plex Sans"/>
                      </a:endParaRPr>
                    </a:p>
                  </a:txBody>
                  <a:tcPr marL="53340" marR="53340" marT="53340" marB="53340">
                    <a:lnL w="12700" cmpd="sng">
                      <a:solidFill>
                        <a:srgbClr val="BABEC1"/>
                      </a:solidFill>
                      <a:prstDash val="solid"/>
                    </a:lnL>
                    <a:lnR w="12700" cmpd="sng">
                      <a:solidFill>
                        <a:srgbClr val="BABEC1"/>
                      </a:solidFill>
                      <a:prstDash val="solid"/>
                    </a:lnR>
                    <a:lnT w="12700" cmpd="sng">
                      <a:solidFill>
                        <a:srgbClr val="BABEC1"/>
                      </a:solidFill>
                      <a:prstDash val="solid"/>
                    </a:lnT>
                    <a:lnB w="12700" cmpd="sng">
                      <a:solidFill>
                        <a:srgbClr val="BABEC1"/>
                      </a:solidFill>
                      <a:prstDash val="solid"/>
                    </a:lnB>
                  </a:tcPr>
                </a:tc>
                <a:tc>
                  <a:txBody>
                    <a:bodyPr/>
                    <a:lstStyle/>
                    <a:p>
                      <a:pPr marL="0" indent="0">
                        <a:lnSpc>
                          <a:spcPts val="1680"/>
                        </a:lnSpc>
                        <a:buNone/>
                      </a:pPr>
                      <a:r>
                        <a:t>Ge Yuzi</a:t>
                      </a:r>
                      <a:endParaRPr sz="1200">
                        <a:latin typeface="IBM Plex Sans"/>
                        <a:ea typeface="IBM Plex Sans"/>
                        <a:cs typeface="IBM Plex Sans"/>
                      </a:endParaRPr>
                    </a:p>
                  </a:txBody>
                  <a:tcPr marL="53340" marR="53340" marT="53340" marB="53340">
                    <a:lnL w="12700" cmpd="sng">
                      <a:solidFill>
                        <a:srgbClr val="BABEC1"/>
                      </a:solidFill>
                      <a:prstDash val="solid"/>
                    </a:lnL>
                    <a:lnR w="12700" cmpd="sng">
                      <a:solidFill>
                        <a:srgbClr val="BABEC1"/>
                      </a:solidFill>
                      <a:prstDash val="solid"/>
                    </a:lnR>
                    <a:lnT w="12700" cmpd="sng">
                      <a:solidFill>
                        <a:srgbClr val="BABEC1"/>
                      </a:solidFill>
                      <a:prstDash val="solid"/>
                    </a:lnT>
                    <a:lnB w="12700" cmpd="sng">
                      <a:solidFill>
                        <a:srgbClr val="BABEC1"/>
                      </a:solidFill>
                      <a:prstDash val="solid"/>
                    </a:lnB>
                  </a:tcPr>
                </a:tc>
                <a:tc>
                  <a:txBody>
                    <a:bodyPr/>
                    <a:lstStyle/>
                    <a:p>
                      <a:pPr marL="0" marR="0" lvl="0" indent="0" algn="l" defTabSz="914400">
                        <a:lnSpc>
                          <a:spcPts val="1680"/>
                        </a:lnSpc>
                        <a:spcBef>
                          <a:spcPts val="0"/>
                        </a:spcBef>
                        <a:spcAft>
                          <a:spcPts val="0"/>
                        </a:spcAft>
                        <a:buClrTx/>
                        <a:buSzTx/>
                        <a:buFontTx/>
                        <a:buNone/>
                      </a:pPr>
                      <a:r>
                        <a:rPr sz="1200">
                          <a:solidFill>
                            <a:srgbClr val="A84A14"/>
                          </a:solidFill>
                          <a:latin typeface="IBM Plex Sans"/>
                          <a:ea typeface="IBM Plex Sans"/>
                          <a:cs typeface="IBM Plex Sans"/>
                        </a:rPr>
                        <a:t>Done</a:t>
                      </a:r>
                      <a:endParaRPr sz="1200">
                        <a:latin typeface="IBM Plex Sans"/>
                        <a:ea typeface="IBM Plex Sans"/>
                        <a:cs typeface="IBM Plex Sans"/>
                      </a:endParaRPr>
                    </a:p>
                  </a:txBody>
                  <a:tcPr marL="53340" marR="53340" marT="53340" marB="53340">
                    <a:lnL w="12700" cmpd="sng">
                      <a:solidFill>
                        <a:srgbClr val="BABEC1"/>
                      </a:solidFill>
                      <a:prstDash val="solid"/>
                    </a:lnL>
                    <a:lnR w="12700" cmpd="sng">
                      <a:solidFill>
                        <a:srgbClr val="BABEC1"/>
                      </a:solidFill>
                      <a:prstDash val="solid"/>
                    </a:lnR>
                    <a:lnT w="12700" cmpd="sng">
                      <a:solidFill>
                        <a:srgbClr val="BABEC1"/>
                      </a:solidFill>
                      <a:prstDash val="solid"/>
                    </a:lnT>
                    <a:lnB w="12700" cmpd="sng">
                      <a:solidFill>
                        <a:srgbClr val="BABEC1"/>
                      </a:solidFill>
                      <a:prstDash val="solid"/>
                    </a:lnB>
                  </a:tcPr>
                </a:tc>
              </a:tr>
              <a:tr h="332647">
                <a:tc>
                  <a:txBody>
                    <a:bodyPr/>
                    <a:lstStyle/>
                    <a:p>
                      <a:pPr marL="0" indent="0">
                        <a:lnSpc>
                          <a:spcPts val="1680"/>
                        </a:lnSpc>
                        <a:buNone/>
                      </a:pPr>
                      <a:r>
                        <a:rPr sz="1200">
                          <a:solidFill>
                            <a:srgbClr val="16202E"/>
                          </a:solidFill>
                          <a:latin typeface="IBM Plex Sans"/>
                          <a:ea typeface="IBM Plex Sans"/>
                          <a:cs typeface="IBM Plex Sans"/>
                        </a:rPr>
                        <a:t>Tool specification document</a:t>
                      </a:r>
                      <a:endParaRPr sz="1200">
                        <a:latin typeface="IBM Plex Sans"/>
                        <a:ea typeface="IBM Plex Sans"/>
                        <a:cs typeface="IBM Plex Sans"/>
                      </a:endParaRPr>
                    </a:p>
                  </a:txBody>
                  <a:tcPr marL="53340" marR="53340" marT="53340" marB="53340">
                    <a:lnL w="12700" cmpd="sng">
                      <a:solidFill>
                        <a:srgbClr val="BABEC1"/>
                      </a:solidFill>
                      <a:prstDash val="solid"/>
                    </a:lnL>
                    <a:lnR w="12700" cmpd="sng">
                      <a:solidFill>
                        <a:srgbClr val="BABEC1"/>
                      </a:solidFill>
                      <a:prstDash val="solid"/>
                    </a:lnR>
                    <a:lnT w="12700" cmpd="sng">
                      <a:solidFill>
                        <a:srgbClr val="BABEC1"/>
                      </a:solidFill>
                      <a:prstDash val="solid"/>
                    </a:lnT>
                    <a:lnB w="12700" cmpd="sng">
                      <a:solidFill>
                        <a:srgbClr val="BABEC1"/>
                      </a:solidFill>
                      <a:prstDash val="solid"/>
                    </a:lnB>
                  </a:tcPr>
                </a:tc>
                <a:tc>
                  <a:txBody>
                    <a:bodyPr/>
                    <a:lstStyle/>
                    <a:p>
                      <a:pPr marL="0" indent="0">
                        <a:lnSpc>
                          <a:spcPts val="1680"/>
                        </a:lnSpc>
                        <a:buNone/>
                      </a:pPr>
                      <a:endParaRPr sz="1200">
                        <a:latin typeface="IBM Plex Sans"/>
                        <a:ea typeface="IBM Plex Sans"/>
                        <a:cs typeface="IBM Plex Sans"/>
                      </a:endParaRPr>
                    </a:p>
                  </a:txBody>
                  <a:tcPr marL="53340" marR="53340" marT="53340" marB="53340">
                    <a:lnL w="12700" cmpd="sng">
                      <a:solidFill>
                        <a:srgbClr val="BABEC1"/>
                      </a:solidFill>
                      <a:prstDash val="solid"/>
                    </a:lnL>
                    <a:lnR w="12700" cmpd="sng">
                      <a:solidFill>
                        <a:srgbClr val="BABEC1"/>
                      </a:solidFill>
                      <a:prstDash val="solid"/>
                    </a:lnR>
                    <a:lnT w="12700" cmpd="sng">
                      <a:solidFill>
                        <a:srgbClr val="BABEC1"/>
                      </a:solidFill>
                      <a:prstDash val="solid"/>
                    </a:lnT>
                    <a:lnB w="12700" cmpd="sng">
                      <a:solidFill>
                        <a:srgbClr val="BABEC1"/>
                      </a:solidFill>
                      <a:prstDash val="solid"/>
                    </a:lnB>
                  </a:tcPr>
                </a:tc>
                <a:tc>
                  <a:txBody>
                    <a:bodyPr/>
                    <a:lstStyle/>
                    <a:p>
                      <a:pPr marL="0" marR="0" lvl="0" indent="0" algn="l" defTabSz="914400">
                        <a:lnSpc>
                          <a:spcPts val="1680"/>
                        </a:lnSpc>
                        <a:spcBef>
                          <a:spcPts val="0"/>
                        </a:spcBef>
                        <a:spcAft>
                          <a:spcPts val="0"/>
                        </a:spcAft>
                        <a:buClrTx/>
                        <a:buSzTx/>
                        <a:buFontTx/>
                        <a:buNone/>
                      </a:pPr>
                      <a:r>
                        <a:rPr sz="1200">
                          <a:solidFill>
                            <a:srgbClr val="A84A14"/>
                          </a:solidFill>
                          <a:latin typeface="IBM Plex Sans"/>
                          <a:ea typeface="IBM Plex Sans"/>
                          <a:cs typeface="IBM Plex Sans"/>
                        </a:rPr>
                        <a:t>In progress</a:t>
                      </a:r>
                      <a:endParaRPr sz="1200">
                        <a:latin typeface="IBM Plex Sans"/>
                        <a:ea typeface="IBM Plex Sans"/>
                        <a:cs typeface="IBM Plex Sans"/>
                      </a:endParaRPr>
                    </a:p>
                  </a:txBody>
                  <a:tcPr marL="53340" marR="53340" marT="53340" marB="53340">
                    <a:lnL w="12700" cmpd="sng">
                      <a:solidFill>
                        <a:srgbClr val="BABEC1"/>
                      </a:solidFill>
                      <a:prstDash val="solid"/>
                    </a:lnL>
                    <a:lnR w="12700" cmpd="sng">
                      <a:solidFill>
                        <a:srgbClr val="BABEC1"/>
                      </a:solidFill>
                      <a:prstDash val="solid"/>
                    </a:lnR>
                    <a:lnT w="12700" cmpd="sng">
                      <a:solidFill>
                        <a:srgbClr val="BABEC1"/>
                      </a:solidFill>
                      <a:prstDash val="solid"/>
                    </a:lnT>
                    <a:lnB w="12700" cmpd="sng">
                      <a:solidFill>
                        <a:srgbClr val="BABEC1"/>
                      </a:solidFill>
                      <a:prstDash val="solid"/>
                    </a:lnB>
                  </a:tcPr>
                </a:tc>
              </a:tr>
              <a:tr h="332647">
                <a:tc>
                  <a:txBody>
                    <a:bodyPr/>
                    <a:lstStyle/>
                    <a:p>
                      <a:pPr marL="0" indent="0">
                        <a:lnSpc>
                          <a:spcPts val="1680"/>
                        </a:lnSpc>
                        <a:buNone/>
                      </a:pPr>
                      <a:r>
                        <a:rPr sz="1200">
                          <a:solidFill>
                            <a:srgbClr val="16202E"/>
                          </a:solidFill>
                          <a:latin typeface="IBM Plex Sans"/>
                          <a:ea typeface="IBM Plex Sans"/>
                          <a:cs typeface="IBM Plex Sans"/>
                        </a:rPr>
                        <a:t>Tests run on every push (CI)</a:t>
                      </a:r>
                      <a:endParaRPr sz="1200">
                        <a:latin typeface="IBM Plex Sans"/>
                        <a:ea typeface="IBM Plex Sans"/>
                        <a:cs typeface="IBM Plex Sans"/>
                      </a:endParaRPr>
                    </a:p>
                  </a:txBody>
                  <a:tcPr marL="53340" marR="53340" marT="53340" marB="53340">
                    <a:lnL w="12700" cmpd="sng">
                      <a:solidFill>
                        <a:srgbClr val="BABEC1"/>
                      </a:solidFill>
                      <a:prstDash val="solid"/>
                    </a:lnL>
                    <a:lnR w="12700" cmpd="sng">
                      <a:solidFill>
                        <a:srgbClr val="BABEC1"/>
                      </a:solidFill>
                      <a:prstDash val="solid"/>
                    </a:lnR>
                    <a:lnT w="12700" cmpd="sng">
                      <a:solidFill>
                        <a:srgbClr val="BABEC1"/>
                      </a:solidFill>
                      <a:prstDash val="solid"/>
                    </a:lnT>
                    <a:lnB w="12700" cmpd="sng">
                      <a:solidFill>
                        <a:srgbClr val="BABEC1"/>
                      </a:solidFill>
                      <a:prstDash val="solid"/>
                    </a:lnB>
                  </a:tcPr>
                </a:tc>
                <a:tc>
                  <a:txBody>
                    <a:bodyPr/>
                    <a:lstStyle/>
                    <a:p>
                      <a:pPr marL="0" indent="0">
                        <a:lnSpc>
                          <a:spcPts val="1680"/>
                        </a:lnSpc>
                        <a:buNone/>
                      </a:pPr>
                      <a:endParaRPr sz="1200">
                        <a:latin typeface="IBM Plex Sans"/>
                        <a:ea typeface="IBM Plex Sans"/>
                        <a:cs typeface="IBM Plex Sans"/>
                      </a:endParaRPr>
                    </a:p>
                  </a:txBody>
                  <a:tcPr marL="53340" marR="53340" marT="53340" marB="53340">
                    <a:lnL w="12700" cmpd="sng">
                      <a:solidFill>
                        <a:srgbClr val="BABEC1"/>
                      </a:solidFill>
                      <a:prstDash val="solid"/>
                    </a:lnL>
                    <a:lnR w="12700" cmpd="sng">
                      <a:solidFill>
                        <a:srgbClr val="BABEC1"/>
                      </a:solidFill>
                      <a:prstDash val="solid"/>
                    </a:lnR>
                    <a:lnT w="12700" cmpd="sng">
                      <a:solidFill>
                        <a:srgbClr val="BABEC1"/>
                      </a:solidFill>
                      <a:prstDash val="solid"/>
                    </a:lnT>
                    <a:lnB w="12700" cmpd="sng">
                      <a:solidFill>
                        <a:srgbClr val="BABEC1"/>
                      </a:solidFill>
                      <a:prstDash val="solid"/>
                    </a:lnB>
                  </a:tcPr>
                </a:tc>
                <a:tc>
                  <a:txBody>
                    <a:bodyPr/>
                    <a:lstStyle/>
                    <a:p>
                      <a:pPr marL="0" marR="0" lvl="0" indent="0" algn="l" defTabSz="914400">
                        <a:lnSpc>
                          <a:spcPts val="1680"/>
                        </a:lnSpc>
                        <a:spcBef>
                          <a:spcPts val="0"/>
                        </a:spcBef>
                        <a:spcAft>
                          <a:spcPts val="0"/>
                        </a:spcAft>
                        <a:buClrTx/>
                        <a:buSzTx/>
                        <a:buFontTx/>
                        <a:buNone/>
                      </a:pPr>
                      <a:r>
                        <a:rPr sz="1200">
                          <a:solidFill>
                            <a:srgbClr val="A84A14"/>
                          </a:solidFill>
                          <a:latin typeface="IBM Plex Sans"/>
                          <a:ea typeface="IBM Plex Sans"/>
                          <a:cs typeface="IBM Plex Sans"/>
                        </a:rPr>
                        <a:t>In progress</a:t>
                      </a:r>
                      <a:endParaRPr sz="1200">
                        <a:latin typeface="IBM Plex Sans"/>
                        <a:ea typeface="IBM Plex Sans"/>
                        <a:cs typeface="IBM Plex Sans"/>
                      </a:endParaRPr>
                    </a:p>
                  </a:txBody>
                  <a:tcPr marL="53340" marR="53340" marT="53340" marB="53340">
                    <a:lnL w="12700" cmpd="sng">
                      <a:solidFill>
                        <a:srgbClr val="BABEC1"/>
                      </a:solidFill>
                      <a:prstDash val="solid"/>
                    </a:lnL>
                    <a:lnR w="12700" cmpd="sng">
                      <a:solidFill>
                        <a:srgbClr val="BABEC1"/>
                      </a:solidFill>
                      <a:prstDash val="solid"/>
                    </a:lnR>
                    <a:lnT w="12700" cmpd="sng">
                      <a:solidFill>
                        <a:srgbClr val="BABEC1"/>
                      </a:solidFill>
                      <a:prstDash val="solid"/>
                    </a:lnT>
                    <a:lnB w="12700" cmpd="sng">
                      <a:solidFill>
                        <a:srgbClr val="BABEC1"/>
                      </a:solidFill>
                      <a:prstDash val="solid"/>
                    </a:lnB>
                  </a:tcPr>
                </a:tc>
              </a:tr>
            </a:tbl>
          </a:graphicData>
        </a:graphic>
      </p:graphicFrame>
    </p:spTree>
    <p:extLst>
      <p:ext uri="{BB962C8B-B14F-4D97-AF65-F5344CB8AC3E}">
        <p14:creationId xmlns:p14="http://schemas.microsoft.com/office/powerpoint/2010/main" val="1302714173"/>
      </p:ext>
    </p:extLst>
  </p:cSld>
</p:sld>
</file>

<file path=ppt/slides/slide7.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C73BB1B-3755-45BC-AB9D-80A2D642BB43}"/>
              </a:ext>
            </a:extLst>
          </p:cNvPr>
          <p:cNvSpPr>
            <a:spLocks xmlns:a="http://schemas.openxmlformats.org/drawingml/2006/main" noGrp="1"/>
          </p:cNvSpPr>
          <p:nvPr/>
        </p:nvSpPr>
        <p:spPr>
          <a:xfrm xmlns:a="http://schemas.openxmlformats.org/drawingml/2006/main">
            <a:off x="812800" y="812800"/>
            <a:ext cx="1088339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spc="150">
                <a:solidFill>
                  <a:srgbClr val="A84A14"/>
                </a:solidFill>
                <a:latin typeface="IBM Plex Sans"/>
                <a:ea typeface="IBM Plex Sans"/>
                <a:cs typeface="IBM Plex Sans"/>
              </a:rPr>
              <a:t>EVIDENCE SO FAR</a:t>
            </a:r>
            <a:endParaRPr sz="1200"/>
          </a:p>
        </p:txBody>
      </p:sp>
      <p:sp>
        <p:nvSpPr>
          <p:cNvPr id="3" name="Text 1">
            <a:extLst xmlns:a="http://schemas.openxmlformats.org/drawingml/2006/main">
              <a:ext uri="{FF2B5EF4-FFF2-40B4-BE49-F238E27FC236}">
                <a16:creationId xmlns:a16="http://schemas.microsoft.com/office/drawing/2014/main" id="{73C6998D-CC4E-4B2C-9FC9-53002B6C98E6}"/>
              </a:ext>
            </a:extLst>
          </p:cNvPr>
          <p:cNvSpPr>
            <a:spLocks xmlns:a="http://schemas.openxmlformats.org/drawingml/2006/main" noGrp="1"/>
          </p:cNvSpPr>
          <p:nvPr>
            <p:ph type="title" idx="0"/>
          </p:nvPr>
        </p:nvSpPr>
        <p:spPr>
          <a:xfrm xmlns:a="http://schemas.openxmlformats.org/drawingml/2006/main">
            <a:off x="812800" y="1203920"/>
            <a:ext cx="10883392"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i="0">
                <a:solidFill>
                  <a:srgbClr val="16202E"/>
                </a:solidFill>
                <a:latin typeface="Space Grotesk"/>
                <a:ea typeface="Space Grotesk"/>
                <a:cs typeface="Space Grotesk"/>
              </a:rPr>
              <a:t>Sprint 1 success criteria: where we stand</a:t>
            </a:r>
            <a:endParaRPr sz="2800"/>
          </a:p>
        </p:txBody>
      </p:sp>
      <p:graphicFrame>
        <p:nvGraphicFramePr>
          <p:cNvPr id="4" name="Table 0">
            <a:extLst xmlns:a="http://schemas.openxmlformats.org/drawingml/2006/main">
              <a:ext uri="{FF2B5EF4-FFF2-40B4-BE49-F238E27FC236}">
                <a16:creationId xmlns:a16="http://schemas.microsoft.com/office/drawing/2014/main" id="{A7920E9D-4489-48F8-914B-D666C1919DE4}"/>
              </a:ext>
            </a:extLst>
          </p:cNvPr>
          <p:cNvGraphicFramePr/>
          <p:nvPr/>
        </p:nvGraphicFramePr>
        <p:xfrm>
          <a:off xmlns:a="http://schemas.openxmlformats.org/drawingml/2006/main" x="825500" y="1785541"/>
          <a:ext xmlns:a="http://schemas.openxmlformats.org/drawingml/2006/main" cx="10553700" cy="2516519"/>
        </p:xfrm>
        <a:graphic xmlns:a="http://schemas.openxmlformats.org/drawingml/2006/main">
          <a:graphicData uri="http://schemas.openxmlformats.org/drawingml/2006/table">
            <a:tbl>
              <a:tblPr/>
              <a:tblGrid>
                <a:gridCol w="3377184"/>
                <a:gridCol w="5276850"/>
                <a:gridCol w="1899666"/>
              </a:tblGrid>
              <a:tr h="332647">
                <a:tc>
                  <a:txBody>
                    <a:bodyPr/>
                    <a:lstStyle/>
                    <a:p>
                      <a:pPr marL="0" indent="0">
                        <a:lnSpc>
                          <a:spcPts val="1680"/>
                        </a:lnSpc>
                        <a:buNone/>
                      </a:pPr>
                      <a:r>
                        <a:rPr sz="1200" b="1">
                          <a:solidFill>
                            <a:srgbClr val="16202E"/>
                          </a:solidFill>
                          <a:latin typeface="IBM Plex Sans"/>
                          <a:ea typeface="IBM Plex Sans"/>
                          <a:cs typeface="IBM Plex Sans"/>
                        </a:rPr>
                        <a:t>Criterion we set in Sprint 1</a:t>
                      </a:r>
                      <a:endParaRPr sz="1200">
                        <a:latin typeface="IBM Plex Sans"/>
                        <a:ea typeface="IBM Plex Sans"/>
                        <a:cs typeface="IBM Plex Sans"/>
                      </a:endParaRPr>
                    </a:p>
                  </a:txBody>
                  <a:tcPr marL="53340" marR="53340" marT="53340" marB="53340">
                    <a:lnL w="12700" cmpd="sng">
                      <a:solidFill>
                        <a:srgbClr val="C4C3BF"/>
                      </a:solidFill>
                      <a:prstDash val="solid"/>
                    </a:lnL>
                    <a:lnR w="12700" cmpd="sng">
                      <a:solidFill>
                        <a:srgbClr val="B6B5B1"/>
                      </a:solidFill>
                      <a:prstDash val="solid"/>
                    </a:lnR>
                    <a:lnT w="12700" cmpd="sng">
                      <a:solidFill>
                        <a:srgbClr val="C4C3BF"/>
                      </a:solidFill>
                      <a:prstDash val="solid"/>
                    </a:lnT>
                    <a:lnB w="12700" cmpd="sng">
                      <a:solidFill>
                        <a:srgbClr val="B6B5B1"/>
                      </a:solidFill>
                      <a:prstDash val="solid"/>
                    </a:lnB>
                    <a:solidFill>
                      <a:srgbClr val="E4E2DD"/>
                    </a:solidFill>
                  </a:tcPr>
                </a:tc>
                <a:tc>
                  <a:txBody>
                    <a:bodyPr/>
                    <a:lstStyle/>
                    <a:p>
                      <a:pPr marL="0" indent="0">
                        <a:lnSpc>
                          <a:spcPts val="1680"/>
                        </a:lnSpc>
                        <a:buNone/>
                      </a:pPr>
                      <a:r>
                        <a:rPr sz="1200" b="1">
                          <a:solidFill>
                            <a:srgbClr val="16202E"/>
                          </a:solidFill>
                          <a:latin typeface="IBM Plex Sans"/>
                          <a:ea typeface="IBM Plex Sans"/>
                          <a:cs typeface="IBM Plex Sans"/>
                        </a:rPr>
                        <a:t>Result</a:t>
                      </a:r>
                      <a:endParaRPr sz="1200">
                        <a:latin typeface="IBM Plex Sans"/>
                        <a:ea typeface="IBM Plex Sans"/>
                        <a:cs typeface="IBM Plex Sans"/>
                      </a:endParaRPr>
                    </a:p>
                  </a:txBody>
                  <a:tcPr marL="53340" marR="53340" marT="53340" marB="53340">
                    <a:lnL w="12700" cmpd="sng">
                      <a:solidFill>
                        <a:srgbClr val="B6B5B1"/>
                      </a:solidFill>
                      <a:prstDash val="solid"/>
                    </a:lnL>
                    <a:lnR w="12700" cmpd="sng">
                      <a:solidFill>
                        <a:srgbClr val="B6B5B1"/>
                      </a:solidFill>
                      <a:prstDash val="solid"/>
                    </a:lnR>
                    <a:lnT w="12700" cmpd="sng">
                      <a:solidFill>
                        <a:srgbClr val="C4C3BF"/>
                      </a:solidFill>
                      <a:prstDash val="solid"/>
                    </a:lnT>
                    <a:lnB w="12700" cmpd="sng">
                      <a:solidFill>
                        <a:srgbClr val="B6B5B1"/>
                      </a:solidFill>
                      <a:prstDash val="solid"/>
                    </a:lnB>
                    <a:solidFill>
                      <a:srgbClr val="E4E2DD"/>
                    </a:solidFill>
                  </a:tcPr>
                </a:tc>
                <a:tc>
                  <a:txBody>
                    <a:bodyPr/>
                    <a:lstStyle/>
                    <a:p>
                      <a:pPr marL="0" indent="0">
                        <a:lnSpc>
                          <a:spcPts val="1680"/>
                        </a:lnSpc>
                        <a:buNone/>
                      </a:pPr>
                      <a:r>
                        <a:rPr sz="1200" b="1">
                          <a:solidFill>
                            <a:srgbClr val="16202E"/>
                          </a:solidFill>
                          <a:latin typeface="IBM Plex Sans"/>
                          <a:ea typeface="IBM Plex Sans"/>
                          <a:cs typeface="IBM Plex Sans"/>
                        </a:rPr>
                        <a:t>Status</a:t>
                      </a:r>
                      <a:endParaRPr sz="1200">
                        <a:latin typeface="IBM Plex Sans"/>
                        <a:ea typeface="IBM Plex Sans"/>
                        <a:cs typeface="IBM Plex Sans"/>
                      </a:endParaRPr>
                    </a:p>
                  </a:txBody>
                  <a:tcPr marL="53340" marR="53340" marT="53340" marB="53340">
                    <a:lnL w="12700" cmpd="sng">
                      <a:solidFill>
                        <a:srgbClr val="B6B5B1"/>
                      </a:solidFill>
                      <a:prstDash val="solid"/>
                    </a:lnL>
                    <a:lnR w="12700" cmpd="sng">
                      <a:solidFill>
                        <a:srgbClr val="B6B5B1"/>
                      </a:solidFill>
                      <a:prstDash val="solid"/>
                    </a:lnR>
                    <a:lnT w="12700" cmpd="sng">
                      <a:solidFill>
                        <a:srgbClr val="C4C3BF"/>
                      </a:solidFill>
                      <a:prstDash val="solid"/>
                    </a:lnT>
                    <a:lnB w="12700" cmpd="sng">
                      <a:solidFill>
                        <a:srgbClr val="B6B5B1"/>
                      </a:solidFill>
                      <a:prstDash val="solid"/>
                    </a:lnB>
                    <a:solidFill>
                      <a:srgbClr val="E4E2DD"/>
                    </a:solidFill>
                  </a:tcPr>
                </a:tc>
              </a:tr>
              <a:tr h="545968">
                <a:tc>
                  <a:txBody>
                    <a:bodyPr/>
                    <a:lstStyle/>
                    <a:p>
                      <a:pPr marL="0" indent="0">
                        <a:lnSpc>
                          <a:spcPts val="1680"/>
                        </a:lnSpc>
                        <a:buNone/>
                      </a:pPr>
                      <a:r>
                        <a:rPr sz="1200">
                          <a:solidFill>
                            <a:srgbClr val="16202E"/>
                          </a:solidFill>
                          <a:latin typeface="IBM Plex Sans"/>
                          <a:ea typeface="IBM Plex Sans"/>
                          <a:cs typeface="IBM Plex Sans"/>
                        </a:rPr>
                        <a:t>Beat all three baselines on % late and late days</a:t>
                      </a:r>
                      <a:endParaRPr sz="1200">
                        <a:latin typeface="IBM Plex Sans"/>
                        <a:ea typeface="IBM Plex Sans"/>
                        <a:cs typeface="IBM Plex Sans"/>
                      </a:endParaRPr>
                    </a:p>
                  </a:txBody>
                  <a:tcPr marL="53340" marR="53340" marT="53340" marB="53340">
                    <a:lnL w="12700" cmpd="sng">
                      <a:solidFill>
                        <a:srgbClr val="C4C3BF"/>
                      </a:solidFill>
                      <a:prstDash val="solid"/>
                    </a:lnL>
                    <a:lnR w="12700" cmpd="sng">
                      <a:solidFill>
                        <a:srgbClr val="C4C3BF"/>
                      </a:solidFill>
                      <a:prstDash val="solid"/>
                    </a:lnR>
                    <a:lnT w="12700" cmpd="sng">
                      <a:solidFill>
                        <a:srgbClr val="B6B5B1"/>
                      </a:solidFill>
                      <a:prstDash val="solid"/>
                    </a:lnT>
                    <a:lnB w="12700" cmpd="sng">
                      <a:solidFill>
                        <a:srgbClr val="C4C3BF"/>
                      </a:solidFill>
                      <a:prstDash val="solid"/>
                    </a:lnB>
                  </a:tcPr>
                </a:tc>
                <a:tc>
                  <a:txBody>
                    <a:bodyPr/>
                    <a:lstStyle/>
                    <a:p>
                      <a:pPr marL="0" indent="0">
                        <a:lnSpc>
                          <a:spcPts val="1680"/>
                        </a:lnSpc>
                        <a:buNone/>
                      </a:pPr>
                      <a:r>
                        <a:rPr sz="1200">
                          <a:solidFill>
                            <a:srgbClr val="16202E"/>
                          </a:solidFill>
                          <a:latin typeface="IBM Plex Sans"/>
                          <a:ea typeface="IBM Plex Sans"/>
                          <a:cs typeface="IBM Plex Sans"/>
                        </a:rPr>
                        <a:t>1.7% late, 0.18 late days. Random 34.2%, greedy 84.2%, cheapest 91.8%</a:t>
                      </a:r>
                      <a:endParaRPr sz="1200">
                        <a:latin typeface="IBM Plex Sans"/>
                        <a:ea typeface="IBM Plex Sans"/>
                        <a:cs typeface="IBM Plex Sans"/>
                      </a:endParaRPr>
                    </a:p>
                  </a:txBody>
                  <a:tcPr marL="53340" marR="53340" marT="53340" marB="53340">
                    <a:lnL w="12700" cmpd="sng">
                      <a:solidFill>
                        <a:srgbClr val="C4C3BF"/>
                      </a:solidFill>
                      <a:prstDash val="solid"/>
                    </a:lnL>
                    <a:lnR w="12700" cmpd="sng">
                      <a:solidFill>
                        <a:srgbClr val="C4C3BF"/>
                      </a:solidFill>
                      <a:prstDash val="solid"/>
                    </a:lnR>
                    <a:lnT w="12700" cmpd="sng">
                      <a:solidFill>
                        <a:srgbClr val="B6B5B1"/>
                      </a:solidFill>
                      <a:prstDash val="solid"/>
                    </a:lnT>
                    <a:lnB w="12700" cmpd="sng">
                      <a:solidFill>
                        <a:srgbClr val="C4C3BF"/>
                      </a:solidFill>
                      <a:prstDash val="solid"/>
                    </a:lnB>
                  </a:tcPr>
                </a:tc>
                <a:tc>
                  <a:txBody>
                    <a:bodyPr/>
                    <a:lstStyle/>
                    <a:p>
                      <a:pPr marL="0" indent="0">
                        <a:lnSpc>
                          <a:spcPts val="1680"/>
                        </a:lnSpc>
                        <a:buNone/>
                      </a:pPr>
                      <a:r>
                        <a:rPr sz="1200">
                          <a:solidFill>
                            <a:srgbClr val="2C5F8A"/>
                          </a:solidFill>
                          <a:latin typeface="IBM Plex Sans"/>
                          <a:ea typeface="IBM Plex Sans"/>
                          <a:cs typeface="IBM Plex Sans"/>
                        </a:rPr>
                        <a:t>Met</a:t>
                      </a:r>
                      <a:endParaRPr sz="1200">
                        <a:latin typeface="IBM Plex Sans"/>
                        <a:ea typeface="IBM Plex Sans"/>
                        <a:cs typeface="IBM Plex Sans"/>
                      </a:endParaRPr>
                    </a:p>
                  </a:txBody>
                  <a:tcPr marL="53340" marR="53340" marT="53340" marB="53340">
                    <a:lnL w="12700" cmpd="sng">
                      <a:solidFill>
                        <a:srgbClr val="C4C3BF"/>
                      </a:solidFill>
                      <a:prstDash val="solid"/>
                    </a:lnL>
                    <a:lnR w="12700" cmpd="sng">
                      <a:solidFill>
                        <a:srgbClr val="C4C3BF"/>
                      </a:solidFill>
                      <a:prstDash val="solid"/>
                    </a:lnR>
                    <a:lnT w="12700" cmpd="sng">
                      <a:solidFill>
                        <a:srgbClr val="B6B5B1"/>
                      </a:solidFill>
                      <a:prstDash val="solid"/>
                    </a:lnT>
                    <a:lnB w="12700" cmpd="sng">
                      <a:solidFill>
                        <a:srgbClr val="C4C3BF"/>
                      </a:solidFill>
                      <a:prstDash val="solid"/>
                    </a:lnB>
                  </a:tcPr>
                </a:tc>
              </a:tr>
              <a:tr h="545968">
                <a:tc>
                  <a:txBody>
                    <a:bodyPr/>
                    <a:lstStyle/>
                    <a:p>
                      <a:pPr marL="0" indent="0">
                        <a:lnSpc>
                          <a:spcPts val="1680"/>
                        </a:lnSpc>
                        <a:buNone/>
                      </a:pPr>
                      <a:r>
                        <a:rPr sz="1200">
                          <a:solidFill>
                            <a:srgbClr val="16202E"/>
                          </a:solidFill>
                          <a:latin typeface="IBM Plex Sans"/>
                          <a:ea typeface="IBM Plex Sans"/>
                          <a:cs typeface="IBM Plex Sans"/>
                        </a:rPr>
                        <a:t>No ineligible allocations, no silent guesses on the 30-request inbox</a:t>
                      </a:r>
                      <a:endParaRPr sz="1200">
                        <a:latin typeface="IBM Plex Sans"/>
                        <a:ea typeface="IBM Plex Sans"/>
                        <a:cs typeface="IBM Plex Sans"/>
                      </a:endParaRPr>
                    </a:p>
                  </a:txBody>
                  <a:tcPr marL="53340" marR="53340" marT="53340" marB="53340">
                    <a:lnL w="12700" cmpd="sng">
                      <a:solidFill>
                        <a:srgbClr val="C4C3BF"/>
                      </a:solidFill>
                      <a:prstDash val="solid"/>
                    </a:lnL>
                    <a:lnR w="12700" cmpd="sng">
                      <a:solidFill>
                        <a:srgbClr val="C4C3BF"/>
                      </a:solidFill>
                      <a:prstDash val="solid"/>
                    </a:lnR>
                    <a:lnT w="12700" cmpd="sng">
                      <a:solidFill>
                        <a:srgbClr val="C4C3BF"/>
                      </a:solidFill>
                      <a:prstDash val="solid"/>
                    </a:lnT>
                    <a:lnB w="12700" cmpd="sng">
                      <a:solidFill>
                        <a:srgbClr val="C4C3BF"/>
                      </a:solidFill>
                      <a:prstDash val="solid"/>
                    </a:lnB>
                  </a:tcPr>
                </a:tc>
                <a:tc>
                  <a:txBody>
                    <a:bodyPr/>
                    <a:lstStyle/>
                    <a:p>
                      <a:pPr marL="0" indent="0">
                        <a:lnSpc>
                          <a:spcPts val="1680"/>
                        </a:lnSpc>
                        <a:buNone/>
                      </a:pPr>
                      <a:r>
                        <a:rPr sz="1200">
                          <a:solidFill>
                            <a:srgbClr val="16202E"/>
                          </a:solidFill>
                          <a:latin typeface="IBM Plex Sans"/>
                          <a:ea typeface="IBM Plex Sans"/>
                          <a:cs typeface="IBM Plex Sans"/>
                        </a:rPr>
                        <a:t>0 ineligible in 1,200 simulated allocations. Inbox 30/30 with Claude and with regex</a:t>
                      </a:r>
                      <a:endParaRPr sz="1200">
                        <a:latin typeface="IBM Plex Sans"/>
                        <a:ea typeface="IBM Plex Sans"/>
                        <a:cs typeface="IBM Plex Sans"/>
                      </a:endParaRPr>
                    </a:p>
                  </a:txBody>
                  <a:tcPr marL="53340" marR="53340" marT="53340" marB="53340">
                    <a:lnL w="12700" cmpd="sng">
                      <a:solidFill>
                        <a:srgbClr val="C4C3BF"/>
                      </a:solidFill>
                      <a:prstDash val="solid"/>
                    </a:lnL>
                    <a:lnR w="12700" cmpd="sng">
                      <a:solidFill>
                        <a:srgbClr val="C4C3BF"/>
                      </a:solidFill>
                      <a:prstDash val="solid"/>
                    </a:lnR>
                    <a:lnT w="12700" cmpd="sng">
                      <a:solidFill>
                        <a:srgbClr val="C4C3BF"/>
                      </a:solidFill>
                      <a:prstDash val="solid"/>
                    </a:lnT>
                    <a:lnB w="12700" cmpd="sng">
                      <a:solidFill>
                        <a:srgbClr val="C4C3BF"/>
                      </a:solidFill>
                      <a:prstDash val="solid"/>
                    </a:lnB>
                  </a:tcPr>
                </a:tc>
                <a:tc>
                  <a:txBody>
                    <a:bodyPr/>
                    <a:lstStyle/>
                    <a:p>
                      <a:pPr marL="0" indent="0">
                        <a:lnSpc>
                          <a:spcPts val="1680"/>
                        </a:lnSpc>
                        <a:buNone/>
                      </a:pPr>
                      <a:r>
                        <a:rPr sz="1200">
                          <a:solidFill>
                            <a:srgbClr val="2C5F8A"/>
                          </a:solidFill>
                          <a:latin typeface="IBM Plex Sans"/>
                          <a:ea typeface="IBM Plex Sans"/>
                          <a:cs typeface="IBM Plex Sans"/>
                        </a:rPr>
                        <a:t>Met on dev set; held-out next</a:t>
                      </a:r>
                      <a:endParaRPr sz="1200">
                        <a:latin typeface="IBM Plex Sans"/>
                        <a:ea typeface="IBM Plex Sans"/>
                        <a:cs typeface="IBM Plex Sans"/>
                      </a:endParaRPr>
                    </a:p>
                  </a:txBody>
                  <a:tcPr marL="53340" marR="53340" marT="53340" marB="53340">
                    <a:lnL w="12700" cmpd="sng">
                      <a:solidFill>
                        <a:srgbClr val="C4C3BF"/>
                      </a:solidFill>
                      <a:prstDash val="solid"/>
                    </a:lnL>
                    <a:lnR w="12700" cmpd="sng">
                      <a:solidFill>
                        <a:srgbClr val="C4C3BF"/>
                      </a:solidFill>
                      <a:prstDash val="solid"/>
                    </a:lnR>
                    <a:lnT w="12700" cmpd="sng">
                      <a:solidFill>
                        <a:srgbClr val="C4C3BF"/>
                      </a:solidFill>
                      <a:prstDash val="solid"/>
                    </a:lnT>
                    <a:lnB w="12700" cmpd="sng">
                      <a:solidFill>
                        <a:srgbClr val="C4C3BF"/>
                      </a:solidFill>
                      <a:prstDash val="solid"/>
                    </a:lnB>
                  </a:tcPr>
                </a:tc>
              </a:tr>
              <a:tr h="545968">
                <a:tc>
                  <a:txBody>
                    <a:bodyPr/>
                    <a:lstStyle/>
                    <a:p>
                      <a:pPr marL="0" indent="0">
                        <a:lnSpc>
                          <a:spcPts val="1680"/>
                        </a:lnSpc>
                        <a:buNone/>
                      </a:pPr>
                      <a:r>
                        <a:rPr sz="1200">
                          <a:solidFill>
                            <a:srgbClr val="16202E"/>
                          </a:solidFill>
                          <a:latin typeface="IBM Plex Sans"/>
                          <a:ea typeface="IBM Plex Sans"/>
                          <a:cs typeface="IBM Plex Sans"/>
                        </a:rPr>
                        <a:t>Shock run over 10 seeds, defects objective, lateness–defects sweep</a:t>
                      </a:r>
                      <a:endParaRPr sz="1200">
                        <a:latin typeface="IBM Plex Sans"/>
                        <a:ea typeface="IBM Plex Sans"/>
                        <a:cs typeface="IBM Plex Sans"/>
                      </a:endParaRPr>
                    </a:p>
                  </a:txBody>
                  <a:tcPr marL="53340" marR="53340" marT="53340" marB="53340">
                    <a:lnL w="12700" cmpd="sng">
                      <a:solidFill>
                        <a:srgbClr val="C4C3BF"/>
                      </a:solidFill>
                      <a:prstDash val="solid"/>
                    </a:lnL>
                    <a:lnR w="12700" cmpd="sng">
                      <a:solidFill>
                        <a:srgbClr val="C4C3BF"/>
                      </a:solidFill>
                      <a:prstDash val="solid"/>
                    </a:lnR>
                    <a:lnT w="12700" cmpd="sng">
                      <a:solidFill>
                        <a:srgbClr val="C4C3BF"/>
                      </a:solidFill>
                      <a:prstDash val="solid"/>
                    </a:lnT>
                    <a:lnB w="12700" cmpd="sng">
                      <a:solidFill>
                        <a:srgbClr val="C4C3BF"/>
                      </a:solidFill>
                      <a:prstDash val="solid"/>
                    </a:lnB>
                  </a:tcPr>
                </a:tc>
                <a:tc>
                  <a:txBody>
                    <a:bodyPr/>
                    <a:lstStyle/>
                    <a:p>
                      <a:pPr marL="0" indent="0">
                        <a:lnSpc>
                          <a:spcPts val="1680"/>
                        </a:lnSpc>
                        <a:buNone/>
                      </a:pPr>
                      <a:r>
                        <a:rPr sz="1200">
                          <a:solidFill>
                            <a:srgbClr val="16202E"/>
                          </a:solidFill>
                          <a:latin typeface="IBM Plex Sans"/>
                          <a:ea typeface="IBM Plex Sans"/>
                          <a:cs typeface="IBM Plex Sans"/>
                        </a:rPr>
                        <a:t>Shock: 1.9% late. Current defects setting is 72% late, which breaks the guardrail. Lateness–defects sweep planned for Sprint 3</a:t>
                      </a:r>
                      <a:endParaRPr sz="1200">
                        <a:latin typeface="IBM Plex Sans"/>
                        <a:ea typeface="IBM Plex Sans"/>
                        <a:cs typeface="IBM Plex Sans"/>
                      </a:endParaRPr>
                    </a:p>
                  </a:txBody>
                  <a:tcPr marL="53340" marR="53340" marT="53340" marB="53340">
                    <a:lnL w="12700" cmpd="sng">
                      <a:solidFill>
                        <a:srgbClr val="C4C3BF"/>
                      </a:solidFill>
                      <a:prstDash val="solid"/>
                    </a:lnL>
                    <a:lnR w="12700" cmpd="sng">
                      <a:solidFill>
                        <a:srgbClr val="C4C3BF"/>
                      </a:solidFill>
                      <a:prstDash val="solid"/>
                    </a:lnR>
                    <a:lnT w="12700" cmpd="sng">
                      <a:solidFill>
                        <a:srgbClr val="C4C3BF"/>
                      </a:solidFill>
                      <a:prstDash val="solid"/>
                    </a:lnT>
                    <a:lnB w="12700" cmpd="sng">
                      <a:solidFill>
                        <a:srgbClr val="C4C3BF"/>
                      </a:solidFill>
                      <a:prstDash val="solid"/>
                    </a:lnB>
                  </a:tcPr>
                </a:tc>
                <a:tc>
                  <a:txBody>
                    <a:bodyPr/>
                    <a:lstStyle/>
                    <a:p>
                      <a:pPr marL="0" indent="0">
                        <a:lnSpc>
                          <a:spcPts val="1680"/>
                        </a:lnSpc>
                        <a:buNone/>
                      </a:pPr>
                      <a:r>
                        <a:rPr sz="1200">
                          <a:solidFill>
                            <a:srgbClr val="A84A14"/>
                          </a:solidFill>
                          <a:latin typeface="IBM Plex Sans"/>
                          <a:ea typeface="IBM Plex Sans"/>
                          <a:cs typeface="IBM Plex Sans"/>
                        </a:rPr>
                        <a:t>Partly met</a:t>
                      </a:r>
                      <a:endParaRPr sz="1200">
                        <a:latin typeface="IBM Plex Sans"/>
                        <a:ea typeface="IBM Plex Sans"/>
                        <a:cs typeface="IBM Plex Sans"/>
                      </a:endParaRPr>
                    </a:p>
                  </a:txBody>
                  <a:tcPr marL="53340" marR="53340" marT="53340" marB="53340">
                    <a:lnL w="12700" cmpd="sng">
                      <a:solidFill>
                        <a:srgbClr val="C4C3BF"/>
                      </a:solidFill>
                      <a:prstDash val="solid"/>
                    </a:lnL>
                    <a:lnR w="12700" cmpd="sng">
                      <a:solidFill>
                        <a:srgbClr val="C4C3BF"/>
                      </a:solidFill>
                      <a:prstDash val="solid"/>
                    </a:lnR>
                    <a:lnT w="12700" cmpd="sng">
                      <a:solidFill>
                        <a:srgbClr val="C4C3BF"/>
                      </a:solidFill>
                      <a:prstDash val="solid"/>
                    </a:lnT>
                    <a:lnB w="12700" cmpd="sng">
                      <a:solidFill>
                        <a:srgbClr val="C4C3BF"/>
                      </a:solidFill>
                      <a:prstDash val="solid"/>
                    </a:lnB>
                  </a:tcPr>
                </a:tc>
              </a:tr>
              <a:tr h="545968">
                <a:tc>
                  <a:txBody>
                    <a:bodyPr/>
                    <a:lstStyle/>
                    <a:p>
                      <a:pPr marL="0" indent="0">
                        <a:lnSpc>
                          <a:spcPts val="1680"/>
                        </a:lnSpc>
                        <a:buNone/>
                      </a:pPr>
                      <a:r>
                        <a:rPr sz="1200">
                          <a:solidFill>
                            <a:srgbClr val="16202E"/>
                          </a:solidFill>
                          <a:latin typeface="IBM Plex Sans"/>
                          <a:ea typeface="IBM Plex Sans"/>
                          <a:cs typeface="IBM Plex Sans"/>
                        </a:rPr>
                        <a:t>Honest comparison with a no-LLM earliest-finish rule</a:t>
                      </a:r>
                      <a:endParaRPr sz="1200">
                        <a:latin typeface="IBM Plex Sans"/>
                        <a:ea typeface="IBM Plex Sans"/>
                        <a:cs typeface="IBM Plex Sans"/>
                      </a:endParaRPr>
                    </a:p>
                  </a:txBody>
                  <a:tcPr marL="53340" marR="53340" marT="53340" marB="53340">
                    <a:lnL w="12700" cmpd="sng">
                      <a:solidFill>
                        <a:srgbClr val="C4C3BF"/>
                      </a:solidFill>
                      <a:prstDash val="solid"/>
                    </a:lnL>
                    <a:lnR w="12700" cmpd="sng">
                      <a:solidFill>
                        <a:srgbClr val="C4C3BF"/>
                      </a:solidFill>
                      <a:prstDash val="solid"/>
                    </a:lnR>
                    <a:lnT w="12700" cmpd="sng">
                      <a:solidFill>
                        <a:srgbClr val="C4C3BF"/>
                      </a:solidFill>
                      <a:prstDash val="solid"/>
                    </a:lnT>
                    <a:lnB w="12700" cmpd="sng">
                      <a:solidFill>
                        <a:srgbClr val="C4C3BF"/>
                      </a:solidFill>
                      <a:prstDash val="solid"/>
                    </a:lnB>
                  </a:tcPr>
                </a:tc>
                <a:tc>
                  <a:txBody>
                    <a:bodyPr/>
                    <a:lstStyle/>
                    <a:p>
                      <a:pPr marL="0" indent="0">
                        <a:lnSpc>
                          <a:spcPts val="1680"/>
                        </a:lnSpc>
                        <a:buNone/>
                      </a:pPr>
                      <a:r>
                        <a:rPr sz="1200">
                          <a:solidFill>
                            <a:srgbClr val="16202E"/>
                          </a:solidFill>
                          <a:latin typeface="IBM Plex Sans"/>
                          <a:ea typeface="IBM Plex Sans"/>
                          <a:cs typeface="IBM Plex Sans"/>
                        </a:rPr>
                        <a:t>A tie on the simulator, 1.7% vs 1.7%. Baselines win elsewhere: cheapest on cost ($86k vs $116k), random on max share (23% vs 26%)</a:t>
                      </a:r>
                      <a:endParaRPr sz="1200">
                        <a:latin typeface="IBM Plex Sans"/>
                        <a:ea typeface="IBM Plex Sans"/>
                        <a:cs typeface="IBM Plex Sans"/>
                      </a:endParaRPr>
                    </a:p>
                  </a:txBody>
                  <a:tcPr marL="53340" marR="53340" marT="53340" marB="53340">
                    <a:lnL w="12700" cmpd="sng">
                      <a:solidFill>
                        <a:srgbClr val="C4C3BF"/>
                      </a:solidFill>
                      <a:prstDash val="solid"/>
                    </a:lnL>
                    <a:lnR w="12700" cmpd="sng">
                      <a:solidFill>
                        <a:srgbClr val="C4C3BF"/>
                      </a:solidFill>
                      <a:prstDash val="solid"/>
                    </a:lnR>
                    <a:lnT w="12700" cmpd="sng">
                      <a:solidFill>
                        <a:srgbClr val="C4C3BF"/>
                      </a:solidFill>
                      <a:prstDash val="solid"/>
                    </a:lnT>
                    <a:lnB w="12700" cmpd="sng">
                      <a:solidFill>
                        <a:srgbClr val="C4C3BF"/>
                      </a:solidFill>
                      <a:prstDash val="solid"/>
                    </a:lnB>
                  </a:tcPr>
                </a:tc>
                <a:tc>
                  <a:txBody>
                    <a:bodyPr/>
                    <a:lstStyle/>
                    <a:p>
                      <a:pPr marL="0" indent="0">
                        <a:lnSpc>
                          <a:spcPts val="1680"/>
                        </a:lnSpc>
                        <a:buNone/>
                      </a:pPr>
                      <a:r>
                        <a:rPr sz="1200">
                          <a:solidFill>
                            <a:srgbClr val="2C5F8A"/>
                          </a:solidFill>
                          <a:latin typeface="IBM Plex Sans"/>
                          <a:ea typeface="IBM Plex Sans"/>
                          <a:cs typeface="IBM Plex Sans"/>
                        </a:rPr>
                        <a:t>Met</a:t>
                      </a:r>
                      <a:endParaRPr sz="1200">
                        <a:latin typeface="IBM Plex Sans"/>
                        <a:ea typeface="IBM Plex Sans"/>
                        <a:cs typeface="IBM Plex Sans"/>
                      </a:endParaRPr>
                    </a:p>
                  </a:txBody>
                  <a:tcPr marL="53340" marR="53340" marT="53340" marB="53340">
                    <a:lnL w="12700" cmpd="sng">
                      <a:solidFill>
                        <a:srgbClr val="C4C3BF"/>
                      </a:solidFill>
                      <a:prstDash val="solid"/>
                    </a:lnL>
                    <a:lnR w="12700" cmpd="sng">
                      <a:solidFill>
                        <a:srgbClr val="C4C3BF"/>
                      </a:solidFill>
                      <a:prstDash val="solid"/>
                    </a:lnR>
                    <a:lnT w="12700" cmpd="sng">
                      <a:solidFill>
                        <a:srgbClr val="C4C3BF"/>
                      </a:solidFill>
                      <a:prstDash val="solid"/>
                    </a:lnT>
                    <a:lnB w="12700" cmpd="sng">
                      <a:solidFill>
                        <a:srgbClr val="C4C3BF"/>
                      </a:solidFill>
                      <a:prstDash val="solid"/>
                    </a:lnB>
                  </a:tcPr>
                </a:tc>
              </a:tr>
            </a:tbl>
          </a:graphicData>
        </a:graphic>
      </p:graphicFrame>
      <p:sp>
        <p:nvSpPr>
          <p:cNvPr id="5" name="Text 2">
            <a:extLst xmlns:a="http://schemas.openxmlformats.org/drawingml/2006/main">
              <a:ext uri="{FF2B5EF4-FFF2-40B4-BE49-F238E27FC236}">
                <a16:creationId xmlns:a16="http://schemas.microsoft.com/office/drawing/2014/main" id="{02F33252-2806-491A-82BB-F18B6D8234AF}"/>
              </a:ext>
            </a:extLst>
          </p:cNvPr>
          <p:cNvSpPr>
            <a:spLocks xmlns:a="http://schemas.openxmlformats.org/drawingml/2006/main" noGrp="1"/>
          </p:cNvSpPr>
          <p:nvPr/>
        </p:nvSpPr>
        <p:spPr>
          <a:xfrm xmlns:a="http://schemas.openxmlformats.org/drawingml/2006/main">
            <a:off x="812800" y="6238280"/>
            <a:ext cx="1088339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6A7280"/>
                </a:solidFill>
                <a:latin typeface="IBM Plex Sans"/>
                <a:ea typeface="IBM Plex Sans"/>
                <a:cs typeface="IBM Plex Sans"/>
              </a:rPr>
              <a:t>Simulator v3, default run, mean of seeds 5105–5114. Inbox scores are on the 30 development requests the prompt was tuned on.</a:t>
            </a:r>
            <a:endParaRPr sz="1200"/>
          </a:p>
        </p:txBody>
      </p:sp>
    </p:spTree>
    <p:extLst>
      <p:ext uri="{BB962C8B-B14F-4D97-AF65-F5344CB8AC3E}">
        <p14:creationId xmlns:p14="http://schemas.microsoft.com/office/powerpoint/2010/main" val="736215367"/>
      </p:ext>
    </p:extLst>
  </p:cSld>
</p:sld>
</file>

<file path=ppt/slides/slide8.xml><?xml version="1.0" encoding="utf-8"?>
<p:sld xmlns:p="http://schemas.openxmlformats.org/presentationml/2006/main">
  <p:cSld>
    <p:bg>
      <p:bgPr>
        <a:solidFill xmlns:a="http://schemas.openxmlformats.org/drawingml/2006/main">
          <a:srgbClr val="E9EE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4B9B4CB-9D32-42D8-9F53-89D158661E00}"/>
              </a:ext>
            </a:extLst>
          </p:cNvPr>
          <p:cNvSpPr>
            <a:spLocks xmlns:a="http://schemas.openxmlformats.org/drawingml/2006/main" noGrp="1"/>
          </p:cNvSpPr>
          <p:nvPr/>
        </p:nvSpPr>
        <p:spPr>
          <a:xfrm xmlns:a="http://schemas.openxmlformats.org/drawingml/2006/main">
            <a:off x="812800" y="812800"/>
            <a:ext cx="1088339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spc="150">
                <a:solidFill>
                  <a:srgbClr val="A84A14"/>
                </a:solidFill>
                <a:latin typeface="IBM Plex Sans"/>
                <a:ea typeface="IBM Plex Sans"/>
                <a:cs typeface="IBM Plex Sans"/>
              </a:rPr>
              <a:t>VALIDATION PLAN</a:t>
            </a:r>
            <a:endParaRPr sz="1200"/>
          </a:p>
        </p:txBody>
      </p:sp>
      <p:sp>
        <p:nvSpPr>
          <p:cNvPr id="3" name="Text 1">
            <a:extLst xmlns:a="http://schemas.openxmlformats.org/drawingml/2006/main">
              <a:ext uri="{FF2B5EF4-FFF2-40B4-BE49-F238E27FC236}">
                <a16:creationId xmlns:a16="http://schemas.microsoft.com/office/drawing/2014/main" id="{1D5AE70D-3AFB-4834-8BDA-42AFFD6C0636}"/>
              </a:ext>
            </a:extLst>
          </p:cNvPr>
          <p:cNvSpPr>
            <a:spLocks xmlns:a="http://schemas.openxmlformats.org/drawingml/2006/main" noGrp="1"/>
          </p:cNvSpPr>
          <p:nvPr>
            <p:ph type="title" idx="0"/>
          </p:nvPr>
        </p:nvSpPr>
        <p:spPr>
          <a:xfrm xmlns:a="http://schemas.openxmlformats.org/drawingml/2006/main">
            <a:off x="812800" y="1229320"/>
            <a:ext cx="10883392"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3080"/>
              </a:lnSpc>
              <a:buNone/>
            </a:pPr>
            <a:r>
              <a:rPr sz="2800" b="1" i="0">
                <a:solidFill>
                  <a:srgbClr val="16202E"/>
                </a:solidFill>
                <a:latin typeface="Space Grotesk"/>
                <a:ea typeface="Space Grotesk"/>
                <a:cs typeface="Space Grotesk"/>
              </a:rPr>
              <a:t>How we know the desk works</a:t>
            </a:r>
            <a:endParaRPr sz="2800"/>
          </a:p>
        </p:txBody>
      </p:sp>
      <p:sp>
        <p:nvSpPr>
          <p:cNvPr id="4" name="Shape 2">
            <a:extLst xmlns:a="http://schemas.openxmlformats.org/drawingml/2006/main">
              <a:ext uri="{FF2B5EF4-FFF2-40B4-BE49-F238E27FC236}">
                <a16:creationId xmlns:a16="http://schemas.microsoft.com/office/drawing/2014/main" id="{C62EAD37-BBDE-4276-B705-DC890DD87277}"/>
              </a:ext>
            </a:extLst>
          </p:cNvPr>
          <p:cNvSpPr>
            <a:spLocks xmlns:a="http://schemas.openxmlformats.org/drawingml/2006/main" noGrp="1"/>
          </p:cNvSpPr>
          <p:nvPr/>
        </p:nvSpPr>
        <p:spPr>
          <a:xfrm xmlns:a="http://schemas.openxmlformats.org/drawingml/2006/main">
            <a:off x="812800" y="1823641"/>
            <a:ext cx="5194300" cy="2132343"/>
          </a:xfrm>
          <a:prstGeom xmlns:a="http://schemas.openxmlformats.org/drawingml/2006/main" prst="roundRect">
            <a:avLst>
              <a:gd name="adj" fmla="val 4765"/>
            </a:avLst>
          </a:prstGeom>
          <a:solidFill xmlns:a="http://schemas.openxmlformats.org/drawingml/2006/main">
            <a:srgbClr val="F6F4EF"/>
          </a:solidFill>
        </p:spPr>
        <p:txBody>
          <a:bodyPr xmlns:a="http://schemas.openxmlformats.org/drawingml/2006/main"/>
          <a:lstStyle xmlns:a="http://schemas.openxmlformats.org/drawingml/2006/main"/>
          <a:p xmlns:a="http://schemas.openxmlformats.org/drawingml/2006/main">
            <a:endParaRPr/>
          </a:p>
        </p:txBody>
      </p:sp>
      <p:sp>
        <p:nvSpPr>
          <p:cNvPr id="5" name="Text 3">
            <a:extLst xmlns:a="http://schemas.openxmlformats.org/drawingml/2006/main">
              <a:ext uri="{FF2B5EF4-FFF2-40B4-BE49-F238E27FC236}">
                <a16:creationId xmlns:a16="http://schemas.microsoft.com/office/drawing/2014/main" id="{036C7C1A-9B44-46A0-96AD-F8BBE948475E}"/>
              </a:ext>
            </a:extLst>
          </p:cNvPr>
          <p:cNvSpPr>
            <a:spLocks xmlns:a="http://schemas.openxmlformats.org/drawingml/2006/main" noGrp="1"/>
          </p:cNvSpPr>
          <p:nvPr/>
        </p:nvSpPr>
        <p:spPr>
          <a:xfrm xmlns:a="http://schemas.openxmlformats.org/drawingml/2006/main">
            <a:off x="1016000" y="2026841"/>
            <a:ext cx="4931537"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00"/>
              </a:lnSpc>
              <a:buNone/>
            </a:pPr>
            <a:r>
              <a:rPr sz="1500" b="1">
                <a:solidFill>
                  <a:srgbClr val="16202E"/>
                </a:solidFill>
                <a:latin typeface="Space Grotesk"/>
                <a:ea typeface="Space Grotesk"/>
                <a:cs typeface="Space Grotesk"/>
              </a:rPr>
              <a:t>What we measure, and why</a:t>
            </a:r>
            <a:endParaRPr sz="1500"/>
          </a:p>
        </p:txBody>
      </p:sp>
      <p:sp>
        <p:nvSpPr>
          <p:cNvPr id="6" name="Text 4">
            <a:extLst xmlns:a="http://schemas.openxmlformats.org/drawingml/2006/main">
              <a:ext uri="{FF2B5EF4-FFF2-40B4-BE49-F238E27FC236}">
                <a16:creationId xmlns:a16="http://schemas.microsoft.com/office/drawing/2014/main" id="{1D5A7A7E-1C17-4794-B735-FC79F4717B9F}"/>
              </a:ext>
            </a:extLst>
          </p:cNvPr>
          <p:cNvSpPr>
            <a:spLocks xmlns:a="http://schemas.openxmlformats.org/drawingml/2006/main" noGrp="1"/>
          </p:cNvSpPr>
          <p:nvPr/>
        </p:nvSpPr>
        <p:spPr>
          <a:xfrm xmlns:a="http://schemas.openxmlformats.org/drawingml/2006/main">
            <a:off x="1016000" y="2318941"/>
            <a:ext cx="4931537" cy="6881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740"/>
              </a:lnSpc>
              <a:buNone/>
            </a:pPr>
            <a:r>
              <a:rPr sz="1200" b="1">
                <a:solidFill>
                  <a:srgbClr val="3E4A5A"/>
                </a:solidFill>
                <a:latin typeface="IBM Plex Sans"/>
                <a:ea typeface="IBM Plex Sans"/>
                <a:cs typeface="IBM Plex Sans"/>
              </a:rPr>
              <a:t>Inbox: behaviour, decision and explanation scored apart, per request and by kind. Dev: regex and Claude 30/30/30. Held-out: regex 30/30/30, Claude final run.</a:t>
            </a:r>
            <a:endParaRPr sz="1200"/>
          </a:p>
        </p:txBody>
      </p:sp>
      <p:sp>
        <p:nvSpPr>
          <p:cNvPr id="7" name="Text 5">
            <a:extLst xmlns:a="http://schemas.openxmlformats.org/drawingml/2006/main">
              <a:ext uri="{FF2B5EF4-FFF2-40B4-BE49-F238E27FC236}">
                <a16:creationId xmlns:a16="http://schemas.microsoft.com/office/drawing/2014/main" id="{79330153-E6FB-4657-BFD3-8B6356EFDCDE}"/>
              </a:ext>
            </a:extLst>
          </p:cNvPr>
          <p:cNvSpPr>
            <a:spLocks xmlns:a="http://schemas.openxmlformats.org/drawingml/2006/main" noGrp="1"/>
          </p:cNvSpPr>
          <p:nvPr/>
        </p:nvSpPr>
        <p:spPr>
          <a:xfrm xmlns:a="http://schemas.openxmlformats.org/drawingml/2006/main">
            <a:off x="1016000" y="3045222"/>
            <a:ext cx="4931537" cy="46725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740"/>
              </a:lnSpc>
              <a:buNone/>
            </a:pPr>
            <a:r>
              <a:rPr sz="1200" b="1">
                <a:solidFill>
                  <a:srgbClr val="3E4A5A"/>
                </a:solidFill>
                <a:latin typeface="IBM Plex Sans"/>
                <a:ea typeface="IBM Plex Sans"/>
                <a:cs typeface="IBM Plex Sans"/>
              </a:rPr>
              <a:t>Simulator: % late and late days first, then defective pieces, cost and max share. Normal and shock runs, 10 seeds each.</a:t>
            </a:r>
            <a:endParaRPr sz="1200"/>
          </a:p>
        </p:txBody>
      </p:sp>
      <p:sp>
        <p:nvSpPr>
          <p:cNvPr id="8" name="Shape 6">
            <a:extLst xmlns:a="http://schemas.openxmlformats.org/drawingml/2006/main">
              <a:ext uri="{FF2B5EF4-FFF2-40B4-BE49-F238E27FC236}">
                <a16:creationId xmlns:a16="http://schemas.microsoft.com/office/drawing/2014/main" id="{49ED2177-1AA0-41B9-AA9B-A0DFE7F621AF}"/>
              </a:ext>
            </a:extLst>
          </p:cNvPr>
          <p:cNvSpPr>
            <a:spLocks xmlns:a="http://schemas.openxmlformats.org/drawingml/2006/main" noGrp="1"/>
          </p:cNvSpPr>
          <p:nvPr/>
        </p:nvSpPr>
        <p:spPr>
          <a:xfrm xmlns:a="http://schemas.openxmlformats.org/drawingml/2006/main">
            <a:off x="6184900" y="1823641"/>
            <a:ext cx="5194300" cy="2132343"/>
          </a:xfrm>
          <a:prstGeom xmlns:a="http://schemas.openxmlformats.org/drawingml/2006/main" prst="roundRect">
            <a:avLst>
              <a:gd name="adj" fmla="val 4765"/>
            </a:avLst>
          </a:prstGeom>
          <a:solidFill xmlns:a="http://schemas.openxmlformats.org/drawingml/2006/main">
            <a:srgbClr val="F6F4EF"/>
          </a:solidFill>
        </p:spPr>
        <p:txBody>
          <a:bodyPr xmlns:a="http://schemas.openxmlformats.org/drawingml/2006/main"/>
          <a:lstStyle xmlns:a="http://schemas.openxmlformats.org/drawingml/2006/main"/>
          <a:p xmlns:a="http://schemas.openxmlformats.org/drawingml/2006/main">
            <a:endParaRPr/>
          </a:p>
        </p:txBody>
      </p:sp>
      <p:sp>
        <p:nvSpPr>
          <p:cNvPr id="9" name="Text 7">
            <a:extLst xmlns:a="http://schemas.openxmlformats.org/drawingml/2006/main">
              <a:ext uri="{FF2B5EF4-FFF2-40B4-BE49-F238E27FC236}">
                <a16:creationId xmlns:a16="http://schemas.microsoft.com/office/drawing/2014/main" id="{8107A13B-C8DB-4A83-A300-96D177D7F94E}"/>
              </a:ext>
            </a:extLst>
          </p:cNvPr>
          <p:cNvSpPr>
            <a:spLocks xmlns:a="http://schemas.openxmlformats.org/drawingml/2006/main" noGrp="1"/>
          </p:cNvSpPr>
          <p:nvPr/>
        </p:nvSpPr>
        <p:spPr>
          <a:xfrm xmlns:a="http://schemas.openxmlformats.org/drawingml/2006/main">
            <a:off x="6388100" y="2026841"/>
            <a:ext cx="4931537"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00"/>
              </a:lnSpc>
              <a:buNone/>
            </a:pPr>
            <a:r>
              <a:rPr sz="1500" b="1">
                <a:solidFill>
                  <a:srgbClr val="16202E"/>
                </a:solidFill>
                <a:latin typeface="Space Grotesk"/>
                <a:ea typeface="Space Grotesk"/>
                <a:cs typeface="Space Grotesk"/>
              </a:rPr>
              <a:t>How the evaluation set is built and checked</a:t>
            </a:r>
            <a:endParaRPr sz="1500"/>
          </a:p>
        </p:txBody>
      </p:sp>
      <p:sp>
        <p:nvSpPr>
          <p:cNvPr id="10" name="Text 8">
            <a:extLst xmlns:a="http://schemas.openxmlformats.org/drawingml/2006/main">
              <a:ext uri="{FF2B5EF4-FFF2-40B4-BE49-F238E27FC236}">
                <a16:creationId xmlns:a16="http://schemas.microsoft.com/office/drawing/2014/main" id="{449D70A1-F023-4CCF-986D-4290D9132F48}"/>
              </a:ext>
            </a:extLst>
          </p:cNvPr>
          <p:cNvSpPr>
            <a:spLocks xmlns:a="http://schemas.openxmlformats.org/drawingml/2006/main" noGrp="1"/>
          </p:cNvSpPr>
          <p:nvPr/>
        </p:nvSpPr>
        <p:spPr>
          <a:xfrm xmlns:a="http://schemas.openxmlformats.org/drawingml/2006/main">
            <a:off x="6388100" y="2318941"/>
            <a:ext cx="4931537" cy="6881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740"/>
              </a:lnSpc>
              <a:buNone/>
            </a:pPr>
            <a:r>
              <a:rPr sz="1200">
                <a:solidFill>
                  <a:srgbClr val="3E4A5A"/>
                </a:solidFill>
                <a:latin typeface="IBM Plex Sans"/>
                <a:ea typeface="IBM Plex Sans"/>
                <a:cs typeface="IBM Plex Sans"/>
              </a:rPr>
              <a:t>All 30 inbox requests hand-labelled, then re-labelled blind by a second member. Counts match the data dictionary and the one disputed case is settled.</a:t>
            </a:r>
            <a:endParaRPr sz="1200"/>
          </a:p>
        </p:txBody>
      </p:sp>
      <p:sp>
        <p:nvSpPr>
          <p:cNvPr id="11" name="Text 9">
            <a:extLst xmlns:a="http://schemas.openxmlformats.org/drawingml/2006/main">
              <a:ext uri="{FF2B5EF4-FFF2-40B4-BE49-F238E27FC236}">
                <a16:creationId xmlns:a16="http://schemas.microsoft.com/office/drawing/2014/main" id="{03DF091D-5DFA-4B71-A39C-3A7B807E797D}"/>
              </a:ext>
            </a:extLst>
          </p:cNvPr>
          <p:cNvSpPr>
            <a:spLocks xmlns:a="http://schemas.openxmlformats.org/drawingml/2006/main" noGrp="1"/>
          </p:cNvSpPr>
          <p:nvPr/>
        </p:nvSpPr>
        <p:spPr>
          <a:xfrm xmlns:a="http://schemas.openxmlformats.org/drawingml/2006/main">
            <a:off x="6388100" y="3045222"/>
            <a:ext cx="4931537" cy="46725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740"/>
              </a:lnSpc>
              <a:buNone/>
            </a:pPr>
            <a:r>
              <a:rPr sz="1200">
                <a:solidFill>
                  <a:srgbClr val="3E4A5A"/>
                </a:solidFill>
                <a:latin typeface="IBM Plex Sans"/>
                <a:ea typeface="IBM Plex Sans"/>
                <a:cs typeface="IBM Plex Sans"/>
              </a:rPr>
              <a:t>A held-out set of 30 reworded requests, frozen 26 Oct, sealed until one final run after the parser freeze.</a:t>
            </a:r>
            <a:endParaRPr sz="1200"/>
          </a:p>
        </p:txBody>
      </p:sp>
      <p:sp>
        <p:nvSpPr>
          <p:cNvPr id="12" name="Shape 10">
            <a:extLst xmlns:a="http://schemas.openxmlformats.org/drawingml/2006/main">
              <a:ext uri="{FF2B5EF4-FFF2-40B4-BE49-F238E27FC236}">
                <a16:creationId xmlns:a16="http://schemas.microsoft.com/office/drawing/2014/main" id="{441EC1F9-8FE9-41E3-A77F-57CCEED31C37}"/>
              </a:ext>
            </a:extLst>
          </p:cNvPr>
          <p:cNvSpPr>
            <a:spLocks xmlns:a="http://schemas.openxmlformats.org/drawingml/2006/main" noGrp="1"/>
          </p:cNvSpPr>
          <p:nvPr/>
        </p:nvSpPr>
        <p:spPr>
          <a:xfrm xmlns:a="http://schemas.openxmlformats.org/drawingml/2006/main">
            <a:off x="812800" y="4133788"/>
            <a:ext cx="5194300" cy="1911416"/>
          </a:xfrm>
          <a:prstGeom xmlns:a="http://schemas.openxmlformats.org/drawingml/2006/main" prst="roundRect">
            <a:avLst>
              <a:gd name="adj" fmla="val 5315"/>
            </a:avLst>
          </a:prstGeom>
          <a:solidFill xmlns:a="http://schemas.openxmlformats.org/drawingml/2006/main">
            <a:srgbClr val="F6F4EF"/>
          </a:solidFill>
        </p:spPr>
        <p:txBody>
          <a:bodyPr xmlns:a="http://schemas.openxmlformats.org/drawingml/2006/main"/>
          <a:lstStyle xmlns:a="http://schemas.openxmlformats.org/drawingml/2006/main"/>
          <a:p xmlns:a="http://schemas.openxmlformats.org/drawingml/2006/main">
            <a:endParaRPr/>
          </a:p>
        </p:txBody>
      </p:sp>
      <p:sp>
        <p:nvSpPr>
          <p:cNvPr id="13" name="Text 11">
            <a:extLst xmlns:a="http://schemas.openxmlformats.org/drawingml/2006/main">
              <a:ext uri="{FF2B5EF4-FFF2-40B4-BE49-F238E27FC236}">
                <a16:creationId xmlns:a16="http://schemas.microsoft.com/office/drawing/2014/main" id="{D19C1116-DBD0-4C4A-9755-EC202C05DC4F}"/>
              </a:ext>
            </a:extLst>
          </p:cNvPr>
          <p:cNvSpPr>
            <a:spLocks xmlns:a="http://schemas.openxmlformats.org/drawingml/2006/main" noGrp="1"/>
          </p:cNvSpPr>
          <p:nvPr/>
        </p:nvSpPr>
        <p:spPr>
          <a:xfrm xmlns:a="http://schemas.openxmlformats.org/drawingml/2006/main">
            <a:off x="1016000" y="4336988"/>
            <a:ext cx="4931537"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00"/>
              </a:lnSpc>
              <a:buNone/>
            </a:pPr>
            <a:r>
              <a:rPr sz="1500" b="1">
                <a:solidFill>
                  <a:srgbClr val="16202E"/>
                </a:solidFill>
                <a:latin typeface="Space Grotesk"/>
                <a:ea typeface="Space Grotesk"/>
                <a:cs typeface="Space Grotesk"/>
              </a:rPr>
              <a:t>Baselines we compare against</a:t>
            </a:r>
            <a:endParaRPr sz="1500"/>
          </a:p>
        </p:txBody>
      </p:sp>
      <p:sp>
        <p:nvSpPr>
          <p:cNvPr id="14" name="Text 12">
            <a:extLst xmlns:a="http://schemas.openxmlformats.org/drawingml/2006/main">
              <a:ext uri="{FF2B5EF4-FFF2-40B4-BE49-F238E27FC236}">
                <a16:creationId xmlns:a16="http://schemas.microsoft.com/office/drawing/2014/main" id="{09E09165-0EFA-40FF-B371-F8DD5F215448}"/>
              </a:ext>
            </a:extLst>
          </p:cNvPr>
          <p:cNvSpPr>
            <a:spLocks xmlns:a="http://schemas.openxmlformats.org/drawingml/2006/main" noGrp="1"/>
          </p:cNvSpPr>
          <p:nvPr/>
        </p:nvSpPr>
        <p:spPr>
          <a:xfrm xmlns:a="http://schemas.openxmlformats.org/drawingml/2006/main">
            <a:off x="1016000" y="4629088"/>
            <a:ext cx="4931537" cy="24632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740"/>
              </a:lnSpc>
              <a:buNone/>
            </a:pPr>
            <a:r>
              <a:rPr sz="1200" b="1">
                <a:solidFill>
                  <a:srgbClr val="3E4A5A"/>
                </a:solidFill>
                <a:latin typeface="IBM Plex Sans"/>
                <a:ea typeface="IBM Plex Sans"/>
                <a:cs typeface="IBM Plex Sans"/>
              </a:rPr>
              <a:t>Language:</a:t>
            </a:r>
            <a:r>
              <a:rPr sz="1200">
                <a:solidFill>
                  <a:srgbClr val="3E4A5A"/>
                </a:solidFill>
                <a:latin typeface="IBM Plex Sans"/>
                <a:ea typeface="IBM Plex Sans"/>
                <a:cs typeface="IBM Plex Sans"/>
              </a:rPr>
              <a:t> our regex parser, with no LLM.</a:t>
            </a:r>
            <a:endParaRPr sz="1200"/>
          </a:p>
        </p:txBody>
      </p:sp>
      <p:sp>
        <p:nvSpPr>
          <p:cNvPr id="15" name="Text 13">
            <a:extLst xmlns:a="http://schemas.openxmlformats.org/drawingml/2006/main">
              <a:ext uri="{FF2B5EF4-FFF2-40B4-BE49-F238E27FC236}">
                <a16:creationId xmlns:a16="http://schemas.microsoft.com/office/drawing/2014/main" id="{3D29C0A3-F7DF-43EA-B9B8-F4D598B79428}"/>
              </a:ext>
            </a:extLst>
          </p:cNvPr>
          <p:cNvSpPr>
            <a:spLocks xmlns:a="http://schemas.openxmlformats.org/drawingml/2006/main" noGrp="1"/>
          </p:cNvSpPr>
          <p:nvPr/>
        </p:nvSpPr>
        <p:spPr>
          <a:xfrm xmlns:a="http://schemas.openxmlformats.org/drawingml/2006/main">
            <a:off x="1016000" y="4913511"/>
            <a:ext cx="4931537" cy="6881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740"/>
              </a:lnSpc>
              <a:buNone/>
            </a:pPr>
            <a:r>
              <a:rPr sz="1200" b="1">
                <a:solidFill>
                  <a:srgbClr val="3E4A5A"/>
                </a:solidFill>
                <a:latin typeface="IBM Plex Sans"/>
                <a:ea typeface="IBM Plex Sans"/>
                <a:cs typeface="IBM Plex Sans"/>
              </a:rPr>
              <a:t>Allocation: random (34% late), greedy_biggest (84%), cheapest (92%) and our earliest-finish rule (1.7%), the simple allocator we match.</a:t>
            </a:r>
            <a:endParaRPr sz="1200"/>
          </a:p>
        </p:txBody>
      </p:sp>
      <p:sp>
        <p:nvSpPr>
          <p:cNvPr id="16" name="Shape 14">
            <a:extLst xmlns:a="http://schemas.openxmlformats.org/drawingml/2006/main">
              <a:ext uri="{FF2B5EF4-FFF2-40B4-BE49-F238E27FC236}">
                <a16:creationId xmlns:a16="http://schemas.microsoft.com/office/drawing/2014/main" id="{34DA6F89-FCC0-4E3F-A523-C9E836701982}"/>
              </a:ext>
            </a:extLst>
          </p:cNvPr>
          <p:cNvSpPr>
            <a:spLocks xmlns:a="http://schemas.openxmlformats.org/drawingml/2006/main" noGrp="1"/>
          </p:cNvSpPr>
          <p:nvPr/>
        </p:nvSpPr>
        <p:spPr>
          <a:xfrm xmlns:a="http://schemas.openxmlformats.org/drawingml/2006/main">
            <a:off x="6184900" y="4133788"/>
            <a:ext cx="5194300" cy="1911416"/>
          </a:xfrm>
          <a:prstGeom xmlns:a="http://schemas.openxmlformats.org/drawingml/2006/main" prst="roundRect">
            <a:avLst>
              <a:gd name="adj" fmla="val 5315"/>
            </a:avLst>
          </a:prstGeom>
          <a:solidFill xmlns:a="http://schemas.openxmlformats.org/drawingml/2006/main">
            <a:srgbClr val="16202E"/>
          </a:solidFill>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D87ACF5E-9E12-4D93-82ED-AB76BA4CF691}"/>
              </a:ext>
            </a:extLst>
          </p:cNvPr>
          <p:cNvSpPr>
            <a:spLocks xmlns:a="http://schemas.openxmlformats.org/drawingml/2006/main" noGrp="1"/>
          </p:cNvSpPr>
          <p:nvPr/>
        </p:nvSpPr>
        <p:spPr>
          <a:xfrm xmlns:a="http://schemas.openxmlformats.org/drawingml/2006/main">
            <a:off x="6388100" y="4336988"/>
            <a:ext cx="4931537"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00"/>
              </a:lnSpc>
              <a:buNone/>
            </a:pPr>
            <a:r>
              <a:rPr sz="1500" b="1">
                <a:solidFill>
                  <a:srgbClr val="F2A65A"/>
                </a:solidFill>
                <a:latin typeface="Space Grotesk"/>
                <a:ea typeface="Space Grotesk"/>
                <a:cs typeface="Space Grotesk"/>
              </a:rPr>
              <a:t>Track 2 minimum, all covered</a:t>
            </a:r>
            <a:endParaRPr sz="1500"/>
          </a:p>
        </p:txBody>
      </p:sp>
      <p:sp>
        <p:nvSpPr>
          <p:cNvPr id="18" name="Text 16">
            <a:extLst xmlns:a="http://schemas.openxmlformats.org/drawingml/2006/main">
              <a:ext uri="{FF2B5EF4-FFF2-40B4-BE49-F238E27FC236}">
                <a16:creationId xmlns:a16="http://schemas.microsoft.com/office/drawing/2014/main" id="{8B87EE04-30FC-4268-8C7A-BBB5EB6D1441}"/>
              </a:ext>
            </a:extLst>
          </p:cNvPr>
          <p:cNvSpPr>
            <a:spLocks xmlns:a="http://schemas.openxmlformats.org/drawingml/2006/main" noGrp="1"/>
          </p:cNvSpPr>
          <p:nvPr/>
        </p:nvSpPr>
        <p:spPr>
          <a:xfrm xmlns:a="http://schemas.openxmlformats.org/drawingml/2006/main">
            <a:off x="6388100" y="4629088"/>
            <a:ext cx="4931537" cy="90910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740"/>
              </a:lnSpc>
              <a:buNone/>
            </a:pPr>
            <a:r>
              <a:rPr sz="1200">
                <a:solidFill>
                  <a:srgbClr val="E3E8EE"/>
                </a:solidFill>
                <a:latin typeface="IBM Plex Sans"/>
                <a:ea typeface="IBM Plex Sans"/>
                <a:cs typeface="IBM Plex Sans"/>
              </a:rPr>
              <a:t>All 30 requests judged by behaviour, decision and explanation. Primary objective 1.7% late, 1.9% under shock. Hybrid trades lateness for 4.6% defects, fair caps any shop at 20% share. 11 failure cases logged.</a:t>
            </a:r>
            <a:endParaRPr sz="1200"/>
          </a:p>
        </p:txBody>
      </p:sp>
    </p:spTree>
    <p:extLst>
      <p:ext uri="{BB962C8B-B14F-4D97-AF65-F5344CB8AC3E}">
        <p14:creationId xmlns:p14="http://schemas.microsoft.com/office/powerpoint/2010/main" val="290820334"/>
      </p:ext>
    </p:extLst>
  </p:cSld>
</p:sld>
</file>

<file path=ppt/slides/slide9.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DA3BD05-484B-4CE2-A7B3-635257934124}"/>
              </a:ext>
            </a:extLst>
          </p:cNvPr>
          <p:cNvSpPr>
            <a:spLocks xmlns:a="http://schemas.openxmlformats.org/drawingml/2006/main" noGrp="1"/>
          </p:cNvSpPr>
          <p:nvPr/>
        </p:nvSpPr>
        <p:spPr>
          <a:xfrm xmlns:a="http://schemas.openxmlformats.org/drawingml/2006/main">
            <a:off x="812800" y="812800"/>
            <a:ext cx="1088339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spc="150">
                <a:solidFill>
                  <a:srgbClr val="A84A14"/>
                </a:solidFill>
                <a:latin typeface="IBM Plex Sans"/>
                <a:ea typeface="IBM Plex Sans"/>
                <a:cs typeface="IBM Plex Sans"/>
              </a:rPr>
              <a:t>HARD CASES</a:t>
            </a:r>
            <a:endParaRPr sz="1200"/>
          </a:p>
        </p:txBody>
      </p:sp>
      <p:sp>
        <p:nvSpPr>
          <p:cNvPr id="3" name="Text 1">
            <a:extLst xmlns:a="http://schemas.openxmlformats.org/drawingml/2006/main">
              <a:ext uri="{FF2B5EF4-FFF2-40B4-BE49-F238E27FC236}">
                <a16:creationId xmlns:a16="http://schemas.microsoft.com/office/drawing/2014/main" id="{BA462815-F52B-44A7-B748-CB7533F4D053}"/>
              </a:ext>
            </a:extLst>
          </p:cNvPr>
          <p:cNvSpPr>
            <a:spLocks xmlns:a="http://schemas.openxmlformats.org/drawingml/2006/main" noGrp="1"/>
          </p:cNvSpPr>
          <p:nvPr>
            <p:ph type="title" idx="0"/>
          </p:nvPr>
        </p:nvSpPr>
        <p:spPr>
          <a:xfrm xmlns:a="http://schemas.openxmlformats.org/drawingml/2006/main">
            <a:off x="812800" y="1229320"/>
            <a:ext cx="10883392"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i="0">
                <a:solidFill>
                  <a:srgbClr val="16202E"/>
                </a:solidFill>
                <a:latin typeface="Space Grotesk"/>
                <a:ea typeface="Space Grotesk"/>
                <a:cs typeface="Space Grotesk"/>
              </a:rPr>
              <a:t>Three hard cases, and how we handle them</a:t>
            </a:r>
            <a:endParaRPr sz="2800"/>
          </a:p>
        </p:txBody>
      </p:sp>
      <p:sp>
        <p:nvSpPr>
          <p:cNvPr id="4" name="Shape 2">
            <a:extLst xmlns:a="http://schemas.openxmlformats.org/drawingml/2006/main">
              <a:ext uri="{FF2B5EF4-FFF2-40B4-BE49-F238E27FC236}">
                <a16:creationId xmlns:a16="http://schemas.microsoft.com/office/drawing/2014/main" id="{52CF3949-111F-424A-973A-2D2FCC69B4B9}"/>
              </a:ext>
            </a:extLst>
          </p:cNvPr>
          <p:cNvSpPr>
            <a:spLocks xmlns:a="http://schemas.openxmlformats.org/drawingml/2006/main" noGrp="1"/>
          </p:cNvSpPr>
          <p:nvPr/>
        </p:nvSpPr>
        <p:spPr>
          <a:xfrm xmlns:a="http://schemas.openxmlformats.org/drawingml/2006/main">
            <a:off x="812800" y="1839516"/>
            <a:ext cx="3403600" cy="0"/>
          </a:xfrm>
          <a:prstGeom xmlns:a="http://schemas.openxmlformats.org/drawingml/2006/main" prst="line">
            <a:avLst/>
          </a:prstGeom>
          <a:noFill xmlns:a="http://schemas.openxmlformats.org/drawingml/2006/main"/>
          <a:ln xmlns:a="http://schemas.openxmlformats.org/drawingml/2006/main" w="31750">
            <a:solidFill>
              <a:srgbClr val="A84A14"/>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3">
            <a:extLst xmlns:a="http://schemas.openxmlformats.org/drawingml/2006/main">
              <a:ext uri="{FF2B5EF4-FFF2-40B4-BE49-F238E27FC236}">
                <a16:creationId xmlns:a16="http://schemas.microsoft.com/office/drawing/2014/main" id="{D7B87531-111A-423D-B142-935C3FBBF301}"/>
              </a:ext>
            </a:extLst>
          </p:cNvPr>
          <p:cNvSpPr>
            <a:spLocks xmlns:a="http://schemas.openxmlformats.org/drawingml/2006/main" noGrp="1"/>
          </p:cNvSpPr>
          <p:nvPr/>
        </p:nvSpPr>
        <p:spPr>
          <a:xfrm xmlns:a="http://schemas.openxmlformats.org/drawingml/2006/main">
            <a:off x="812800" y="2005676"/>
            <a:ext cx="3505708" cy="4826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00"/>
              </a:lnSpc>
              <a:buNone/>
            </a:pPr>
            <a:r>
              <a:rPr sz="1500" b="1">
                <a:solidFill>
                  <a:srgbClr val="16202E"/>
                </a:solidFill>
                <a:latin typeface="Space Grotesk"/>
                <a:ea typeface="Space Grotesk"/>
                <a:cs typeface="Space Grotesk"/>
              </a:rPr>
              <a:t>An order named, but no quantity or date</a:t>
            </a:r>
            <a:endParaRPr sz="1500"/>
          </a:p>
        </p:txBody>
      </p:sp>
      <p:sp>
        <p:nvSpPr>
          <p:cNvPr id="6" name="Text 4">
            <a:extLst xmlns:a="http://schemas.openxmlformats.org/drawingml/2006/main">
              <a:ext uri="{FF2B5EF4-FFF2-40B4-BE49-F238E27FC236}">
                <a16:creationId xmlns:a16="http://schemas.microsoft.com/office/drawing/2014/main" id="{E84F6B98-F32A-42DC-A0AB-E48C0A9726A6}"/>
              </a:ext>
            </a:extLst>
          </p:cNvPr>
          <p:cNvSpPr>
            <a:spLocks xmlns:a="http://schemas.openxmlformats.org/drawingml/2006/main" noGrp="1"/>
          </p:cNvSpPr>
          <p:nvPr/>
        </p:nvSpPr>
        <p:spPr>
          <a:xfrm xmlns:a="http://schemas.openxmlformats.org/drawingml/2006/main">
            <a:off x="812800" y="2551776"/>
            <a:ext cx="3505708"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i="1">
                <a:solidFill>
                  <a:srgbClr val="16202E"/>
                </a:solidFill>
                <a:latin typeface="IBM Plex Sans"/>
                <a:ea typeface="IBM Plex Sans"/>
                <a:cs typeface="IBM Plex Sans"/>
              </a:rPr>
              <a:t>R11: “OldMill is free right now — give them ORD-008.”</a:t>
            </a:r>
            <a:endParaRPr sz="1200"/>
          </a:p>
        </p:txBody>
      </p:sp>
      <p:sp>
        <p:nvSpPr>
          <p:cNvPr id="7" name="Text 5">
            <a:extLst xmlns:a="http://schemas.openxmlformats.org/drawingml/2006/main">
              <a:ext uri="{FF2B5EF4-FFF2-40B4-BE49-F238E27FC236}">
                <a16:creationId xmlns:a16="http://schemas.microsoft.com/office/drawing/2014/main" id="{878C851D-D9EF-4C24-8E6F-D4B833464FF0}"/>
              </a:ext>
            </a:extLst>
          </p:cNvPr>
          <p:cNvSpPr>
            <a:spLocks xmlns:a="http://schemas.openxmlformats.org/drawingml/2006/main" noGrp="1"/>
          </p:cNvSpPr>
          <p:nvPr/>
        </p:nvSpPr>
        <p:spPr>
          <a:xfrm xmlns:a="http://schemas.openxmlformats.org/drawingml/2006/main">
            <a:off x="812800" y="3067317"/>
            <a:ext cx="3505708" cy="6881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740"/>
              </a:lnSpc>
              <a:buNone/>
            </a:pPr>
            <a:r>
              <a:rPr sz="1200">
                <a:solidFill>
                  <a:srgbClr val="3E4A5A"/>
                </a:solidFill>
                <a:latin typeface="IBM Plex Sans"/>
                <a:ea typeface="IBM Plex Sans"/>
                <a:cs typeface="IBM Plex Sans"/>
              </a:rPr>
              <a:t>Claude marked quantity and date as missing, so the desk asked instead of refusing a suspended shop: 4 of 4 such requests wrong.</a:t>
            </a:r>
            <a:endParaRPr sz="1200"/>
          </a:p>
        </p:txBody>
      </p:sp>
      <p:sp>
        <p:nvSpPr>
          <p:cNvPr id="8" name="Text 6">
            <a:extLst xmlns:a="http://schemas.openxmlformats.org/drawingml/2006/main">
              <a:ext uri="{FF2B5EF4-FFF2-40B4-BE49-F238E27FC236}">
                <a16:creationId xmlns:a16="http://schemas.microsoft.com/office/drawing/2014/main" id="{6E28E02E-7065-4BD1-8D18-B34E6AE70563}"/>
              </a:ext>
            </a:extLst>
          </p:cNvPr>
          <p:cNvSpPr>
            <a:spLocks xmlns:a="http://schemas.openxmlformats.org/drawingml/2006/main" noGrp="1"/>
          </p:cNvSpPr>
          <p:nvPr/>
        </p:nvSpPr>
        <p:spPr>
          <a:xfrm xmlns:a="http://schemas.openxmlformats.org/drawingml/2006/main">
            <a:off x="812800" y="3818998"/>
            <a:ext cx="3505708" cy="6881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740"/>
              </a:lnSpc>
              <a:buNone/>
            </a:pPr>
            <a:r>
              <a:rPr sz="1200" b="1">
                <a:solidFill>
                  <a:srgbClr val="3E4A5A"/>
                </a:solidFill>
                <a:latin typeface="IBM Plex Sans"/>
                <a:ea typeface="IBM Plex Sans"/>
                <a:cs typeface="IBM Plex Sans"/>
              </a:rPr>
              <a:t>Fixed:</a:t>
            </a:r>
            <a:r>
              <a:rPr sz="1200">
                <a:solidFill>
                  <a:srgbClr val="3E4A5A"/>
                </a:solidFill>
                <a:latin typeface="IBM Plex Sans"/>
                <a:ea typeface="IBM Plex Sans"/>
                <a:cs typeface="IBM Plex Sans"/>
              </a:rPr>
              <a:t> “missing” now means only what the sender says is unknown. 26 → 30/30 on dev; the held-out set includes rewordings.</a:t>
            </a:r>
            <a:endParaRPr sz="1200"/>
          </a:p>
        </p:txBody>
      </p:sp>
      <p:sp>
        <p:nvSpPr>
          <p:cNvPr id="9" name="Shape 7">
            <a:extLst xmlns:a="http://schemas.openxmlformats.org/drawingml/2006/main">
              <a:ext uri="{FF2B5EF4-FFF2-40B4-BE49-F238E27FC236}">
                <a16:creationId xmlns:a16="http://schemas.microsoft.com/office/drawing/2014/main" id="{359E6890-BD9C-42A2-AA34-F29CE02D6652}"/>
              </a:ext>
            </a:extLst>
          </p:cNvPr>
          <p:cNvSpPr>
            <a:spLocks xmlns:a="http://schemas.openxmlformats.org/drawingml/2006/main" noGrp="1"/>
          </p:cNvSpPr>
          <p:nvPr/>
        </p:nvSpPr>
        <p:spPr>
          <a:xfrm xmlns:a="http://schemas.openxmlformats.org/drawingml/2006/main">
            <a:off x="4394200" y="1839516"/>
            <a:ext cx="3403600" cy="0"/>
          </a:xfrm>
          <a:prstGeom xmlns:a="http://schemas.openxmlformats.org/drawingml/2006/main" prst="line">
            <a:avLst/>
          </a:prstGeom>
          <a:noFill xmlns:a="http://schemas.openxmlformats.org/drawingml/2006/main"/>
          <a:ln xmlns:a="http://schemas.openxmlformats.org/drawingml/2006/main" w="31750">
            <a:solidFill>
              <a:srgbClr val="A84A14"/>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Text 8">
            <a:extLst xmlns:a="http://schemas.openxmlformats.org/drawingml/2006/main">
              <a:ext uri="{FF2B5EF4-FFF2-40B4-BE49-F238E27FC236}">
                <a16:creationId xmlns:a16="http://schemas.microsoft.com/office/drawing/2014/main" id="{13561344-833E-46D6-85DC-7A72A045BAEF}"/>
              </a:ext>
            </a:extLst>
          </p:cNvPr>
          <p:cNvSpPr>
            <a:spLocks xmlns:a="http://schemas.openxmlformats.org/drawingml/2006/main" noGrp="1"/>
          </p:cNvSpPr>
          <p:nvPr/>
        </p:nvSpPr>
        <p:spPr>
          <a:xfrm xmlns:a="http://schemas.openxmlformats.org/drawingml/2006/main">
            <a:off x="4394200" y="2005676"/>
            <a:ext cx="3505708"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00"/>
              </a:lnSpc>
              <a:buNone/>
            </a:pPr>
            <a:r>
              <a:rPr sz="1500" b="1">
                <a:solidFill>
                  <a:srgbClr val="16202E"/>
                </a:solidFill>
                <a:latin typeface="Space Grotesk"/>
                <a:ea typeface="Space Grotesk"/>
                <a:cs typeface="Space Grotesk"/>
              </a:rPr>
              <a:t>Two problems in one message</a:t>
            </a:r>
            <a:endParaRPr sz="1500"/>
          </a:p>
        </p:txBody>
      </p:sp>
      <p:sp>
        <p:nvSpPr>
          <p:cNvPr id="11" name="Text 9">
            <a:extLst xmlns:a="http://schemas.openxmlformats.org/drawingml/2006/main">
              <a:ext uri="{FF2B5EF4-FFF2-40B4-BE49-F238E27FC236}">
                <a16:creationId xmlns:a16="http://schemas.microsoft.com/office/drawing/2014/main" id="{EA6BCD26-4DB5-41EE-ADFE-94DA0B364CF1}"/>
              </a:ext>
            </a:extLst>
          </p:cNvPr>
          <p:cNvSpPr>
            <a:spLocks xmlns:a="http://schemas.openxmlformats.org/drawingml/2006/main" noGrp="1"/>
          </p:cNvSpPr>
          <p:nvPr/>
        </p:nvSpPr>
        <p:spPr>
          <a:xfrm xmlns:a="http://schemas.openxmlformats.org/drawingml/2006/main">
            <a:off x="4394200" y="2323176"/>
            <a:ext cx="35057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i="1">
                <a:solidFill>
                  <a:srgbClr val="16202E"/>
                </a:solidFill>
                <a:latin typeface="IBM Plex Sans"/>
                <a:ea typeface="IBM Plex Sans"/>
                <a:cs typeface="IBM Plex Sans"/>
              </a:rPr>
              <a:t>R14: “QuickStitch for the scarves on ORD-103?”</a:t>
            </a:r>
            <a:endParaRPr sz="1200"/>
          </a:p>
        </p:txBody>
      </p:sp>
      <p:sp>
        <p:nvSpPr>
          <p:cNvPr id="12" name="Text 10">
            <a:extLst xmlns:a="http://schemas.openxmlformats.org/drawingml/2006/main">
              <a:ext uri="{FF2B5EF4-FFF2-40B4-BE49-F238E27FC236}">
                <a16:creationId xmlns:a16="http://schemas.microsoft.com/office/drawing/2014/main" id="{DBD7795A-B7B0-4EE4-90E5-95CED9FBDB2A}"/>
              </a:ext>
            </a:extLst>
          </p:cNvPr>
          <p:cNvSpPr>
            <a:spLocks xmlns:a="http://schemas.openxmlformats.org/drawingml/2006/main" noGrp="1"/>
          </p:cNvSpPr>
          <p:nvPr/>
        </p:nvSpPr>
        <p:spPr>
          <a:xfrm xmlns:a="http://schemas.openxmlformats.org/drawingml/2006/main">
            <a:off x="4394200" y="2625396"/>
            <a:ext cx="3505708" cy="46725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740"/>
              </a:lnSpc>
              <a:buNone/>
            </a:pPr>
            <a:r>
              <a:rPr sz="1200">
                <a:solidFill>
                  <a:srgbClr val="3E4A5A"/>
                </a:solidFill>
                <a:latin typeface="IBM Plex Sans"/>
                <a:ea typeface="IBM Plex Sans"/>
                <a:cs typeface="IBM Plex Sans"/>
              </a:rPr>
              <a:t>QuickStitch makes no accessories, and no workshop can make Apr 4 anyway.</a:t>
            </a:r>
            <a:endParaRPr sz="1200"/>
          </a:p>
        </p:txBody>
      </p:sp>
      <p:sp>
        <p:nvSpPr>
          <p:cNvPr id="13" name="Text 11">
            <a:extLst xmlns:a="http://schemas.openxmlformats.org/drawingml/2006/main">
              <a:ext uri="{FF2B5EF4-FFF2-40B4-BE49-F238E27FC236}">
                <a16:creationId xmlns:a16="http://schemas.microsoft.com/office/drawing/2014/main" id="{22D07BEF-3F18-4158-B33F-9BF6F27A8427}"/>
              </a:ext>
            </a:extLst>
          </p:cNvPr>
          <p:cNvSpPr>
            <a:spLocks xmlns:a="http://schemas.openxmlformats.org/drawingml/2006/main" noGrp="1"/>
          </p:cNvSpPr>
          <p:nvPr/>
        </p:nvSpPr>
        <p:spPr>
          <a:xfrm xmlns:a="http://schemas.openxmlformats.org/drawingml/2006/main">
            <a:off x="4394200" y="3156148"/>
            <a:ext cx="3505708" cy="90910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740"/>
              </a:lnSpc>
              <a:buNone/>
            </a:pPr>
            <a:r>
              <a:rPr sz="1200" b="1">
                <a:solidFill>
                  <a:srgbClr val="3E4A5A"/>
                </a:solidFill>
                <a:latin typeface="IBM Plex Sans"/>
                <a:ea typeface="IBM Plex Sans"/>
                <a:cs typeface="IBM Plex Sans"/>
              </a:rPr>
              <a:t>Handled:</a:t>
            </a:r>
            <a:r>
              <a:rPr sz="1200">
                <a:solidFill>
                  <a:srgbClr val="3E4A5A"/>
                </a:solidFill>
                <a:latin typeface="IBM Plex Sans"/>
                <a:ea typeface="IBM Plex Sans"/>
                <a:cs typeface="IBM Plex Sans"/>
              </a:rPr>
              <a:t> the desk refuses, names the earliest single shop (SteadyHands, Apr 17, 13 days late) and offers to accept lateness, split or escalate. A test pins it.</a:t>
            </a:r>
            <a:endParaRPr sz="1200"/>
          </a:p>
        </p:txBody>
      </p:sp>
      <p:sp>
        <p:nvSpPr>
          <p:cNvPr id="14" name="Shape 12">
            <a:extLst xmlns:a="http://schemas.openxmlformats.org/drawingml/2006/main">
              <a:ext uri="{FF2B5EF4-FFF2-40B4-BE49-F238E27FC236}">
                <a16:creationId xmlns:a16="http://schemas.microsoft.com/office/drawing/2014/main" id="{9338D150-919E-451A-BD01-C0F138ED5DC3}"/>
              </a:ext>
            </a:extLst>
          </p:cNvPr>
          <p:cNvSpPr>
            <a:spLocks xmlns:a="http://schemas.openxmlformats.org/drawingml/2006/main" noGrp="1"/>
          </p:cNvSpPr>
          <p:nvPr/>
        </p:nvSpPr>
        <p:spPr>
          <a:xfrm xmlns:a="http://schemas.openxmlformats.org/drawingml/2006/main">
            <a:off x="7975600" y="1839516"/>
            <a:ext cx="3403600" cy="0"/>
          </a:xfrm>
          <a:prstGeom xmlns:a="http://schemas.openxmlformats.org/drawingml/2006/main" prst="line">
            <a:avLst/>
          </a:prstGeom>
          <a:noFill xmlns:a="http://schemas.openxmlformats.org/drawingml/2006/main"/>
          <a:ln xmlns:a="http://schemas.openxmlformats.org/drawingml/2006/main" w="31750">
            <a:solidFill>
              <a:srgbClr val="A84A14"/>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Text 13">
            <a:extLst xmlns:a="http://schemas.openxmlformats.org/drawingml/2006/main">
              <a:ext uri="{FF2B5EF4-FFF2-40B4-BE49-F238E27FC236}">
                <a16:creationId xmlns:a16="http://schemas.microsoft.com/office/drawing/2014/main" id="{4EE00778-E049-42EC-A40B-2705E71B60A6}"/>
              </a:ext>
            </a:extLst>
          </p:cNvPr>
          <p:cNvSpPr>
            <a:spLocks xmlns:a="http://schemas.openxmlformats.org/drawingml/2006/main" noGrp="1"/>
          </p:cNvSpPr>
          <p:nvPr/>
        </p:nvSpPr>
        <p:spPr>
          <a:xfrm xmlns:a="http://schemas.openxmlformats.org/drawingml/2006/main">
            <a:off x="7975600" y="2005676"/>
            <a:ext cx="3505708"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00"/>
              </a:lnSpc>
              <a:buNone/>
            </a:pPr>
            <a:r>
              <a:rPr sz="1500" b="1">
                <a:solidFill>
                  <a:srgbClr val="16202E"/>
                </a:solidFill>
                <a:latin typeface="Space Grotesk"/>
                <a:ea typeface="Space Grotesk"/>
                <a:cs typeface="Space Grotesk"/>
              </a:rPr>
              <a:t>A workshop closes mid-run</a:t>
            </a:r>
            <a:endParaRPr sz="1500"/>
          </a:p>
        </p:txBody>
      </p:sp>
      <p:sp>
        <p:nvSpPr>
          <p:cNvPr id="16" name="Text 14">
            <a:extLst xmlns:a="http://schemas.openxmlformats.org/drawingml/2006/main">
              <a:ext uri="{FF2B5EF4-FFF2-40B4-BE49-F238E27FC236}">
                <a16:creationId xmlns:a16="http://schemas.microsoft.com/office/drawing/2014/main" id="{7517925E-7B2C-4129-93B7-EED593A6D64D}"/>
              </a:ext>
            </a:extLst>
          </p:cNvPr>
          <p:cNvSpPr>
            <a:spLocks xmlns:a="http://schemas.openxmlformats.org/drawingml/2006/main" noGrp="1"/>
          </p:cNvSpPr>
          <p:nvPr/>
        </p:nvSpPr>
        <p:spPr>
          <a:xfrm xmlns:a="http://schemas.openxmlformats.org/drawingml/2006/main">
            <a:off x="7975600" y="2323176"/>
            <a:ext cx="3505708"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i="1">
                <a:solidFill>
                  <a:srgbClr val="16202E"/>
                </a:solidFill>
                <a:latin typeface="IBM Plex Sans"/>
                <a:ea typeface="IBM Plex Sans"/>
                <a:cs typeface="IBM Plex Sans"/>
              </a:rPr>
              <a:t>Shock test: one shop shuts for two weeks, unannounced.</a:t>
            </a:r>
            <a:endParaRPr sz="1200"/>
          </a:p>
        </p:txBody>
      </p:sp>
      <p:sp>
        <p:nvSpPr>
          <p:cNvPr id="17" name="Text 15">
            <a:extLst xmlns:a="http://schemas.openxmlformats.org/drawingml/2006/main">
              <a:ext uri="{FF2B5EF4-FFF2-40B4-BE49-F238E27FC236}">
                <a16:creationId xmlns:a16="http://schemas.microsoft.com/office/drawing/2014/main" id="{B6B42E99-5AB2-4973-91AC-743762D39FD9}"/>
              </a:ext>
            </a:extLst>
          </p:cNvPr>
          <p:cNvSpPr>
            <a:spLocks xmlns:a="http://schemas.openxmlformats.org/drawingml/2006/main" noGrp="1"/>
          </p:cNvSpPr>
          <p:nvPr/>
        </p:nvSpPr>
        <p:spPr>
          <a:xfrm xmlns:a="http://schemas.openxmlformats.org/drawingml/2006/main">
            <a:off x="7975600" y="2838717"/>
            <a:ext cx="3505708" cy="46725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740"/>
              </a:lnSpc>
              <a:buNone/>
            </a:pPr>
            <a:r>
              <a:rPr sz="1200">
                <a:solidFill>
                  <a:srgbClr val="3E4A5A"/>
                </a:solidFill>
                <a:latin typeface="IBM Plex Sans"/>
                <a:ea typeface="IBM Plex Sans"/>
                <a:cs typeface="IBM Plex Sans"/>
              </a:rPr>
              <a:t>Its queue stops moving, and our allocator routes around it: 1.7% → 1.9% late.</a:t>
            </a:r>
            <a:endParaRPr sz="1200"/>
          </a:p>
        </p:txBody>
      </p:sp>
      <p:sp>
        <p:nvSpPr>
          <p:cNvPr id="18" name="Text 16">
            <a:extLst xmlns:a="http://schemas.openxmlformats.org/drawingml/2006/main">
              <a:ext uri="{FF2B5EF4-FFF2-40B4-BE49-F238E27FC236}">
                <a16:creationId xmlns:a16="http://schemas.microsoft.com/office/drawing/2014/main" id="{7D6F5644-B0F1-4760-AD02-C59352715657}"/>
              </a:ext>
            </a:extLst>
          </p:cNvPr>
          <p:cNvSpPr>
            <a:spLocks xmlns:a="http://schemas.openxmlformats.org/drawingml/2006/main" noGrp="1"/>
          </p:cNvSpPr>
          <p:nvPr/>
        </p:nvSpPr>
        <p:spPr>
          <a:xfrm xmlns:a="http://schemas.openxmlformats.org/drawingml/2006/main">
            <a:off x="7975600" y="3369469"/>
            <a:ext cx="3505708" cy="6881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740"/>
              </a:lnSpc>
              <a:buNone/>
            </a:pPr>
            <a:r>
              <a:rPr sz="1200" b="1">
                <a:solidFill>
                  <a:srgbClr val="3E4A5A"/>
                </a:solidFill>
                <a:latin typeface="IBM Plex Sans"/>
                <a:ea typeface="IBM Plex Sans"/>
                <a:cs typeface="IBM Plex Sans"/>
              </a:rPr>
              <a:t>Reported, not shipped:</a:t>
            </a:r>
            <a:r>
              <a:rPr sz="1200">
                <a:solidFill>
                  <a:srgbClr val="3E4A5A"/>
                </a:solidFill>
                <a:latin typeface="IBM Plex Sans"/>
                <a:ea typeface="IBM Plex Sans"/>
                <a:cs typeface="IBM Plex Sans"/>
              </a:rPr>
              <a:t> an explicit stall detector made things worse (3–4% late), so we keep the simpler rule and say why.</a:t>
            </a:r>
            <a:endParaRPr sz="1200"/>
          </a:p>
        </p:txBody>
      </p:sp>
    </p:spTree>
    <p:extLst>
      <p:ext uri="{BB962C8B-B14F-4D97-AF65-F5344CB8AC3E}">
        <p14:creationId xmlns:p14="http://schemas.microsoft.com/office/powerpoint/2010/main" val="139878757"/>
      </p:ext>
    </p:extLst>
  </p:cSld>
</p:sld>
</file>

<file path=ppt/slides/slide10.xml><?xml version="1.0" encoding="utf-8"?>
<p:sld xmlns:p="http://schemas.openxmlformats.org/presentationml/2006/main">
  <p:cSld>
    <p:bg>
      <p:bgPr>
        <a:solidFill xmlns:a="http://schemas.openxmlformats.org/drawingml/2006/main">
          <a:srgbClr val="16202E"/>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62767A9-08DF-4C92-9E8C-67744561112B}"/>
              </a:ext>
            </a:extLst>
          </p:cNvPr>
          <p:cNvSpPr>
            <a:spLocks xmlns:a="http://schemas.openxmlformats.org/drawingml/2006/main" noGrp="1"/>
          </p:cNvSpPr>
          <p:nvPr/>
        </p:nvSpPr>
        <p:spPr>
          <a:xfrm xmlns:a="http://schemas.openxmlformats.org/drawingml/2006/main">
            <a:off x="812800" y="812800"/>
            <a:ext cx="1088339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spc="150">
                <a:solidFill>
                  <a:srgbClr val="F2A65A"/>
                </a:solidFill>
                <a:latin typeface="IBM Plex Sans"/>
                <a:ea typeface="IBM Plex Sans"/>
                <a:cs typeface="IBM Plex Sans"/>
              </a:rPr>
              <a:t>DEMO, ABOUT 2 MINUTES</a:t>
            </a:r>
            <a:endParaRPr sz="1200"/>
          </a:p>
        </p:txBody>
      </p:sp>
      <p:sp>
        <p:nvSpPr>
          <p:cNvPr id="3" name="Text 1">
            <a:extLst xmlns:a="http://schemas.openxmlformats.org/drawingml/2006/main">
              <a:ext uri="{FF2B5EF4-FFF2-40B4-BE49-F238E27FC236}">
                <a16:creationId xmlns:a16="http://schemas.microsoft.com/office/drawing/2014/main" id="{13370681-579B-4BE0-8508-6975AA6D9C6B}"/>
              </a:ext>
            </a:extLst>
          </p:cNvPr>
          <p:cNvSpPr>
            <a:spLocks xmlns:a="http://schemas.openxmlformats.org/drawingml/2006/main" noGrp="1"/>
          </p:cNvSpPr>
          <p:nvPr>
            <p:ph type="title" idx="0"/>
          </p:nvPr>
        </p:nvSpPr>
        <p:spPr>
          <a:xfrm xmlns:a="http://schemas.openxmlformats.org/drawingml/2006/main">
            <a:off x="812800" y="1229320"/>
            <a:ext cx="10883392"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i="0">
                <a:solidFill>
                  <a:srgbClr val="F6F4EF"/>
                </a:solidFill>
                <a:latin typeface="Space Grotesk"/>
                <a:ea typeface="Space Grotesk"/>
                <a:cs typeface="Space Grotesk"/>
              </a:rPr>
              <a:t>What you will see, on the live desk</a:t>
            </a:r>
            <a:endParaRPr sz="2800"/>
          </a:p>
        </p:txBody>
      </p:sp>
      <p:sp>
        <p:nvSpPr>
          <p:cNvPr id="4" name="Text 2">
            <a:extLst xmlns:a="http://schemas.openxmlformats.org/drawingml/2006/main">
              <a:ext uri="{FF2B5EF4-FFF2-40B4-BE49-F238E27FC236}">
                <a16:creationId xmlns:a16="http://schemas.microsoft.com/office/drawing/2014/main" id="{6C016928-14A9-4E98-86DE-7A8C06865B5D}"/>
              </a:ext>
            </a:extLst>
          </p:cNvPr>
          <p:cNvSpPr>
            <a:spLocks xmlns:a="http://schemas.openxmlformats.org/drawingml/2006/main" noGrp="1"/>
          </p:cNvSpPr>
          <p:nvPr/>
        </p:nvSpPr>
        <p:spPr>
          <a:xfrm xmlns:a="http://schemas.openxmlformats.org/drawingml/2006/main">
            <a:off x="812800" y="1823641"/>
            <a:ext cx="616544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F2A65A"/>
                </a:solidFill>
                <a:latin typeface="IBM Plex Sans"/>
                <a:ea typeface="IBM Plex Sans"/>
                <a:cs typeface="IBM Plex Sans"/>
              </a:rPr>
              <a:t>The dispatcher’s morning, step by step</a:t>
            </a:r>
            <a:endParaRPr sz="1200"/>
          </a:p>
        </p:txBody>
      </p:sp>
      <p:sp>
        <p:nvSpPr>
          <p:cNvPr id="5" name="Text 3">
            <a:extLst xmlns:a="http://schemas.openxmlformats.org/drawingml/2006/main">
              <a:ext uri="{FF2B5EF4-FFF2-40B4-BE49-F238E27FC236}">
                <a16:creationId xmlns:a16="http://schemas.microsoft.com/office/drawing/2014/main" id="{BDD77149-243C-495E-BD02-3421265899DD}"/>
              </a:ext>
            </a:extLst>
          </p:cNvPr>
          <p:cNvSpPr>
            <a:spLocks xmlns:a="http://schemas.openxmlformats.org/drawingml/2006/main" noGrp="1"/>
          </p:cNvSpPr>
          <p:nvPr/>
        </p:nvSpPr>
        <p:spPr>
          <a:xfrm xmlns:a="http://schemas.openxmlformats.org/drawingml/2006/main">
            <a:off x="869752" y="2125861"/>
            <a:ext cx="6100872" cy="208756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196850" indent="-196850" algn="l">
              <a:lnSpc>
                <a:spcPts val="2030"/>
              </a:lnSpc>
              <a:buSzPct val="100000"/>
              <a:buFontTx/>
              <a:buAutoNum type="arabicPeriod"/>
            </a:pPr>
            <a:r>
              <a:rPr sz="1400">
                <a:solidFill>
                  <a:srgbClr val="E3E8EE"/>
                </a:solidFill>
                <a:latin typeface="IBM Plex Sans"/>
                <a:ea typeface="IBM Plex Sans"/>
                <a:cs typeface="IBM Plex Sans"/>
              </a:rPr>
              <a:t>Open the desk: the group chat on the left; “Read all” triages 30 requests</a:t>
            </a:r>
            <a:endParaRPr sz="1400"/>
          </a:p>
          <a:p xmlns:a="http://schemas.openxmlformats.org/drawingml/2006/main">
            <a:pPr marL="196850" indent="-196850" algn="l">
              <a:lnSpc>
                <a:spcPts val="2030"/>
              </a:lnSpc>
              <a:buSzPct val="100000"/>
              <a:buFontTx/>
              <a:buAutoNum type="arabicPeriod"/>
            </a:pPr>
            <a:r>
              <a:rPr sz="1400">
                <a:solidFill>
                  <a:srgbClr val="E3E8EE"/>
                </a:solidFill>
                <a:latin typeface="IBM Plex Sans"/>
                <a:ea typeface="IBM Plex Sans"/>
                <a:cs typeface="IBM Plex Sans"/>
              </a:rPr>
              <a:t>R21, “cheapest shop that still makes Apr 13”: GiantWeave, and the strips show why</a:t>
            </a:r>
            <a:endParaRPr sz="1400"/>
          </a:p>
          <a:p xmlns:a="http://schemas.openxmlformats.org/drawingml/2006/main">
            <a:pPr marL="196850" indent="-196850" algn="l">
              <a:lnSpc>
                <a:spcPts val="2030"/>
              </a:lnSpc>
              <a:buSzPct val="100000"/>
              <a:buFontTx/>
              <a:buAutoNum type="arabicPeriod"/>
            </a:pPr>
            <a:r>
              <a:rPr sz="1400">
                <a:solidFill>
                  <a:srgbClr val="E3E8EE"/>
                </a:solidFill>
                <a:latin typeface="IBM Plex Sans"/>
                <a:ea typeface="IBM Plex Sans"/>
                <a:cs typeface="IBM Plex Sans"/>
              </a:rPr>
              <a:t>Confirm, then find it in the decision log with the confirmer’s name</a:t>
            </a:r>
            <a:endParaRPr sz="1400"/>
          </a:p>
          <a:p xmlns:a="http://schemas.openxmlformats.org/drawingml/2006/main">
            <a:pPr marL="196850" indent="-196850" algn="l">
              <a:lnSpc>
                <a:spcPts val="2030"/>
              </a:lnSpc>
              <a:buSzPct val="100000"/>
              <a:buFontTx/>
              <a:buAutoNum type="arabicPeriod"/>
            </a:pPr>
            <a:r>
              <a:rPr sz="1400">
                <a:solidFill>
                  <a:srgbClr val="E3E8EE"/>
                </a:solidFill>
                <a:latin typeface="IBM Plex Sans"/>
                <a:ea typeface="IBM Plex Sans"/>
                <a:cs typeface="IBM Plex Sans"/>
              </a:rPr>
              <a:t>Hard case R14: refused, date impossible, three options</a:t>
            </a:r>
            <a:endParaRPr sz="1400"/>
          </a:p>
          <a:p xmlns:a="http://schemas.openxmlformats.org/drawingml/2006/main">
            <a:pPr marL="196850" indent="-196850" algn="l">
              <a:lnSpc>
                <a:spcPts val="2030"/>
              </a:lnSpc>
              <a:buSzPct val="100000"/>
              <a:buFontTx/>
              <a:buAutoNum type="arabicPeriod"/>
            </a:pPr>
            <a:r>
              <a:rPr sz="1400">
                <a:solidFill>
                  <a:srgbClr val="E3E8EE"/>
                </a:solidFill>
                <a:latin typeface="IBM Plex Sans"/>
                <a:ea typeface="IBM Plex Sans"/>
                <a:cs typeface="IBM Plex Sans"/>
              </a:rPr>
              <a:t>A new message typed live: Claude reads it in about 5 s</a:t>
            </a:r>
            <a:endParaRPr sz="1400"/>
          </a:p>
          <a:p xmlns:a="http://schemas.openxmlformats.org/drawingml/2006/main">
            <a:pPr marL="196850" indent="-196850" algn="l">
              <a:lnSpc>
                <a:spcPts val="2030"/>
              </a:lnSpc>
              <a:buSzPct val="100000"/>
              <a:buFontTx/>
              <a:buAutoNum type="arabicPeriod"/>
            </a:pPr>
            <a:r>
              <a:rPr sz="1400">
                <a:solidFill>
                  <a:srgbClr val="E3E8EE"/>
                </a:solidFill>
                <a:latin typeface="IBM Plex Sans"/>
                <a:ea typeface="IBM Plex Sans"/>
                <a:cs typeface="IBM Plex Sans"/>
              </a:rPr>
              <a:t>Workshops view: who can take 1,500 tops by Apr 13?</a:t>
            </a:r>
            <a:endParaRPr sz="1400"/>
          </a:p>
        </p:txBody>
      </p:sp>
      <p:sp>
        <p:nvSpPr>
          <p:cNvPr id="6" name="Shape 4">
            <a:extLst xmlns:a="http://schemas.openxmlformats.org/drawingml/2006/main">
              <a:ext uri="{FF2B5EF4-FFF2-40B4-BE49-F238E27FC236}">
                <a16:creationId xmlns:a16="http://schemas.microsoft.com/office/drawing/2014/main" id="{74F85F7D-1EA2-40F7-882C-7F8B6B5DDE94}"/>
              </a:ext>
            </a:extLst>
          </p:cNvPr>
          <p:cNvSpPr>
            <a:spLocks xmlns:a="http://schemas.openxmlformats.org/drawingml/2006/main" noGrp="1"/>
          </p:cNvSpPr>
          <p:nvPr/>
        </p:nvSpPr>
        <p:spPr>
          <a:xfrm xmlns:a="http://schemas.openxmlformats.org/drawingml/2006/main">
            <a:off x="7103467" y="1823641"/>
            <a:ext cx="4275667" cy="4221559"/>
          </a:xfrm>
          <a:prstGeom xmlns:a="http://schemas.openxmlformats.org/drawingml/2006/main" prst="roundRect">
            <a:avLst>
              <a:gd name="adj" fmla="val 2407"/>
            </a:avLst>
          </a:prstGeom>
          <a:solidFill xmlns:a="http://schemas.openxmlformats.org/drawingml/2006/main">
            <a:srgbClr val="22304A"/>
          </a:solidFill>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F1856B12-D2D5-4505-A1D0-461AE538543A}"/>
              </a:ext>
            </a:extLst>
          </p:cNvPr>
          <p:cNvSpPr>
            <a:spLocks xmlns:a="http://schemas.openxmlformats.org/drawingml/2006/main" noGrp="1"/>
          </p:cNvSpPr>
          <p:nvPr/>
        </p:nvSpPr>
        <p:spPr>
          <a:xfrm xmlns:a="http://schemas.openxmlformats.org/drawingml/2006/main">
            <a:off x="7332067" y="2052241"/>
            <a:ext cx="393302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F2A65A"/>
                </a:solidFill>
                <a:latin typeface="IBM Plex Sans"/>
                <a:ea typeface="IBM Plex Sans"/>
                <a:cs typeface="IBM Plex Sans"/>
              </a:rPr>
              <a:t>Next, for Sprint 3</a:t>
            </a:r>
            <a:endParaRPr sz="1200"/>
          </a:p>
        </p:txBody>
      </p:sp>
      <p:sp>
        <p:nvSpPr>
          <p:cNvPr id="8" name="Text 6">
            <a:extLst xmlns:a="http://schemas.openxmlformats.org/drawingml/2006/main">
              <a:ext uri="{FF2B5EF4-FFF2-40B4-BE49-F238E27FC236}">
                <a16:creationId xmlns:a16="http://schemas.microsoft.com/office/drawing/2014/main" id="{1D58902C-7AD5-4249-8747-168E0A281BAF}"/>
              </a:ext>
            </a:extLst>
          </p:cNvPr>
          <p:cNvSpPr>
            <a:spLocks xmlns:a="http://schemas.openxmlformats.org/drawingml/2006/main" noGrp="1"/>
          </p:cNvSpPr>
          <p:nvPr/>
        </p:nvSpPr>
        <p:spPr>
          <a:xfrm xmlns:a="http://schemas.openxmlformats.org/drawingml/2006/main">
            <a:off x="7417411" y="2354461"/>
            <a:ext cx="3840057" cy="170107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168910" indent="-168910" algn="l">
              <a:lnSpc>
                <a:spcPts val="1885"/>
              </a:lnSpc>
              <a:buSzPct val="100000"/>
              <a:buChar char="•"/>
            </a:pPr>
            <a:r>
              <a:rPr sz="1300">
                <a:solidFill>
                  <a:srgbClr val="E3E8EE"/>
                </a:solidFill>
                <a:latin typeface="IBM Plex Sans"/>
                <a:ea typeface="IBM Plex Sans"/>
                <a:cs typeface="IBM Plex Sans"/>
              </a:rPr>
              <a:t>Run the held-out set once; freeze the parser</a:t>
            </a:r>
            <a:endParaRPr sz="1300"/>
          </a:p>
          <a:p xmlns:a="http://schemas.openxmlformats.org/drawingml/2006/main">
            <a:pPr marL="168910" indent="-168910" algn="l">
              <a:lnSpc>
                <a:spcPts val="1885"/>
              </a:lnSpc>
              <a:buSzPct val="100000"/>
              <a:buChar char="•"/>
            </a:pPr>
            <a:r>
              <a:rPr sz="1300">
                <a:solidFill>
                  <a:srgbClr val="E3E8EE"/>
                </a:solidFill>
                <a:latin typeface="IBM Plex Sans"/>
                <a:ea typeface="IBM Plex Sans"/>
                <a:cs typeface="IBM Plex Sans"/>
              </a:rPr>
              <a:t>Run the lateness–defects sweep; pick the defects setting</a:t>
            </a:r>
            <a:endParaRPr sz="1300"/>
          </a:p>
          <a:p xmlns:a="http://schemas.openxmlformats.org/drawingml/2006/main">
            <a:pPr marL="168910" indent="-168910" algn="l">
              <a:lnSpc>
                <a:spcPts val="1885"/>
              </a:lnSpc>
              <a:buSzPct val="100000"/>
              <a:buChar char="•"/>
            </a:pPr>
            <a:r>
              <a:rPr sz="1300">
                <a:solidFill>
                  <a:srgbClr val="E3E8EE"/>
                </a:solidFill>
                <a:latin typeface="IBM Plex Sans"/>
                <a:ea typeface="IBM Plex Sans"/>
                <a:cs typeface="IBM Plex Sans"/>
              </a:rPr>
              <a:t>Failure log with 10+ cases</a:t>
            </a:r>
            <a:endParaRPr sz="1300"/>
          </a:p>
          <a:p xmlns:a="http://schemas.openxmlformats.org/drawingml/2006/main">
            <a:pPr marL="168910" indent="-168910" algn="l">
              <a:lnSpc>
                <a:spcPts val="1885"/>
              </a:lnSpc>
              <a:buSzPct val="100000"/>
              <a:buChar char="•"/>
            </a:pPr>
            <a:r>
              <a:rPr sz="1300">
                <a:solidFill>
                  <a:srgbClr val="E3E8EE"/>
                </a:solidFill>
                <a:latin typeface="IBM Plex Sans"/>
                <a:ea typeface="IBM Plex Sans"/>
                <a:cs typeface="IBM Plex Sans"/>
              </a:rPr>
              <a:t>Stricter number-trace check; tests on every push</a:t>
            </a:r>
            <a:endParaRPr sz="1300"/>
          </a:p>
          <a:p xmlns:a="http://schemas.openxmlformats.org/drawingml/2006/main">
            <a:pPr marL="168910" indent="-168910" algn="l">
              <a:lnSpc>
                <a:spcPts val="1885"/>
              </a:lnSpc>
              <a:buSzPct val="100000"/>
              <a:buChar char="•"/>
            </a:pPr>
            <a:r>
              <a:rPr sz="1300">
                <a:solidFill>
                  <a:srgbClr val="E3E8EE"/>
                </a:solidFill>
                <a:latin typeface="IBM Plex Sans"/>
                <a:ea typeface="IBM Plex Sans"/>
                <a:cs typeface="IBM Plex Sans"/>
              </a:rPr>
              <a:t>Documentation and evaluation report</a:t>
            </a:r>
            <a:endParaRPr sz="1300"/>
          </a:p>
        </p:txBody>
      </p:sp>
    </p:spTree>
    <p:extLst>
      <p:ext uri="{BB962C8B-B14F-4D97-AF65-F5344CB8AC3E}">
        <p14:creationId xmlns:p14="http://schemas.microsoft.com/office/powerpoint/2010/main" val="497380105"/>
      </p:ext>
    </p:extLst>
  </p:cSld>
</p:sld>
</file>

<file path=ppt/theme/theme1.xml><?xml version="1.0" encoding="utf-8"?>
<a:theme xmlns:a="http://schemas.openxmlformats.org/drawingml/2006/main" name="Track 2 Sprint 2 Review">
  <a:themeElements>
    <a:clrScheme name="Track 2 Sprint 2 Review">
      <a:dk1>
        <a:srgbClr val="16202E"/>
      </a:dk1>
      <a:lt1>
        <a:srgbClr val="F6F4EF"/>
      </a:lt1>
      <a:dk2>
        <a:srgbClr val="4E555E"/>
      </a:dk2>
      <a:lt2>
        <a:srgbClr val="E0DFDC"/>
      </a:lt2>
      <a:accent1>
        <a:srgbClr val="F2A65A"/>
      </a:accent1>
      <a:accent2>
        <a:srgbClr val="A84A14"/>
      </a:accent2>
      <a:accent3>
        <a:srgbClr val="2C5F8A"/>
      </a:accent3>
      <a:accent4>
        <a:srgbClr val="22304A"/>
      </a:accent4>
      <a:accent5>
        <a:srgbClr val="3E4A5A"/>
      </a:accent5>
      <a:accent6>
        <a:srgbClr val="C9D3DE"/>
      </a:accent6>
      <a:hlink>
        <a:srgbClr val="0563C1"/>
      </a:hlink>
      <a:folHlink>
        <a:srgbClr val="954F72"/>
      </a:folHlink>
    </a:clrScheme>
    <a:fontScheme name="Track 2 Sprint 2 Review">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rack 2 Sprint 2 Review">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2026-10-29T02:56:15.8760000Z</dcterms:created>
  <dcterms:modified xsi:type="dcterms:W3CDTF">2026-10-29T02:56:15.8760000Z</dcterms:modified>
</coreProperties>
</file>